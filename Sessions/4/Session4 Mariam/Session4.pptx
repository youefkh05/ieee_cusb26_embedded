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73" r:id="rId2"/>
    <p:sldId id="257" r:id="rId3"/>
    <p:sldId id="330" r:id="rId4"/>
    <p:sldId id="277" r:id="rId5"/>
    <p:sldId id="333" r:id="rId6"/>
    <p:sldId id="334" r:id="rId7"/>
    <p:sldId id="332" r:id="rId8"/>
    <p:sldId id="288" r:id="rId9"/>
    <p:sldId id="282" r:id="rId10"/>
    <p:sldId id="289" r:id="rId11"/>
    <p:sldId id="335" r:id="rId12"/>
    <p:sldId id="337" r:id="rId13"/>
    <p:sldId id="336" r:id="rId14"/>
    <p:sldId id="338" r:id="rId15"/>
    <p:sldId id="340" r:id="rId16"/>
    <p:sldId id="339" r:id="rId17"/>
    <p:sldId id="341" r:id="rId18"/>
    <p:sldId id="293" r:id="rId19"/>
    <p:sldId id="349" r:id="rId20"/>
    <p:sldId id="294" r:id="rId21"/>
    <p:sldId id="342" r:id="rId22"/>
    <p:sldId id="316" r:id="rId23"/>
    <p:sldId id="355" r:id="rId24"/>
    <p:sldId id="291" r:id="rId25"/>
    <p:sldId id="343" r:id="rId26"/>
    <p:sldId id="280" r:id="rId27"/>
    <p:sldId id="318" r:id="rId28"/>
    <p:sldId id="344" r:id="rId29"/>
    <p:sldId id="345" r:id="rId30"/>
    <p:sldId id="356" r:id="rId31"/>
    <p:sldId id="346" r:id="rId32"/>
    <p:sldId id="347" r:id="rId33"/>
    <p:sldId id="348" r:id="rId34"/>
    <p:sldId id="319" r:id="rId35"/>
    <p:sldId id="364" r:id="rId36"/>
    <p:sldId id="351" r:id="rId37"/>
    <p:sldId id="350" r:id="rId38"/>
    <p:sldId id="352" r:id="rId39"/>
    <p:sldId id="353" r:id="rId40"/>
    <p:sldId id="354" r:id="rId41"/>
    <p:sldId id="363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57"/>
            <p14:sldId id="330"/>
            <p14:sldId id="277"/>
            <p14:sldId id="333"/>
            <p14:sldId id="334"/>
            <p14:sldId id="332"/>
            <p14:sldId id="288"/>
            <p14:sldId id="282"/>
            <p14:sldId id="289"/>
            <p14:sldId id="335"/>
            <p14:sldId id="337"/>
            <p14:sldId id="336"/>
            <p14:sldId id="338"/>
            <p14:sldId id="340"/>
            <p14:sldId id="339"/>
            <p14:sldId id="341"/>
            <p14:sldId id="293"/>
            <p14:sldId id="349"/>
            <p14:sldId id="294"/>
            <p14:sldId id="342"/>
            <p14:sldId id="316"/>
            <p14:sldId id="355"/>
            <p14:sldId id="291"/>
            <p14:sldId id="343"/>
            <p14:sldId id="280"/>
            <p14:sldId id="318"/>
            <p14:sldId id="344"/>
            <p14:sldId id="345"/>
            <p14:sldId id="356"/>
            <p14:sldId id="346"/>
            <p14:sldId id="347"/>
            <p14:sldId id="348"/>
            <p14:sldId id="319"/>
            <p14:sldId id="364"/>
            <p14:sldId id="351"/>
            <p14:sldId id="350"/>
            <p14:sldId id="352"/>
            <p14:sldId id="353"/>
            <p14:sldId id="354"/>
            <p14:sldId id="3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67"/>
    <a:srgbClr val="3F51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22C001-F7DB-4E28-9C00-72D2EF8B382E}" v="4" dt="2026-04-14T11:59:14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715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58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hmed Mohamed Ali Reda" userId="e234cfb54234d7e1" providerId="LiveId" clId="{4CDFA264-E541-4DA7-A155-35AF44FEC437}"/>
    <pc:docChg chg="undo redo custSel addSld delSld modSld sldOrd modSection">
      <pc:chgData name="Mariam Ahmed Mohamed Ali Reda" userId="e234cfb54234d7e1" providerId="LiveId" clId="{4CDFA264-E541-4DA7-A155-35AF44FEC437}" dt="2026-04-14T11:59:14.492" v="6512"/>
      <pc:docMkLst>
        <pc:docMk/>
      </pc:docMkLst>
      <pc:sldChg chg="addSp delSp modSp mod delAnim">
        <pc:chgData name="Mariam Ahmed Mohamed Ali Reda" userId="e234cfb54234d7e1" providerId="LiveId" clId="{4CDFA264-E541-4DA7-A155-35AF44FEC437}" dt="2026-04-13T01:09:08.426" v="6422" actId="1076"/>
        <pc:sldMkLst>
          <pc:docMk/>
          <pc:sldMk cId="2807831234" sldId="280"/>
        </pc:sldMkLst>
        <pc:picChg chg="add mod modCrop">
          <ac:chgData name="Mariam Ahmed Mohamed Ali Reda" userId="e234cfb54234d7e1" providerId="LiveId" clId="{4CDFA264-E541-4DA7-A155-35AF44FEC437}" dt="2026-04-13T01:09:08.426" v="6422" actId="1076"/>
          <ac:picMkLst>
            <pc:docMk/>
            <pc:sldMk cId="2807831234" sldId="280"/>
            <ac:picMk id="9" creationId="{B32D310B-EEA7-897F-A46C-894FF3EB0319}"/>
          </ac:picMkLst>
        </pc:picChg>
        <pc:picChg chg="del">
          <ac:chgData name="Mariam Ahmed Mohamed Ali Reda" userId="e234cfb54234d7e1" providerId="LiveId" clId="{4CDFA264-E541-4DA7-A155-35AF44FEC437}" dt="2026-04-13T01:08:11.792" v="6408" actId="478"/>
          <ac:picMkLst>
            <pc:docMk/>
            <pc:sldMk cId="2807831234" sldId="280"/>
            <ac:picMk id="32" creationId="{E148F259-529F-CA36-A505-EB076D6548BF}"/>
          </ac:picMkLst>
        </pc:picChg>
      </pc:sldChg>
      <pc:sldChg chg="addSp delSp modSp mod addAnim delAnim modAnim">
        <pc:chgData name="Mariam Ahmed Mohamed Ali Reda" userId="e234cfb54234d7e1" providerId="LiveId" clId="{4CDFA264-E541-4DA7-A155-35AF44FEC437}" dt="2026-04-11T13:08:01.235" v="6404" actId="20577"/>
        <pc:sldMkLst>
          <pc:docMk/>
          <pc:sldMk cId="755781205" sldId="316"/>
        </pc:sldMkLst>
        <pc:spChg chg="add mod">
          <ac:chgData name="Mariam Ahmed Mohamed Ali Reda" userId="e234cfb54234d7e1" providerId="LiveId" clId="{4CDFA264-E541-4DA7-A155-35AF44FEC437}" dt="2026-04-11T13:08:01.235" v="6404" actId="20577"/>
          <ac:spMkLst>
            <pc:docMk/>
            <pc:sldMk cId="755781205" sldId="316"/>
            <ac:spMk id="25" creationId="{202D2884-D098-4D98-929C-FD2BAF1426FB}"/>
          </ac:spMkLst>
        </pc:spChg>
      </pc:sldChg>
      <pc:sldChg chg="addSp delSp modSp mod delAnim">
        <pc:chgData name="Mariam Ahmed Mohamed Ali Reda" userId="e234cfb54234d7e1" providerId="LiveId" clId="{4CDFA264-E541-4DA7-A155-35AF44FEC437}" dt="2026-04-13T01:13:20.018" v="6511" actId="1037"/>
        <pc:sldMkLst>
          <pc:docMk/>
          <pc:sldMk cId="1370168698" sldId="319"/>
        </pc:sldMkLst>
        <pc:picChg chg="add mod ord modCrop">
          <ac:chgData name="Mariam Ahmed Mohamed Ali Reda" userId="e234cfb54234d7e1" providerId="LiveId" clId="{4CDFA264-E541-4DA7-A155-35AF44FEC437}" dt="2026-04-13T01:13:20.018" v="6511" actId="1037"/>
          <ac:picMkLst>
            <pc:docMk/>
            <pc:sldMk cId="1370168698" sldId="319"/>
            <ac:picMk id="9" creationId="{ADBB6C6A-15C4-666B-F36C-C5AFF4500D4E}"/>
          </ac:picMkLst>
        </pc:picChg>
        <pc:picChg chg="add mod modCrop">
          <ac:chgData name="Mariam Ahmed Mohamed Ali Reda" userId="e234cfb54234d7e1" providerId="LiveId" clId="{4CDFA264-E541-4DA7-A155-35AF44FEC437}" dt="2026-04-13T01:13:17.277" v="6507" actId="1036"/>
          <ac:picMkLst>
            <pc:docMk/>
            <pc:sldMk cId="1370168698" sldId="319"/>
            <ac:picMk id="12" creationId="{964731E5-C2CA-4BC5-ECAE-BD1B85C2F229}"/>
          </ac:picMkLst>
        </pc:picChg>
        <pc:picChg chg="del">
          <ac:chgData name="Mariam Ahmed Mohamed Ali Reda" userId="e234cfb54234d7e1" providerId="LiveId" clId="{4CDFA264-E541-4DA7-A155-35AF44FEC437}" dt="2026-04-13T01:10:43.330" v="6451" actId="478"/>
          <ac:picMkLst>
            <pc:docMk/>
            <pc:sldMk cId="1370168698" sldId="319"/>
            <ac:picMk id="14" creationId="{A51B71C4-88EF-A62B-A02F-02704626BF8F}"/>
          </ac:picMkLst>
        </pc:picChg>
        <pc:picChg chg="del">
          <ac:chgData name="Mariam Ahmed Mohamed Ali Reda" userId="e234cfb54234d7e1" providerId="LiveId" clId="{4CDFA264-E541-4DA7-A155-35AF44FEC437}" dt="2026-04-13T01:10:44.666" v="6452" actId="478"/>
          <ac:picMkLst>
            <pc:docMk/>
            <pc:sldMk cId="1370168698" sldId="319"/>
            <ac:picMk id="24" creationId="{0C062624-ECF8-6950-897D-C30AD0A75823}"/>
          </ac:picMkLst>
        </pc:picChg>
      </pc:sldChg>
      <pc:sldChg chg="modSp mod">
        <pc:chgData name="Mariam Ahmed Mohamed Ali Reda" userId="e234cfb54234d7e1" providerId="LiveId" clId="{4CDFA264-E541-4DA7-A155-35AF44FEC437}" dt="2026-04-11T13:09:06.527" v="6407" actId="688"/>
        <pc:sldMkLst>
          <pc:docMk/>
          <pc:sldMk cId="3571616564" sldId="339"/>
        </pc:sldMkLst>
        <pc:spChg chg="mod">
          <ac:chgData name="Mariam Ahmed Mohamed Ali Reda" userId="e234cfb54234d7e1" providerId="LiveId" clId="{4CDFA264-E541-4DA7-A155-35AF44FEC437}" dt="2026-04-11T13:08:52.281" v="6405" actId="688"/>
          <ac:spMkLst>
            <pc:docMk/>
            <pc:sldMk cId="3571616564" sldId="339"/>
            <ac:spMk id="11" creationId="{94343F9F-7C07-B7DE-2B48-B5F5CCE3A0CE}"/>
          </ac:spMkLst>
        </pc:spChg>
        <pc:spChg chg="mod">
          <ac:chgData name="Mariam Ahmed Mohamed Ali Reda" userId="e234cfb54234d7e1" providerId="LiveId" clId="{4CDFA264-E541-4DA7-A155-35AF44FEC437}" dt="2026-04-11T13:09:06.527" v="6407" actId="688"/>
          <ac:spMkLst>
            <pc:docMk/>
            <pc:sldMk cId="3571616564" sldId="339"/>
            <ac:spMk id="12" creationId="{88512F6A-9EFA-CC56-D1C3-428A52207E54}"/>
          </ac:spMkLst>
        </pc:spChg>
        <pc:spChg chg="mod">
          <ac:chgData name="Mariam Ahmed Mohamed Ali Reda" userId="e234cfb54234d7e1" providerId="LiveId" clId="{4CDFA264-E541-4DA7-A155-35AF44FEC437}" dt="2026-04-11T13:09:00.151" v="6406" actId="688"/>
          <ac:spMkLst>
            <pc:docMk/>
            <pc:sldMk cId="3571616564" sldId="339"/>
            <ac:spMk id="25" creationId="{02BDEF2A-58A2-E1E6-DFD3-10293444FAEC}"/>
          </ac:spMkLst>
        </pc:spChg>
      </pc:sldChg>
      <pc:sldChg chg="addSp delSp modSp mod delAnim">
        <pc:chgData name="Mariam Ahmed Mohamed Ali Reda" userId="e234cfb54234d7e1" providerId="LiveId" clId="{4CDFA264-E541-4DA7-A155-35AF44FEC437}" dt="2026-04-13T01:10:29.821" v="6450" actId="1036"/>
        <pc:sldMkLst>
          <pc:docMk/>
          <pc:sldMk cId="2759781068" sldId="345"/>
        </pc:sldMkLst>
        <pc:picChg chg="del">
          <ac:chgData name="Mariam Ahmed Mohamed Ali Reda" userId="e234cfb54234d7e1" providerId="LiveId" clId="{4CDFA264-E541-4DA7-A155-35AF44FEC437}" dt="2026-04-13T01:09:18.962" v="6423" actId="478"/>
          <ac:picMkLst>
            <pc:docMk/>
            <pc:sldMk cId="2759781068" sldId="345"/>
            <ac:picMk id="9" creationId="{320F4A54-0DBB-11B9-014D-A59AC9B17E84}"/>
          </ac:picMkLst>
        </pc:picChg>
        <pc:picChg chg="add mod modCrop">
          <ac:chgData name="Mariam Ahmed Mohamed Ali Reda" userId="e234cfb54234d7e1" providerId="LiveId" clId="{4CDFA264-E541-4DA7-A155-35AF44FEC437}" dt="2026-04-13T01:10:29.821" v="6450" actId="1036"/>
          <ac:picMkLst>
            <pc:docMk/>
            <pc:sldMk cId="2759781068" sldId="345"/>
            <ac:picMk id="10" creationId="{3D0FCCED-7673-D59D-E048-43DE920826B2}"/>
          </ac:picMkLst>
        </pc:picChg>
      </pc:sldChg>
      <pc:sldChg chg="add">
        <pc:chgData name="Mariam Ahmed Mohamed Ali Reda" userId="e234cfb54234d7e1" providerId="LiveId" clId="{4CDFA264-E541-4DA7-A155-35AF44FEC437}" dt="2026-04-14T11:59:14.492" v="6512"/>
        <pc:sldMkLst>
          <pc:docMk/>
          <pc:sldMk cId="3699529254" sldId="3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 why the difference in shape between the ram and the rom (just in case someone asked)</a:t>
            </a:r>
          </a:p>
          <a:p>
            <a:r>
              <a:rPr lang="en-US" dirty="0"/>
              <a:t>Know how to zoom in so that </a:t>
            </a:r>
            <a:r>
              <a:rPr lang="en-US" dirty="0" err="1"/>
              <a:t>ur</a:t>
            </a:r>
            <a:r>
              <a:rPr lang="en-US" dirty="0"/>
              <a:t> able to show the I/O peripherals clearly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82C9-6F03-694E-E597-F1DFCB22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03A92-8397-C3CF-183C-C7BBD17FE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65371-A13C-4AA1-41C3-E74FAD9AC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ED855-4F72-6D0B-381F-CD814DA91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028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84DA-34FD-0CA2-B649-B14F0C10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6225B2-E75D-8D18-F46C-38572C8DA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FDF81-40A4-B9D6-6D60-5335A5725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7510C-503E-C151-2279-059FF9BEE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939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Ask:</a:t>
            </a:r>
          </a:p>
          <a:p>
            <a:r>
              <a:rPr lang="en-GB" dirty="0"/>
              <a:t>Where do we write the code?</a:t>
            </a:r>
          </a:p>
          <a:p>
            <a:r>
              <a:rPr lang="en-GB" dirty="0"/>
              <a:t>What happens if hardware changes?</a:t>
            </a:r>
          </a:p>
          <a:p>
            <a:r>
              <a:rPr lang="en-GB" dirty="0"/>
              <a:t>What if we reuse the project?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021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91472-46EF-C570-D237-A43A79BB9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BEAF8-C054-DF22-7C53-3246EC262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FB1BE-ADD4-C9B6-F61D-1D2DFE34F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59D2-25E9-0066-65F4-A2E59E9F9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754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63917-80B9-B1CA-CFCB-16242E125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D489F-644F-465D-56C1-787160CE5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96F7B-4060-9477-D48B-7D4492CE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0CAE3-FFA1-4753-0FFE-95EE345C8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5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08B94-13E2-0DF0-5924-731C0EE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E96CD0-F62A-74B0-AF83-ED1D3B58F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25ED4-F40B-7056-939E-57FF41B4E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B59DF-5B04-DA6D-8017-67DCD41AD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809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1FA10-8F85-9CF9-E701-25F29097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C46D0B-9FD4-80F4-2E8F-34BBE0D23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7EDF9-6B42-30EC-80BD-F73A0BDC8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1B0DB-A115-7BE9-CC8B-A99468EBD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58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C63-980E-D07B-B1BA-B9E55BF4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1F442-0BE6-C161-DF04-8EF2058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CBF8D-04FC-6715-F502-8FD0F458B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0E07A-ACB4-99B9-5A2D-0ABC33FF2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87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CD82B-ED47-E6CF-B313-F98014BD1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6D510-8EAA-B6E4-DAE0-8DB24FE07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7FDC3-C57E-55DA-DCA5-A52F2786C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2BB6A-1570-13D7-BB82-15124943F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25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B4FFF-7A65-54E5-DB82-80505C1D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D27ED-92BD-EDDD-B5D4-43D20FC702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A1114-548A-E0ED-09F2-C92642F52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0725E-401D-4971-DDEF-5FD29EBF5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460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7491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3ECA-BDF9-29F1-2A8F-FF0EC279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AA898-ACF1-D6A1-C3BC-EF621783D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5A174-EE31-81A4-8D19-81BB0527F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88ED4-6D91-FAC6-88AB-AF6BACDE3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772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CD7EA-5616-DABF-736E-D8701825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D134D-F1DF-C0C2-8283-10C6F8ECF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6A78B-92DC-8A3D-169B-EABCD9A1D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55440-A5BD-BE78-24B5-686CDAC8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31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781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9277-41EA-51F4-97F8-30176884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6F8C8-E785-D4BC-05B2-D16A8D62B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AE355-4E5E-0F15-E90C-C561986A8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16481-69EB-0885-C060-8CCD310082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9607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8511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AB3EA-3CAB-E24F-4E5C-9F7E2D18B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8697B-BBB7-16AB-93C8-8750A516F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E8AF7-9709-0B87-CAFC-2D5E61D3C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79A41-402E-FBC2-E16A-8A048C47B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31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6271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E8E8B-C79B-B5FE-E91F-6CEEACDCE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E7E57-4FFF-A29E-1A65-649B2B8B2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24617-9682-58AA-CB7C-D58463989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C5109-AC23-0459-7E0B-6A6A8EEB6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03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301B2-966B-181D-4CB6-28898F227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9A7FE-F836-B0BB-4D66-B6259BB3A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6B538D-4E10-D3F6-7836-C0C990263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D49EF-D4B3-F74F-899F-C4164742C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3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DFBC-6999-0515-E945-9865A08F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22DE8-916E-978B-E788-61A17E1D3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87769-05C5-2150-B96F-14F51B1D5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4CE34-8469-5F36-D428-08F96BEBB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9137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790FC-5F42-25A9-64BF-282ED16D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A60C91-4DD3-201A-40C3-3AD938075C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55059-63BB-B6BB-0EDF-138793F4F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04C80-A156-502C-3714-A75DDABB4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8751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1D8F4-DEDC-E441-F33B-FFA95A06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1BBFE-AC82-FF2E-6950-F4B967E0A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BCB69-EEE6-450C-FA71-682EA1DF4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F8190-AD8B-3458-D203-0D526EA3A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317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3CC8-F24F-FE0C-5A60-A9C0EE8E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15EE3-323B-6C29-FE1C-5DA9629E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E3991-12BF-1A74-1922-026513BD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948DD-0B23-3789-1193-4E231A40F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36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832FF-F62D-5992-280F-91CC20121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5204B-93D9-ACFB-5E45-CFB05C09B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45723-E60A-F853-FAA7-B9C97F27D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1EFBB-A912-C84D-F7BE-A631372D3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432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FAA8-096E-945A-7225-79CCB792F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D51F76-6FED-893F-C66D-6EBDAA21C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78028-0F3F-E698-3BB6-A3BD75B7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B00E8-6571-3915-15A3-42A4C6F4B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465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8DF3E-C49E-287C-7B9B-9A71B60A3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77C784-0459-9057-BB01-B52B918F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881DB-7157-F386-E33D-468A7C7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B37C1-9269-075A-3978-463CFCC06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098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5C0C-A2AD-E843-09CF-10630722A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186A34-3141-87D7-2AD7-EA63F7F2C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1A61C-A593-AFA5-F1F1-D487D5468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96F13-D369-3F86-9F43-3C7CC9886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358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B07E-4F12-DFAD-E7CC-CC2AADA5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A5D91-D8F4-F22D-65A6-902EC5BC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9A2B6-814B-9B02-2536-85D2DF5B3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8868-E9D6-2CF0-CDCB-962597983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7228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DA89-CA15-DAA0-109D-D89C2E983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C1215E-4455-C3A2-2827-B1028C8E0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C5680-AEB3-7CE0-4EBA-8B333E44E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93B51-16CA-4988-A8B3-17A1CAC51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4987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83DE2-ECDA-8BEE-0EAC-A625D72E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2C7E3-2967-6AE2-4E8C-F65EA7086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D5772-96EE-3DFF-2C5C-DCC0B4F8A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F6F06-3DBC-E598-8E47-39EC8D2154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237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976C-CE88-69B1-5D41-D487DBCA3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CCD8D-A3B9-0772-6E05-2E82B3191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E2330-0446-CFC5-0754-2384B0B26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1F532-6A24-49A9-3D39-16D9C1FF0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302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57A72-F65F-1246-E44E-FD7C2F748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E5DE-A477-29DA-A77E-756CBEE8E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6434F-D136-C555-9B8C-A76EC9A9D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8744D-5692-DC6C-EBB3-7120F05D1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81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3.jpeg"/><Relationship Id="rId4" Type="http://schemas.openxmlformats.org/officeDocument/2006/relationships/image" Target="../media/image8.png"/><Relationship Id="rId9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5000" b="1">
                <a:solidFill>
                  <a:srgbClr val="004467"/>
                </a:solidFill>
              </a:rPr>
              <a:t>Embedded Systems </a:t>
            </a:r>
            <a:r>
              <a:rPr lang="en-US" sz="5000" b="1" dirty="0">
                <a:solidFill>
                  <a:srgbClr val="004467"/>
                </a:solidFill>
              </a:rPr>
              <a:t>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3318164" y="2831315"/>
            <a:ext cx="5816665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Mariam Ahmed.</a:t>
            </a:r>
            <a:endParaRPr dirty="0"/>
          </a:p>
        </p:txBody>
      </p:sp>
      <p:sp>
        <p:nvSpPr>
          <p:cNvPr id="125" name="Google Shape;125;p2"/>
          <p:cNvSpPr txBox="1"/>
          <p:nvPr/>
        </p:nvSpPr>
        <p:spPr>
          <a:xfrm>
            <a:off x="3358804" y="3564092"/>
            <a:ext cx="573024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University, EECE Department.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3424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1563DFF-034C-202C-C9BA-1A5403CD05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95" t="42774" r="25093" b="11534"/>
          <a:stretch>
            <a:fillRect/>
          </a:stretch>
        </p:blipFill>
        <p:spPr>
          <a:xfrm>
            <a:off x="3413786" y="707535"/>
            <a:ext cx="5364427" cy="54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8802" y="1499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5" name="Content Placeholder 24">
            <a:extLst>
              <a:ext uri="{FF2B5EF4-FFF2-40B4-BE49-F238E27FC236}">
                <a16:creationId xmlns:a16="http://schemas.microsoft.com/office/drawing/2014/main" id="{595FED0A-64C9-E3A4-ED38-F57D5D48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67" y="2423503"/>
            <a:ext cx="10515600" cy="39459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  <a:p>
            <a:r>
              <a:rPr lang="en-US" dirty="0">
                <a:solidFill>
                  <a:schemeClr val="bg2"/>
                </a:solidFill>
              </a:rPr>
              <a:t>GPIO Registers</a:t>
            </a:r>
          </a:p>
          <a:p>
            <a:r>
              <a:rPr lang="en-US" dirty="0">
                <a:solidFill>
                  <a:schemeClr val="bg2"/>
                </a:solidFill>
              </a:rPr>
              <a:t>Input vs Output</a:t>
            </a:r>
          </a:p>
          <a:p>
            <a:r>
              <a:rPr lang="en-US" dirty="0">
                <a:solidFill>
                  <a:schemeClr val="bg2"/>
                </a:solidFill>
              </a:rPr>
              <a:t>Pull-up vs Pull-down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050" name="Picture 2" descr="This may contain: an electronic circuit board with a micro processor chip">
            <a:extLst>
              <a:ext uri="{FF2B5EF4-FFF2-40B4-BE49-F238E27FC236}">
                <a16:creationId xmlns:a16="http://schemas.microsoft.com/office/drawing/2014/main" id="{15C7826E-E139-FBB9-69B9-D9966796D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78" y="2556865"/>
            <a:ext cx="3160117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is may contain: the ram and memory side by side, both with different logos on them in black and white">
            <a:extLst>
              <a:ext uri="{FF2B5EF4-FFF2-40B4-BE49-F238E27FC236}">
                <a16:creationId xmlns:a16="http://schemas.microsoft.com/office/drawing/2014/main" id="{8A0520B3-BB87-B609-E281-6E22AC41C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9607" y="2556865"/>
            <a:ext cx="3621818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F2D6F4-87C5-92D1-A631-D2F977E00A62}"/>
              </a:ext>
            </a:extLst>
          </p:cNvPr>
          <p:cNvSpPr txBox="1"/>
          <p:nvPr/>
        </p:nvSpPr>
        <p:spPr>
          <a:xfrm>
            <a:off x="161174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807B29-ABFF-B22D-58B7-2A26A85EF884}"/>
              </a:ext>
            </a:extLst>
          </p:cNvPr>
          <p:cNvSpPr txBox="1"/>
          <p:nvPr/>
        </p:nvSpPr>
        <p:spPr>
          <a:xfrm>
            <a:off x="558092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B653-0F8B-D52B-1741-3DA64F3AF7B5}"/>
              </a:ext>
            </a:extLst>
          </p:cNvPr>
          <p:cNvSpPr txBox="1"/>
          <p:nvPr/>
        </p:nvSpPr>
        <p:spPr>
          <a:xfrm>
            <a:off x="9140933" y="4782550"/>
            <a:ext cx="2074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I/O</a:t>
            </a:r>
            <a:r>
              <a:rPr lang="en-GB" sz="2000" b="1" dirty="0"/>
              <a:t>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Peripherals</a:t>
            </a:r>
          </a:p>
        </p:txBody>
      </p:sp>
      <p:sp>
        <p:nvSpPr>
          <p:cNvPr id="14" name="AutoShape 6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00A9A0AE-4133-8BF7-36D4-F8F9D527B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AutoShape 8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1DA4002E-78BC-2A1B-D064-B907D45E7A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60" name="Picture 12" descr="This may contain: two circles that have different types of devices in them and the words, output &amp; output devices">
            <a:extLst>
              <a:ext uri="{FF2B5EF4-FFF2-40B4-BE49-F238E27FC236}">
                <a16:creationId xmlns:a16="http://schemas.microsoft.com/office/drawing/2014/main" id="{0A2C4B31-951A-887C-0CF3-4DCAD8EAB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5953" y="2556865"/>
            <a:ext cx="3401786" cy="2174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itle 19">
            <a:extLst>
              <a:ext uri="{FF2B5EF4-FFF2-40B4-BE49-F238E27FC236}">
                <a16:creationId xmlns:a16="http://schemas.microsoft.com/office/drawing/2014/main" id="{CD43FD77-F70A-1F34-CA62-0D7117AD3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4D014A-BB26-9AE2-3B2D-ABCED9458F79}"/>
              </a:ext>
            </a:extLst>
          </p:cNvPr>
          <p:cNvSpPr txBox="1"/>
          <p:nvPr/>
        </p:nvSpPr>
        <p:spPr>
          <a:xfrm>
            <a:off x="829446" y="1661486"/>
            <a:ext cx="5204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Any computing system contains:</a:t>
            </a:r>
          </a:p>
        </p:txBody>
      </p:sp>
    </p:spTree>
    <p:extLst>
      <p:ext uri="{BB962C8B-B14F-4D97-AF65-F5344CB8AC3E}">
        <p14:creationId xmlns:p14="http://schemas.microsoft.com/office/powerpoint/2010/main" val="18054354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2" grpId="0"/>
      <p:bldP spid="18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4EC5-38AC-012A-F3C2-AA20C6A7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993D68-844B-C256-2D40-546E834315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4F1778-73C0-2B84-E228-B769BBFF6E8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A387CC-EB94-1AA5-ECD6-2F0A09538D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C26B8-3ED9-7B50-097D-8F060A95228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7CA69F-6277-197B-5436-766311DD66C2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D1D30-EE9C-4F21-9A4C-4E4BB1D33AB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633FE3-39B8-76D7-F9D9-2F180183AA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4E9C47-54BC-29C5-33A6-F681F5A355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61E2A7-498A-22F7-4D2C-2069233ABD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0EEDADF-5E0C-1BA0-A55D-34F23C9974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E42AEE40-4B81-F335-F682-B49DF501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AC6C923-C960-6CCE-BE02-D71BB61B1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138D27E-0D58-4B3E-15C7-859BBF21DD7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AA96C9-7137-B7FD-E4B3-BC0DE8B6B302}"/>
              </a:ext>
            </a:extLst>
          </p:cNvPr>
          <p:cNvSpPr txBox="1"/>
          <p:nvPr/>
        </p:nvSpPr>
        <p:spPr>
          <a:xfrm>
            <a:off x="1026926" y="1609210"/>
            <a:ext cx="19395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Registers: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AF198-CA8E-FFC7-0E38-1008F811B14B}"/>
              </a:ext>
            </a:extLst>
          </p:cNvPr>
          <p:cNvSpPr txBox="1"/>
          <p:nvPr/>
        </p:nvSpPr>
        <p:spPr>
          <a:xfrm>
            <a:off x="1279375" y="2413415"/>
            <a:ext cx="5451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Registers are </a:t>
            </a:r>
            <a:r>
              <a:rPr lang="en-US" sz="2400" b="1" dirty="0"/>
              <a:t>small, fast storage locations</a:t>
            </a:r>
            <a:r>
              <a:rPr lang="en-US" sz="2400" dirty="0"/>
              <a:t> inside the CPU.</a:t>
            </a:r>
            <a:br>
              <a:rPr lang="en-US" sz="2400" dirty="0"/>
            </a:b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Used to store </a:t>
            </a:r>
            <a:r>
              <a:rPr lang="en-US" sz="2400" dirty="0"/>
              <a:t>(Temporary data, Control information, Results of operations).</a:t>
            </a:r>
            <a:endParaRPr lang="en-GB" sz="2400" dirty="0"/>
          </a:p>
        </p:txBody>
      </p:sp>
      <p:pic>
        <p:nvPicPr>
          <p:cNvPr id="2050" name="Picture 2" descr="What is a Register in a CPU and How Does it Work? - Total Phase">
            <a:extLst>
              <a:ext uri="{FF2B5EF4-FFF2-40B4-BE49-F238E27FC236}">
                <a16:creationId xmlns:a16="http://schemas.microsoft.com/office/drawing/2014/main" id="{028C9CE2-7DA3-18C9-A1D6-7C44ADF63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501" y="1708137"/>
            <a:ext cx="5119165" cy="401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41991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9CB5-D9AD-C93C-A69D-4BF0AFC3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0B6BBDE-EC10-1EA2-8E68-C8E91F00F7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92EBC43-C90E-8865-2866-67EC85374E6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E67C91-743A-9793-2AC8-F5DD3AAB74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9194AD7-E0A4-5CB2-6BA7-86DFFC1E350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DC702B-AB6D-533F-EF94-6AB16FF8617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CA1C56-77B0-9560-009B-85D794ACF7C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6F03DEB-AA14-33B3-A75D-E3068F663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AB8E877-0771-7311-39BB-AFEFBAE78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4C5D2CD-1FE0-53CF-1C45-777C7DC4DF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10E3850-B369-AC07-3D20-9CAE3F61F76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6B94115B-C81D-D11B-B187-422D77AB0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0FF30DE-DBAC-C771-5870-68CA0C8FFC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9A16EC8-886C-5AEC-378D-F99F61479A9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49541B-6075-FC69-131A-D71137EB796E}"/>
              </a:ext>
            </a:extLst>
          </p:cNvPr>
          <p:cNvSpPr txBox="1"/>
          <p:nvPr/>
        </p:nvSpPr>
        <p:spPr>
          <a:xfrm>
            <a:off x="904886" y="1638286"/>
            <a:ext cx="5760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There are two types of registers: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165CCF-6B6C-F78A-5FCD-1F0EF4492EE4}"/>
              </a:ext>
            </a:extLst>
          </p:cNvPr>
          <p:cNvSpPr txBox="1"/>
          <p:nvPr/>
        </p:nvSpPr>
        <p:spPr>
          <a:xfrm>
            <a:off x="1392574" y="2600482"/>
            <a:ext cx="296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 peripherals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FAB458-2C7B-F35B-384D-8FBDD6A1DD49}"/>
              </a:ext>
            </a:extLst>
          </p:cNvPr>
          <p:cNvSpPr txBox="1"/>
          <p:nvPr/>
        </p:nvSpPr>
        <p:spPr>
          <a:xfrm>
            <a:off x="7445242" y="2600482"/>
            <a:ext cx="2995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 peripherals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C2690E-226C-75EE-9F13-0A5AB9E6A2FA}"/>
              </a:ext>
            </a:extLst>
          </p:cNvPr>
          <p:cNvSpPr/>
          <p:nvPr/>
        </p:nvSpPr>
        <p:spPr>
          <a:xfrm>
            <a:off x="1161010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BE70ED-C902-CA87-3C19-7FF1DC392136}"/>
              </a:ext>
            </a:extLst>
          </p:cNvPr>
          <p:cNvSpPr txBox="1"/>
          <p:nvPr/>
        </p:nvSpPr>
        <p:spPr>
          <a:xfrm>
            <a:off x="2099954" y="3602194"/>
            <a:ext cx="14255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5D3DBB-D7A1-0254-7CE4-C78A274A45DB}"/>
              </a:ext>
            </a:extLst>
          </p:cNvPr>
          <p:cNvSpPr txBox="1"/>
          <p:nvPr/>
        </p:nvSpPr>
        <p:spPr>
          <a:xfrm>
            <a:off x="2980821" y="4173274"/>
            <a:ext cx="1233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9E6CF-DB88-AB23-6102-3DEF85BCF98C}"/>
              </a:ext>
            </a:extLst>
          </p:cNvPr>
          <p:cNvSpPr txBox="1"/>
          <p:nvPr/>
        </p:nvSpPr>
        <p:spPr>
          <a:xfrm>
            <a:off x="1464154" y="4173275"/>
            <a:ext cx="1136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ADC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4B12FA-82FD-39B6-7A4B-D9237360B0A0}"/>
              </a:ext>
            </a:extLst>
          </p:cNvPr>
          <p:cNvSpPr txBox="1"/>
          <p:nvPr/>
        </p:nvSpPr>
        <p:spPr>
          <a:xfrm>
            <a:off x="1464154" y="4755851"/>
            <a:ext cx="26971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Communication interfaces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B78C34E-710D-9E53-414A-3F85ED5C6F83}"/>
              </a:ext>
            </a:extLst>
          </p:cNvPr>
          <p:cNvSpPr/>
          <p:nvPr/>
        </p:nvSpPr>
        <p:spPr>
          <a:xfrm>
            <a:off x="7295188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59FEE6-2DC0-FC27-7CEB-506CB0A3FAFB}"/>
              </a:ext>
            </a:extLst>
          </p:cNvPr>
          <p:cNvSpPr txBox="1"/>
          <p:nvPr/>
        </p:nvSpPr>
        <p:spPr>
          <a:xfrm>
            <a:off x="7872485" y="3602194"/>
            <a:ext cx="1460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2BF30E-EBB2-BC34-FC7E-3330F834A913}"/>
              </a:ext>
            </a:extLst>
          </p:cNvPr>
          <p:cNvSpPr txBox="1"/>
          <p:nvPr/>
        </p:nvSpPr>
        <p:spPr>
          <a:xfrm>
            <a:off x="9114999" y="4173274"/>
            <a:ext cx="1101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LCD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C6D4D5-23D2-81D7-9332-17DC66E32D55}"/>
              </a:ext>
            </a:extLst>
          </p:cNvPr>
          <p:cNvSpPr txBox="1"/>
          <p:nvPr/>
        </p:nvSpPr>
        <p:spPr>
          <a:xfrm>
            <a:off x="7509880" y="4624395"/>
            <a:ext cx="1605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F0F541-0A67-A00D-EB30-551D7C8E7C88}"/>
              </a:ext>
            </a:extLst>
          </p:cNvPr>
          <p:cNvSpPr txBox="1"/>
          <p:nvPr/>
        </p:nvSpPr>
        <p:spPr>
          <a:xfrm>
            <a:off x="8762739" y="5070054"/>
            <a:ext cx="2697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Camera</a:t>
            </a:r>
          </a:p>
        </p:txBody>
      </p:sp>
    </p:spTree>
    <p:extLst>
      <p:ext uri="{BB962C8B-B14F-4D97-AF65-F5344CB8AC3E}">
        <p14:creationId xmlns:p14="http://schemas.microsoft.com/office/powerpoint/2010/main" val="42743664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 animBg="1"/>
      <p:bldP spid="21" grpId="0"/>
      <p:bldP spid="23" grpId="0"/>
      <p:bldP spid="25" grpId="0"/>
      <p:bldP spid="26" grpId="0"/>
      <p:bldP spid="27" grpId="0" animBg="1"/>
      <p:bldP spid="28" grpId="0"/>
      <p:bldP spid="29" grpId="0"/>
      <p:bldP spid="30" grpId="0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1028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A6CFF36B-0898-18CB-C889-124F4601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691" y="1722928"/>
            <a:ext cx="3674615" cy="341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itle 19">
            <a:extLst>
              <a:ext uri="{FF2B5EF4-FFF2-40B4-BE49-F238E27FC236}">
                <a16:creationId xmlns:a16="http://schemas.microsoft.com/office/drawing/2014/main" id="{13C1A745-05B9-E2FC-BBCD-3BE543132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39FF0-EAFD-B0CA-B214-22A6B8C1471E}"/>
              </a:ext>
            </a:extLst>
          </p:cNvPr>
          <p:cNvSpPr txBox="1"/>
          <p:nvPr/>
        </p:nvSpPr>
        <p:spPr>
          <a:xfrm>
            <a:off x="617427" y="1826352"/>
            <a:ext cx="1303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7E50CA-B140-5532-FC0E-E65812167BBF}"/>
              </a:ext>
            </a:extLst>
          </p:cNvPr>
          <p:cNvSpPr txBox="1"/>
          <p:nvPr/>
        </p:nvSpPr>
        <p:spPr>
          <a:xfrm>
            <a:off x="595160" y="2505669"/>
            <a:ext cx="34371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GPIO → buttons &amp; LEDs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Timers → motor control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Communication → camera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40B86-3862-E04D-B428-034D623C9C84}"/>
              </a:ext>
            </a:extLst>
          </p:cNvPr>
          <p:cNvSpPr txBox="1"/>
          <p:nvPr/>
        </p:nvSpPr>
        <p:spPr>
          <a:xfrm>
            <a:off x="8955453" y="1826352"/>
            <a:ext cx="132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EE5409-BD8C-A51F-8FE5-503B5605F04A}"/>
              </a:ext>
            </a:extLst>
          </p:cNvPr>
          <p:cNvSpPr txBox="1"/>
          <p:nvPr/>
        </p:nvSpPr>
        <p:spPr>
          <a:xfrm>
            <a:off x="8955453" y="2505669"/>
            <a:ext cx="27443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Motors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Sensors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674322-E675-EFB3-CAD9-8C3ACA6A6B36}"/>
              </a:ext>
            </a:extLst>
          </p:cNvPr>
          <p:cNvSpPr txBox="1"/>
          <p:nvPr/>
        </p:nvSpPr>
        <p:spPr>
          <a:xfrm>
            <a:off x="2284190" y="5134132"/>
            <a:ext cx="2514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Drone Behaviour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1B8BF6-7C81-8617-CAF4-AC547A5BFFDB}"/>
              </a:ext>
            </a:extLst>
          </p:cNvPr>
          <p:cNvSpPr txBox="1"/>
          <p:nvPr/>
        </p:nvSpPr>
        <p:spPr>
          <a:xfrm>
            <a:off x="2284190" y="5640767"/>
            <a:ext cx="2356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Take-off / landing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B3DC9-EAC0-ED11-5381-A2EA9BF207CB}"/>
              </a:ext>
            </a:extLst>
          </p:cNvPr>
          <p:cNvSpPr txBox="1"/>
          <p:nvPr/>
        </p:nvSpPr>
        <p:spPr>
          <a:xfrm>
            <a:off x="5506754" y="5640767"/>
            <a:ext cx="1842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Stabilization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25DAE4-1509-0235-437F-34BA5A33240F}"/>
              </a:ext>
            </a:extLst>
          </p:cNvPr>
          <p:cNvSpPr txBox="1"/>
          <p:nvPr/>
        </p:nvSpPr>
        <p:spPr>
          <a:xfrm>
            <a:off x="8214818" y="5640767"/>
            <a:ext cx="21997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D79F955A-4492-7C68-2518-EBEC64DA88D4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2"/>
                </a:solidFill>
              </a:rPr>
              <a:t>Why Layered Architecture?</a:t>
            </a:r>
          </a:p>
        </p:txBody>
      </p:sp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9ED12E86-1BB0-06DA-B471-5182645DC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3BEB3-DA7A-F21C-80D6-D6118E2EFE69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ADB2EA-6E72-8296-A7E0-52758D8256CF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6C280-E840-B2FB-4570-B5F3EDB6F46A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289B5AD-F5B0-704B-24EB-4D9E3E4BEFC3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088FA7C9-AF85-6FF3-26E9-BF62E037A9A1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2B2C8B-C41F-2AF8-11FF-35D65891452A}"/>
              </a:ext>
            </a:extLst>
          </p:cNvPr>
          <p:cNvSpPr txBox="1"/>
          <p:nvPr/>
        </p:nvSpPr>
        <p:spPr>
          <a:xfrm>
            <a:off x="758588" y="1801622"/>
            <a:ext cx="479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What is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67B7F1-96A2-A541-63B2-3283CE2937E0}"/>
              </a:ext>
            </a:extLst>
          </p:cNvPr>
          <p:cNvSpPr txBox="1"/>
          <p:nvPr/>
        </p:nvSpPr>
        <p:spPr>
          <a:xfrm>
            <a:off x="1019331" y="2537559"/>
            <a:ext cx="60274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Layered architecture is a software design approach that organizes an embedded system into multiple layers.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Each layer has a specific responsibility and interacts only with specific layers.</a:t>
            </a:r>
          </a:p>
        </p:txBody>
      </p:sp>
    </p:spTree>
    <p:extLst>
      <p:ext uri="{BB962C8B-B14F-4D97-AF65-F5344CB8AC3E}">
        <p14:creationId xmlns:p14="http://schemas.microsoft.com/office/powerpoint/2010/main" val="277748991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25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7964-EEA3-E2DA-8F20-FB7C5E3F9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D54F8B5-F283-19AE-89D7-75D0558FD4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E3F8023-C1BF-CC8A-5F74-AAC7C60B99E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B6F298-48FF-7FC7-AD54-427AE39FAC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D7E7BB-493E-81CE-4E36-59FB8FE534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25353B-5107-86FE-EE6B-91BC05B88C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408702-E40D-9956-C469-A3C22A34B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A0F6CE-FFF5-2C98-B39F-1688BEEA7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7996432-9F90-F0C1-C65C-54C56F540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E58E35-76A1-6E68-0231-0447128DD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3D5E8E-6FBB-B809-5A10-49BACB75E7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B3FB61B-D321-570F-FA34-9D53087FA7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6F40BA0-7650-297D-1463-3117B5D058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DB1BF0F3-47C9-5869-FD6F-8C27646C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4880C-7963-AD75-7826-21A6935565DD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B0CDDA-0D40-7959-F4B7-BEACEB5CCC65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2CC72B-2673-8864-A6EC-448F28763354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009CBC-FD76-9A33-6A38-3D79DA90E130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A16C07F-891C-51DF-BA78-CD9B95546036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6087-464F-D650-3994-D215104EBA04}"/>
              </a:ext>
            </a:extLst>
          </p:cNvPr>
          <p:cNvSpPr txBox="1"/>
          <p:nvPr/>
        </p:nvSpPr>
        <p:spPr>
          <a:xfrm>
            <a:off x="758588" y="1801622"/>
            <a:ext cx="4318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2BB43-9BEE-F93F-8647-AE16FFE4C184}"/>
              </a:ext>
            </a:extLst>
          </p:cNvPr>
          <p:cNvSpPr txBox="1"/>
          <p:nvPr/>
        </p:nvSpPr>
        <p:spPr>
          <a:xfrm>
            <a:off x="1019331" y="2537559"/>
            <a:ext cx="60274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Separation and abstraction.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Easier debugging and testing.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reusability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Hardware independence</a:t>
            </a:r>
          </a:p>
        </p:txBody>
      </p:sp>
    </p:spTree>
    <p:extLst>
      <p:ext uri="{BB962C8B-B14F-4D97-AF65-F5344CB8AC3E}">
        <p14:creationId xmlns:p14="http://schemas.microsoft.com/office/powerpoint/2010/main" val="6755465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6DE03-943A-938D-92BD-50F92109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3A25565-382F-377E-EEA9-EDA1CFA32E0E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2F482C-9D83-5FA3-9206-D3A92FFEDC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3A956-24D8-7B43-6DE1-6DC5F0363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DF0A749-2F18-DE30-226D-28F04A5DD6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67CE80-3B6C-606B-1E5C-A356A46E0DC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D2457A7-7FE2-99E4-DA7F-F5DDAF960CF3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9E13B8F-5ECA-7E96-1D8C-4CFEF889B6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183E72-D89F-983B-FDBE-AD1946F7C0ED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5F9440-A805-AFFB-6E51-3F0FB5EBC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BCA638-CEA8-89D4-B844-0FD102016E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F3677F63-93A6-93B1-157C-7DE95CA14E4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2FFCB3-2626-CBD5-9C96-97A0E721DEB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C6C9001-234D-FF34-A012-A57B51465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676408DC-D4E5-2A07-6DFF-4B97E25064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C1106009-17E5-323B-4B0B-405EBAA55215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415612456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5FED5-8526-E645-0D82-1780D3641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2E4EFA1-F7AD-8A16-64FD-0526F39A4A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A21871D-E003-3BD5-FA8C-84EFF087CC8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B20B007-2034-2D94-FB13-9DD4A02A12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B4CCFF4-A34F-B432-F942-3C6545955A5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E9B83A-D1CF-A453-10F3-DAD11890298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8427F0D-BF11-9662-556F-7FA9F20440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295F3C-B06C-F415-22BE-61028DDF45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6ABA97E-7DB6-4AE9-F6AB-2196B0D68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8C45D6-04BD-3962-F7C3-65307C12ED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97D9C6-599C-16DD-BCD9-AC6B186206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257B040-5D27-ACCD-8647-61E75C16BC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6DEC3AF-6AE2-347C-B5CB-339808B0DE4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81844851-9EE4-F7F6-8BAC-C9796378D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F84182-C452-D6B4-E2EC-1D26AB3C2AAC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EFEC62-C9CB-B6D8-0D77-34582B897BB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CBDF85-59EF-92E9-CFD6-A4098FE05121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64CD46B-05A6-23FA-92F7-DEAAF9B53B24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798E13F-B084-6995-D355-75EC53276C27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F1A9DC-0D05-FBDA-8314-91B9EEA3F81F}"/>
              </a:ext>
            </a:extLst>
          </p:cNvPr>
          <p:cNvSpPr txBox="1"/>
          <p:nvPr/>
        </p:nvSpPr>
        <p:spPr>
          <a:xfrm>
            <a:off x="4469910" y="1812361"/>
            <a:ext cx="34310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Application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3E867-B829-0F12-26AB-A2697916F7AE}"/>
              </a:ext>
            </a:extLst>
          </p:cNvPr>
          <p:cNvSpPr txBox="1"/>
          <p:nvPr/>
        </p:nvSpPr>
        <p:spPr>
          <a:xfrm>
            <a:off x="4469910" y="3298952"/>
            <a:ext cx="5365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Hardware Abstraction Layer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44E769-0303-75C2-9587-952D9CCA053D}"/>
              </a:ext>
            </a:extLst>
          </p:cNvPr>
          <p:cNvSpPr txBox="1"/>
          <p:nvPr/>
        </p:nvSpPr>
        <p:spPr>
          <a:xfrm>
            <a:off x="4469910" y="4785543"/>
            <a:ext cx="6449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Microcontroller Abstraction Layer</a:t>
            </a:r>
          </a:p>
        </p:txBody>
      </p:sp>
    </p:spTree>
    <p:extLst>
      <p:ext uri="{BB962C8B-B14F-4D97-AF65-F5344CB8AC3E}">
        <p14:creationId xmlns:p14="http://schemas.microsoft.com/office/powerpoint/2010/main" val="318121629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AD995-68A7-3244-686C-19883778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5E74C8-7F94-724A-38D3-77989ADFAA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FA86DB3-7328-B0B9-5E64-89C4003E3F9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C15AE-0E46-D04F-0BB6-01F355D39F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23939-90C0-3089-1863-CD92582D12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D62BE2-B1E5-7C96-6FB4-E3AFE565DBF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83E3A98-60CC-A018-C1B2-7DBC59A6CD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CE5A5D-DBA9-A87F-D097-23659EB9B9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C170082-CF07-3077-2B00-6D9B32B522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05C6D74-8FBC-76B4-CE1C-BB237E7E8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E1420E0-7643-78F6-3B90-203E448887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E16231D2-EE46-CDA0-46C1-75B8ADFEF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521B290-3B23-DBB3-7EFE-44508F7DD7D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9A3F88-7951-8965-9783-6CD157B9F4B2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3EC8C-73F5-E510-B686-8168324C68E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3C452D-3F5E-9B40-B2D7-A2090FA40369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B06EBD6-86F3-2DC2-B131-DA1C980ACAF3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F6C2FB0-D1D4-9251-C3E0-0BE9E8E76A1A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5BDCE-A9D2-2619-094E-58343BCE7FA9}"/>
              </a:ext>
            </a:extLst>
          </p:cNvPr>
          <p:cNvSpPr txBox="1"/>
          <p:nvPr/>
        </p:nvSpPr>
        <p:spPr>
          <a:xfrm>
            <a:off x="4469910" y="1719433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Defines the overall </a:t>
            </a:r>
            <a:r>
              <a:rPr lang="en-GB" sz="2400" b="1" dirty="0"/>
              <a:t>system behaviour </a:t>
            </a:r>
            <a:r>
              <a:rPr lang="en-GB" sz="2400" dirty="0"/>
              <a:t>and </a:t>
            </a:r>
            <a:r>
              <a:rPr lang="en-GB" sz="2400" b="1" dirty="0"/>
              <a:t>application</a:t>
            </a:r>
            <a:r>
              <a:rPr lang="en-GB" sz="2400" dirty="0"/>
              <a:t>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3462AB-1D8B-C7A2-4723-AF7C4059BCFA}"/>
              </a:ext>
            </a:extLst>
          </p:cNvPr>
          <p:cNvSpPr txBox="1"/>
          <p:nvPr/>
        </p:nvSpPr>
        <p:spPr>
          <a:xfrm>
            <a:off x="4469910" y="321000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off-chip </a:t>
            </a:r>
            <a:r>
              <a:rPr lang="en-GB" sz="2400" dirty="0"/>
              <a:t>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8F9BC5-E318-399C-652D-BB001E3F495E}"/>
              </a:ext>
            </a:extLst>
          </p:cNvPr>
          <p:cNvSpPr txBox="1"/>
          <p:nvPr/>
        </p:nvSpPr>
        <p:spPr>
          <a:xfrm>
            <a:off x="4469910" y="469572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on-chip</a:t>
            </a:r>
            <a:r>
              <a:rPr lang="en-GB" sz="2400" dirty="0"/>
              <a:t> microcontroller 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AA9B31AC-B6FB-0773-60B9-BC5DF682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374634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0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DF312-BD86-F21D-3526-ABFA4BCED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709307-AD48-C8E1-8861-769D8D277F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4AA208F-BB84-896A-18C3-24F873F90FB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B420AC-B228-2BDA-4AB1-A2D25D4BB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9C11B7-A093-C190-B729-3B827098329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A26DA7-90E1-876C-BDAB-ACB42325680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49CC623-668E-8294-B909-A738F2F166E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140EC0-66B0-FF5C-2219-C7516C0E98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53C1CD3-123F-291F-D1F1-9C94E1C54F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80AC5B-A7C0-22A5-70D4-5F087DF1D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10ED512-440A-1E3C-691E-692111527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C917C6B-FA59-371B-4302-23A3566F58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585C2C0-B8C8-40F7-FC95-476BCAA738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6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D780C6B0-CBC5-75F6-1C6D-134FCBA78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15" y="468224"/>
            <a:ext cx="3204169" cy="297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D2A03D08-37F9-5501-2008-0550A8E5647D}"/>
              </a:ext>
            </a:extLst>
          </p:cNvPr>
          <p:cNvSpPr/>
          <p:nvPr/>
        </p:nvSpPr>
        <p:spPr>
          <a:xfrm>
            <a:off x="1093242" y="1046429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5892D48-8313-FFB8-52AD-84259C652E65}"/>
              </a:ext>
            </a:extLst>
          </p:cNvPr>
          <p:cNvSpPr/>
          <p:nvPr/>
        </p:nvSpPr>
        <p:spPr>
          <a:xfrm>
            <a:off x="8454591" y="1046428"/>
            <a:ext cx="2926229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001182E-EC1F-99AC-719C-D60C234E308B}"/>
              </a:ext>
            </a:extLst>
          </p:cNvPr>
          <p:cNvSpPr/>
          <p:nvPr/>
        </p:nvSpPr>
        <p:spPr>
          <a:xfrm>
            <a:off x="4605302" y="3992681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742AAF-FF9B-0092-F2F3-B6BA69E987B8}"/>
              </a:ext>
            </a:extLst>
          </p:cNvPr>
          <p:cNvSpPr txBox="1"/>
          <p:nvPr/>
        </p:nvSpPr>
        <p:spPr>
          <a:xfrm>
            <a:off x="2083320" y="1332503"/>
            <a:ext cx="1001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MCAL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02A6D8-2E84-BBCF-4B57-79F0AAFD8E31}"/>
              </a:ext>
            </a:extLst>
          </p:cNvPr>
          <p:cNvSpPr txBox="1"/>
          <p:nvPr/>
        </p:nvSpPr>
        <p:spPr>
          <a:xfrm>
            <a:off x="9615965" y="1332502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HAL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0866E9-363F-F7F9-4EB7-A305C2ACA3D5}"/>
              </a:ext>
            </a:extLst>
          </p:cNvPr>
          <p:cNvSpPr txBox="1"/>
          <p:nvPr/>
        </p:nvSpPr>
        <p:spPr>
          <a:xfrm>
            <a:off x="5722338" y="4318043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APP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D7CF71-4434-8AA7-88BE-C1E32E8D581B}"/>
              </a:ext>
            </a:extLst>
          </p:cNvPr>
          <p:cNvSpPr txBox="1"/>
          <p:nvPr/>
        </p:nvSpPr>
        <p:spPr>
          <a:xfrm>
            <a:off x="1405176" y="1941675"/>
            <a:ext cx="768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0E3D1-4C32-40FC-E3C0-097205FD1D1C}"/>
              </a:ext>
            </a:extLst>
          </p:cNvPr>
          <p:cNvSpPr txBox="1"/>
          <p:nvPr/>
        </p:nvSpPr>
        <p:spPr>
          <a:xfrm>
            <a:off x="2884452" y="1955874"/>
            <a:ext cx="9307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2EF2B4-EFD6-9573-5FD2-A3413518D0D2}"/>
              </a:ext>
            </a:extLst>
          </p:cNvPr>
          <p:cNvSpPr txBox="1"/>
          <p:nvPr/>
        </p:nvSpPr>
        <p:spPr>
          <a:xfrm>
            <a:off x="1594981" y="2499644"/>
            <a:ext cx="1977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Communication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67EAE3-78D2-1EB6-A7CD-008FBFEAA7A0}"/>
              </a:ext>
            </a:extLst>
          </p:cNvPr>
          <p:cNvSpPr txBox="1"/>
          <p:nvPr/>
        </p:nvSpPr>
        <p:spPr>
          <a:xfrm>
            <a:off x="8707973" y="1941675"/>
            <a:ext cx="9599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CE80DF-01BB-7E7C-094B-7BAE9A7B38CD}"/>
              </a:ext>
            </a:extLst>
          </p:cNvPr>
          <p:cNvSpPr txBox="1"/>
          <p:nvPr/>
        </p:nvSpPr>
        <p:spPr>
          <a:xfrm>
            <a:off x="10116491" y="1944411"/>
            <a:ext cx="1066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2840EE-3C03-BB44-1B0C-DA98364BC3A6}"/>
              </a:ext>
            </a:extLst>
          </p:cNvPr>
          <p:cNvSpPr txBox="1"/>
          <p:nvPr/>
        </p:nvSpPr>
        <p:spPr>
          <a:xfrm>
            <a:off x="9349872" y="2591054"/>
            <a:ext cx="1081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D1E052-561A-A4CD-6296-EDF22940C85F}"/>
              </a:ext>
            </a:extLst>
          </p:cNvPr>
          <p:cNvSpPr txBox="1"/>
          <p:nvPr/>
        </p:nvSpPr>
        <p:spPr>
          <a:xfrm>
            <a:off x="5082675" y="4791118"/>
            <a:ext cx="20266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Take-off/Landing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F45456-5CCA-3D6A-6EB4-0B9CE5E7F15B}"/>
              </a:ext>
            </a:extLst>
          </p:cNvPr>
          <p:cNvSpPr txBox="1"/>
          <p:nvPr/>
        </p:nvSpPr>
        <p:spPr>
          <a:xfrm>
            <a:off x="5292603" y="5202638"/>
            <a:ext cx="1606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Stabilization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A15986-78FC-FD31-9EB0-EC2EA729234E}"/>
              </a:ext>
            </a:extLst>
          </p:cNvPr>
          <p:cNvSpPr txBox="1"/>
          <p:nvPr/>
        </p:nvSpPr>
        <p:spPr>
          <a:xfrm>
            <a:off x="5118773" y="5614158"/>
            <a:ext cx="1954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4246427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2" grpId="0" animBg="1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7" grpId="0"/>
      <p:bldP spid="49" grpId="0"/>
      <p:bldP spid="5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2F5E5-6E5F-0230-27ED-BFDCFA6F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76F790A-04F1-851B-5C0A-5990809547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F47E30C-978C-100C-B4FC-8AC088958ED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6D9C91-9CF4-706C-7CAB-0F9552D22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504C1D-E185-3EF1-6648-8AB1B09227F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4FE2DA-45C7-A7D4-A38D-76344AFDF74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D958DBF-0FA9-3A60-128C-CD36A0198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5F3AD85-0ED5-FEE9-DC04-E3D71AAB45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BAF615-48AC-3A53-A29A-C3500156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D2DDA7A-1C68-46E4-6ECF-3463F08C76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57CC336-F0B9-F29E-1636-152A4C3408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20685CC-BE21-43CF-3CE6-53562D45C2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7350AC2-788D-088E-3DF2-4FFBB3383E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00C431-FDAC-B2DE-01CF-15C430A5F5A8}"/>
              </a:ext>
            </a:extLst>
          </p:cNvPr>
          <p:cNvSpPr/>
          <p:nvPr/>
        </p:nvSpPr>
        <p:spPr>
          <a:xfrm>
            <a:off x="9247359" y="170842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E2D318-EAAC-6460-B51C-031CDD29E20A}"/>
              </a:ext>
            </a:extLst>
          </p:cNvPr>
          <p:cNvSpPr/>
          <p:nvPr/>
        </p:nvSpPr>
        <p:spPr>
          <a:xfrm>
            <a:off x="9247358" y="319501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0515B2-7B3A-86C6-FFF5-57F24E1E81DD}"/>
              </a:ext>
            </a:extLst>
          </p:cNvPr>
          <p:cNvSpPr/>
          <p:nvPr/>
        </p:nvSpPr>
        <p:spPr>
          <a:xfrm>
            <a:off x="9249358" y="468161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BE8844C-0735-3E59-994B-D3CC23D02B32}"/>
              </a:ext>
            </a:extLst>
          </p:cNvPr>
          <p:cNvSpPr/>
          <p:nvPr/>
        </p:nvSpPr>
        <p:spPr>
          <a:xfrm>
            <a:off x="10179153" y="247482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918841B-32CC-4F0F-C9D5-E81D3B9ED641}"/>
              </a:ext>
            </a:extLst>
          </p:cNvPr>
          <p:cNvSpPr/>
          <p:nvPr/>
        </p:nvSpPr>
        <p:spPr>
          <a:xfrm>
            <a:off x="10166663" y="397585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FD2D1010-F9B2-8AE8-FC53-E5DFE25A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LIB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DC42A-EA8D-45A3-EACC-C176FBA659A9}"/>
              </a:ext>
            </a:extLst>
          </p:cNvPr>
          <p:cNvSpPr/>
          <p:nvPr/>
        </p:nvSpPr>
        <p:spPr>
          <a:xfrm>
            <a:off x="6910454" y="1708428"/>
            <a:ext cx="1480057" cy="37358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LIB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4343F9F-7C07-B7DE-2B48-B5F5CCE3A0CE}"/>
              </a:ext>
            </a:extLst>
          </p:cNvPr>
          <p:cNvSpPr/>
          <p:nvPr/>
        </p:nvSpPr>
        <p:spPr>
          <a:xfrm rot="10800000">
            <a:off x="8390511" y="1969837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88512F6A-9EFA-CC56-D1C3-428A52207E54}"/>
              </a:ext>
            </a:extLst>
          </p:cNvPr>
          <p:cNvSpPr/>
          <p:nvPr/>
        </p:nvSpPr>
        <p:spPr>
          <a:xfrm rot="10800000">
            <a:off x="8390511" y="4940734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02BDEF2A-58A2-E1E6-DFD3-10293444FAEC}"/>
              </a:ext>
            </a:extLst>
          </p:cNvPr>
          <p:cNvSpPr/>
          <p:nvPr/>
        </p:nvSpPr>
        <p:spPr>
          <a:xfrm rot="10800000">
            <a:off x="8390511" y="3456429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8730B1-A3A9-A874-EE06-3CFFB33B8127}"/>
              </a:ext>
            </a:extLst>
          </p:cNvPr>
          <p:cNvSpPr txBox="1"/>
          <p:nvPr/>
        </p:nvSpPr>
        <p:spPr>
          <a:xfrm>
            <a:off x="1032656" y="1638286"/>
            <a:ext cx="2729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LIB</a:t>
            </a:r>
            <a:r>
              <a:rPr lang="en-GB" sz="2800" dirty="0">
                <a:solidFill>
                  <a:schemeClr val="tx2"/>
                </a:solidFill>
              </a:rPr>
              <a:t>: Library layer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6231A9-238F-C38A-CE9E-CD80BE9A294F}"/>
              </a:ext>
            </a:extLst>
          </p:cNvPr>
          <p:cNvSpPr txBox="1"/>
          <p:nvPr/>
        </p:nvSpPr>
        <p:spPr>
          <a:xfrm>
            <a:off x="1063359" y="2209680"/>
            <a:ext cx="562100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Provides common utility functions and definitions that can be used by all software layers.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It includes </a:t>
            </a:r>
            <a:r>
              <a:rPr lang="en-GB" sz="2000" b="1" dirty="0"/>
              <a:t>Common macros and definitions</a:t>
            </a:r>
            <a:r>
              <a:rPr lang="en-GB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utilities.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→ </a:t>
            </a:r>
            <a:r>
              <a:rPr lang="en-GB" sz="2000" dirty="0" err="1"/>
              <a:t>BIT_MATH.h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 → </a:t>
            </a:r>
            <a:r>
              <a:rPr lang="en-GB" sz="2000" dirty="0" err="1"/>
              <a:t>STD_TYPES.h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716165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8" grpId="0" animBg="1"/>
      <p:bldP spid="21" grpId="0" animBg="1"/>
      <p:bldP spid="27" grpId="0"/>
      <p:bldP spid="9" grpId="0" animBg="1"/>
      <p:bldP spid="11" grpId="0" animBg="1"/>
      <p:bldP spid="12" grpId="0" animBg="1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4D32-67C7-5CF1-2A61-C6A2C824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E4CF98C-1F85-E6AB-49DB-8306717447BC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80BBF9-D7CA-787B-4215-B17F3BEA4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E73AE9-6B91-ABA0-6D57-F6A36357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459C934-1912-0DA3-0D80-8727134D7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19253-94EC-B95A-48F0-EF74A352E5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DE27699-27A1-86BA-C465-E2EC3FE0153F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124D305-763F-2D5B-7DAA-DA9B07EA7B5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3CDE1B-547B-9BD9-26EE-17489F9FE13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88C8F-2570-5587-2F8C-ADD7424FB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B93D29C-40B8-2EB9-64A3-27432132BD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E6709BA-A25A-583C-0278-524B7246630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3AF801-0D29-82C0-1909-0AD703B8DD3A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F239795-2A4F-569B-5B8D-324E395A89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F22F675A-3BAB-E071-2972-808BE84BA1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54C17089-9F1E-151A-AF8B-10355085E810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Registers</a:t>
            </a:r>
          </a:p>
        </p:txBody>
      </p:sp>
    </p:spTree>
    <p:extLst>
      <p:ext uri="{BB962C8B-B14F-4D97-AF65-F5344CB8AC3E}">
        <p14:creationId xmlns:p14="http://schemas.microsoft.com/office/powerpoint/2010/main" val="4023446334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016E9C74-AD88-DF7B-C6D4-A76531997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5C4C13-C0F3-58C6-56B1-7D1C66575B7E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CD34EE-9E03-10F0-8E0B-796AD7D69A18}"/>
              </a:ext>
            </a:extLst>
          </p:cNvPr>
          <p:cNvSpPr txBox="1"/>
          <p:nvPr/>
        </p:nvSpPr>
        <p:spPr>
          <a:xfrm>
            <a:off x="1461639" y="2040834"/>
            <a:ext cx="355738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FE153A-1008-53E9-DCFD-6DB1F7142BBF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FEB7EA-0543-A79A-DD89-6F1C22EE7838}"/>
              </a:ext>
            </a:extLst>
          </p:cNvPr>
          <p:cNvSpPr/>
          <p:nvPr/>
        </p:nvSpPr>
        <p:spPr>
          <a:xfrm>
            <a:off x="8316686" y="33310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2B94B6E-C054-9F08-1FC6-5710C0F6ABFD}"/>
              </a:ext>
            </a:extLst>
          </p:cNvPr>
          <p:cNvSpPr/>
          <p:nvPr/>
        </p:nvSpPr>
        <p:spPr>
          <a:xfrm>
            <a:off x="10106247" y="33564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873309-1112-DD48-7815-BC7339E1281A}"/>
              </a:ext>
            </a:extLst>
          </p:cNvPr>
          <p:cNvSpPr/>
          <p:nvPr/>
        </p:nvSpPr>
        <p:spPr>
          <a:xfrm>
            <a:off x="8316686" y="3538928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F1A3FD-F754-ECA1-DFB0-9BC7F440861C}"/>
              </a:ext>
            </a:extLst>
          </p:cNvPr>
          <p:cNvSpPr/>
          <p:nvPr/>
        </p:nvSpPr>
        <p:spPr>
          <a:xfrm>
            <a:off x="10101483" y="3577288"/>
            <a:ext cx="732970" cy="18445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E81207-B8C0-0F2B-9761-632F16EAAFCA}"/>
              </a:ext>
            </a:extLst>
          </p:cNvPr>
          <p:cNvSpPr/>
          <p:nvPr/>
        </p:nvSpPr>
        <p:spPr>
          <a:xfrm>
            <a:off x="10099848" y="3157469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3F2FF9-4345-E5DD-7A8A-9857F8B19EE8}"/>
              </a:ext>
            </a:extLst>
          </p:cNvPr>
          <p:cNvSpPr/>
          <p:nvPr/>
        </p:nvSpPr>
        <p:spPr>
          <a:xfrm>
            <a:off x="8207829" y="39420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D8F6E3-622C-5602-389B-AFA742FDB03E}"/>
              </a:ext>
            </a:extLst>
          </p:cNvPr>
          <p:cNvSpPr/>
          <p:nvPr/>
        </p:nvSpPr>
        <p:spPr>
          <a:xfrm>
            <a:off x="8220529" y="37388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17097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11" grpId="0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F910-C0B7-C1EA-1D2E-62E93889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FBA4A38-7FDF-A987-75AC-ADCB1C6423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03E57AE-D7A3-20C7-2947-97300DCAC9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720CC3-E4F8-55AE-4A6C-B2B67BD926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D611E36-811F-6211-BE64-B5868CE9EC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68C2E3C-2743-4E02-C5A5-BBF3D081218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1C40C2-DD40-68F0-BE96-0BF401C70A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7691FE3-01B7-3DE7-4938-F6C8853DF9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2FDC946-D8E8-DECF-75AC-4266360FD7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D179A-058B-3FEA-42B9-12D52C202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1284DC3-3D3B-587C-E9D7-4861C65040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6E0A3F4-0095-009B-FC4F-335EAAC8B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4D53FBD-807D-BD82-0A5C-D474CC3FC8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4108A99-93D8-BA6D-545A-ACD2E4A420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778E3644-E1B3-422C-1A7B-A50FDCFEB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B12E050-7686-6E44-A886-0924B41946DC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FF4991-C1A6-3B20-0188-6334DBA30B16}"/>
              </a:ext>
            </a:extLst>
          </p:cNvPr>
          <p:cNvSpPr txBox="1"/>
          <p:nvPr/>
        </p:nvSpPr>
        <p:spPr>
          <a:xfrm>
            <a:off x="1461639" y="2040834"/>
            <a:ext cx="514262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General purpose pins (GPIO/DIO)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6A57D-B42F-E239-3B46-3D935FED1DF1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78688-5983-C669-F8C5-F05A6913CA21}"/>
              </a:ext>
            </a:extLst>
          </p:cNvPr>
          <p:cNvSpPr txBox="1"/>
          <p:nvPr/>
        </p:nvSpPr>
        <p:spPr>
          <a:xfrm>
            <a:off x="1499106" y="5087822"/>
            <a:ext cx="34078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1B662-BD20-82B5-2F20-38FBCC3BAF8C}"/>
              </a:ext>
            </a:extLst>
          </p:cNvPr>
          <p:cNvSpPr/>
          <p:nvPr/>
        </p:nvSpPr>
        <p:spPr>
          <a:xfrm>
            <a:off x="7670800" y="1521098"/>
            <a:ext cx="1511387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6CD0A9-9560-78D4-52DD-A5157F7F170D}"/>
              </a:ext>
            </a:extLst>
          </p:cNvPr>
          <p:cNvSpPr/>
          <p:nvPr/>
        </p:nvSpPr>
        <p:spPr>
          <a:xfrm>
            <a:off x="9865197" y="1551925"/>
            <a:ext cx="1349423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2B0AD-7D3E-8B9E-5484-659277B8DC8F}"/>
              </a:ext>
            </a:extLst>
          </p:cNvPr>
          <p:cNvSpPr/>
          <p:nvPr/>
        </p:nvSpPr>
        <p:spPr>
          <a:xfrm>
            <a:off x="7670800" y="4125702"/>
            <a:ext cx="1511387" cy="139879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92F2F9-FA73-62F2-F132-CFC0936A20D1}"/>
              </a:ext>
            </a:extLst>
          </p:cNvPr>
          <p:cNvSpPr/>
          <p:nvPr/>
        </p:nvSpPr>
        <p:spPr>
          <a:xfrm>
            <a:off x="9720714" y="3670300"/>
            <a:ext cx="1511387" cy="1559575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1450F7-E4BC-3BD2-844E-65BC018B59A3}"/>
              </a:ext>
            </a:extLst>
          </p:cNvPr>
          <p:cNvSpPr/>
          <p:nvPr/>
        </p:nvSpPr>
        <p:spPr>
          <a:xfrm>
            <a:off x="9720714" y="5267975"/>
            <a:ext cx="1511387" cy="269226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0375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4" grpId="0" animBg="1"/>
      <p:bldP spid="15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7122" y="527981"/>
            <a:ext cx="6277757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GPIO Registers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2F2ED8-4983-0EC7-F355-98BD002D9E27}"/>
              </a:ext>
            </a:extLst>
          </p:cNvPr>
          <p:cNvSpPr txBox="1"/>
          <p:nvPr/>
        </p:nvSpPr>
        <p:spPr>
          <a:xfrm>
            <a:off x="937268" y="1591934"/>
            <a:ext cx="51761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Each PORT has </a:t>
            </a:r>
            <a:r>
              <a:rPr lang="en-GB" sz="2800" b="1" dirty="0">
                <a:solidFill>
                  <a:schemeClr val="tx2"/>
                </a:solidFill>
              </a:rPr>
              <a:t>3 registers</a:t>
            </a:r>
            <a:r>
              <a:rPr lang="en-GB" sz="2800" dirty="0">
                <a:solidFill>
                  <a:schemeClr val="tx2"/>
                </a:solidFill>
              </a:rPr>
              <a:t>:</a:t>
            </a:r>
            <a:br>
              <a:rPr lang="en-GB" sz="28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DDR: data direction register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PORT: output data register.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PIN: input data register. </a:t>
            </a:r>
            <a:endParaRPr lang="en-GB" sz="2400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8887F-0F6F-069B-E42B-D5CFE38F1B5D}"/>
              </a:ext>
            </a:extLst>
          </p:cNvPr>
          <p:cNvSpPr txBox="1"/>
          <p:nvPr/>
        </p:nvSpPr>
        <p:spPr>
          <a:xfrm>
            <a:off x="937268" y="3894564"/>
            <a:ext cx="52082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So, for each port these 3 registers</a:t>
            </a:r>
            <a:br>
              <a:rPr lang="en-GB" sz="2400" dirty="0">
                <a:solidFill>
                  <a:schemeClr val="tx2"/>
                </a:solidFill>
              </a:rPr>
            </a:br>
            <a:r>
              <a:rPr lang="en-GB" sz="2400" dirty="0">
                <a:solidFill>
                  <a:schemeClr val="tx2"/>
                </a:solidFill>
              </a:rPr>
              <a:t>for example:</a:t>
            </a:r>
            <a:br>
              <a:rPr lang="en-GB" sz="24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Port A: A0</a:t>
            </a:r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A7, DDRA, PORTA, PINA</a:t>
            </a:r>
          </a:p>
        </p:txBody>
      </p:sp>
      <p:pic>
        <p:nvPicPr>
          <p:cNvPr id="10242" name="Picture 2" descr="ATMEGA 32 interface with led – Embedded and Robotics">
            <a:extLst>
              <a:ext uri="{FF2B5EF4-FFF2-40B4-BE49-F238E27FC236}">
                <a16:creationId xmlns:a16="http://schemas.microsoft.com/office/drawing/2014/main" id="{DE404956-2830-06BA-A854-9CA75BA455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" t="1905" r="1178" b="2642"/>
          <a:stretch>
            <a:fillRect/>
          </a:stretch>
        </p:blipFill>
        <p:spPr bwMode="auto">
          <a:xfrm>
            <a:off x="6155173" y="2193592"/>
            <a:ext cx="5504289" cy="3003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7786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build="allAtOnce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6F33-CBB2-B742-7E08-A20B7315F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C40F3F3-1990-C218-7DA2-896E31819CA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FC5D8-3A3C-9F7B-E633-CECC664AC0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037D25-3C9C-283E-0205-C0299BD4B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4353DA0-0D3B-BAC3-E745-7AE07C2BD0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0CFF7E-EE5F-32A4-7ADB-C6EA68DD20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FB67AD9-F947-0123-6AE7-EF6EDF6AF14E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A73F32F-7FC3-32D0-15BF-57C7C2C4D70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F57C55-15D6-A2C1-1B3F-3387F28EDFBB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9EA629-520E-0369-ABCD-DFA52871E8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2E16A3-4B3E-835C-B216-37897DAAAD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31656668-B636-B26A-AD8B-02A9716F05D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1492A6-DA84-C1C1-FB89-FBB693CC3384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40FD187-48EE-F296-F4D7-8B6E05BD1D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404F315-9DE9-9E21-3D49-E8D284E3A8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FF89FDD2-61F0-D4DA-41D1-AAB528FC7DBC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How Do Layers Appear In Code?</a:t>
            </a:r>
          </a:p>
        </p:txBody>
      </p:sp>
    </p:spTree>
    <p:extLst>
      <p:ext uri="{BB962C8B-B14F-4D97-AF65-F5344CB8AC3E}">
        <p14:creationId xmlns:p14="http://schemas.microsoft.com/office/powerpoint/2010/main" val="3232310640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91" y="302767"/>
            <a:ext cx="9317599" cy="13255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chemeClr val="tx2"/>
                </a:solidFill>
              </a:rPr>
              <a:t>Code Organization Based on Layered Architecture</a:t>
            </a:r>
            <a:endParaRPr lang="en-US" sz="4000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D71D88-AA47-2D30-CC86-DE7B397AFB85}"/>
              </a:ext>
            </a:extLst>
          </p:cNvPr>
          <p:cNvSpPr/>
          <p:nvPr/>
        </p:nvSpPr>
        <p:spPr>
          <a:xfrm>
            <a:off x="326594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800214-02D5-65E9-B941-CE0947E3D72F}"/>
              </a:ext>
            </a:extLst>
          </p:cNvPr>
          <p:cNvSpPr/>
          <p:nvPr/>
        </p:nvSpPr>
        <p:spPr>
          <a:xfrm>
            <a:off x="326544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89621-2F31-E092-3099-29B6D953C3C7}"/>
              </a:ext>
            </a:extLst>
          </p:cNvPr>
          <p:cNvSpPr/>
          <p:nvPr/>
        </p:nvSpPr>
        <p:spPr>
          <a:xfrm>
            <a:off x="326544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ED5621F-2B1D-E364-1C4D-7B3DFA0BE1A1}"/>
              </a:ext>
            </a:extLst>
          </p:cNvPr>
          <p:cNvSpPr/>
          <p:nvPr/>
        </p:nvSpPr>
        <p:spPr>
          <a:xfrm>
            <a:off x="5538420" y="2070402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231E5543-71F4-6601-6580-6D92D79594F0}"/>
              </a:ext>
            </a:extLst>
          </p:cNvPr>
          <p:cNvSpPr/>
          <p:nvPr/>
        </p:nvSpPr>
        <p:spPr>
          <a:xfrm>
            <a:off x="5540420" y="3346165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5EECB8DC-4F07-76D3-4F50-D4E1583FB320}"/>
              </a:ext>
            </a:extLst>
          </p:cNvPr>
          <p:cNvSpPr/>
          <p:nvPr/>
        </p:nvSpPr>
        <p:spPr>
          <a:xfrm>
            <a:off x="5538420" y="4584501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2D2884-D098-4D98-929C-FD2BAF1426FB}"/>
              </a:ext>
            </a:extLst>
          </p:cNvPr>
          <p:cNvSpPr/>
          <p:nvPr/>
        </p:nvSpPr>
        <p:spPr>
          <a:xfrm>
            <a:off x="326544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LIB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E1A224B-19A3-9EA5-664C-36A18E1E5C5F}"/>
              </a:ext>
            </a:extLst>
          </p:cNvPr>
          <p:cNvSpPr/>
          <p:nvPr/>
        </p:nvSpPr>
        <p:spPr>
          <a:xfrm>
            <a:off x="5538420" y="5857630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C817A1-D004-F6F9-1460-462F03DCB6EE}"/>
              </a:ext>
            </a:extLst>
          </p:cNvPr>
          <p:cNvSpPr/>
          <p:nvPr/>
        </p:nvSpPr>
        <p:spPr>
          <a:xfrm>
            <a:off x="666626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main.c</a:t>
            </a:r>
            <a:endParaRPr lang="en-GB" sz="20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AFA092-7486-70CF-80BD-43DA7B11D058}"/>
              </a:ext>
            </a:extLst>
          </p:cNvPr>
          <p:cNvSpPr/>
          <p:nvPr/>
        </p:nvSpPr>
        <p:spPr>
          <a:xfrm>
            <a:off x="666576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 </a:t>
            </a:r>
            <a:r>
              <a:rPr lang="en-GB" sz="2000" b="1" dirty="0" err="1"/>
              <a:t>led.c</a:t>
            </a:r>
            <a:r>
              <a:rPr lang="en-GB" sz="2000" b="1" dirty="0"/>
              <a:t> / </a:t>
            </a:r>
            <a:r>
              <a:rPr lang="en-GB" sz="2000" b="1" dirty="0" err="1"/>
              <a:t>button.c</a:t>
            </a:r>
            <a:endParaRPr lang="en-GB" sz="20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A43438-5B89-5D4B-79EC-801B61000565}"/>
              </a:ext>
            </a:extLst>
          </p:cNvPr>
          <p:cNvSpPr/>
          <p:nvPr/>
        </p:nvSpPr>
        <p:spPr>
          <a:xfrm>
            <a:off x="666576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GPIO.c</a:t>
            </a:r>
            <a:endParaRPr lang="en-GB" sz="20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FB9B44-A420-5944-465A-C2C934EAF87F}"/>
              </a:ext>
            </a:extLst>
          </p:cNvPr>
          <p:cNvSpPr/>
          <p:nvPr/>
        </p:nvSpPr>
        <p:spPr>
          <a:xfrm>
            <a:off x="666576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000" b="1" dirty="0"/>
              <a:t>bitmath.h / standard_types.h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755781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2" grpId="0" animBg="1"/>
      <p:bldP spid="16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367EE-FEB2-F92E-2EBF-52E953C7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07DE70A-486A-248F-1B83-F84186961443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65C269-5BE5-2DDD-4123-B58BE2848B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8D85C0-CD64-488D-78C6-C3B41FE288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85A4B36-9FC3-F0E5-5E53-BEC5DF37F6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8778CD-DB49-48DF-3BB8-5709D0CD5E9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F02AE62-C36C-399B-4B51-B8A38B5E046D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3C4A3B-5756-9482-8275-EE6B4DA9E53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9A3047-350F-344B-C3D8-068A6282C67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8DA14D5-0A2B-DE72-56B1-A4AC491D30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96D989-9290-D8BB-FBC4-6071A00943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A7D17B2-F766-E10B-8433-980AD2B0766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79711B-97E4-1914-B4AC-38CDDD6286A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88EB88B-CBD8-A588-9291-172ED4A8ED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CEB594BB-CDC3-0F29-D087-ADAA089FD4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9E06EF19-4217-6BEE-6A28-356CC782927B}"/>
              </a:ext>
            </a:extLst>
          </p:cNvPr>
          <p:cNvSpPr txBox="1">
            <a:spLocks/>
          </p:cNvSpPr>
          <p:nvPr/>
        </p:nvSpPr>
        <p:spPr>
          <a:xfrm>
            <a:off x="1900279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LIB Layer</a:t>
            </a:r>
          </a:p>
        </p:txBody>
      </p:sp>
    </p:spTree>
    <p:extLst>
      <p:ext uri="{BB962C8B-B14F-4D97-AF65-F5344CB8AC3E}">
        <p14:creationId xmlns:p14="http://schemas.microsoft.com/office/powerpoint/2010/main" val="18032073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3700609-73D8-03D0-8F29-9CF4462C7677}"/>
              </a:ext>
            </a:extLst>
          </p:cNvPr>
          <p:cNvSpPr/>
          <p:nvPr/>
        </p:nvSpPr>
        <p:spPr>
          <a:xfrm>
            <a:off x="170877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8FED92-699C-EE81-ADF8-11FB80176D28}"/>
              </a:ext>
            </a:extLst>
          </p:cNvPr>
          <p:cNvSpPr/>
          <p:nvPr/>
        </p:nvSpPr>
        <p:spPr>
          <a:xfrm>
            <a:off x="738444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C31665-CB1D-61EF-2EB6-BB81EAD10570}"/>
              </a:ext>
            </a:extLst>
          </p:cNvPr>
          <p:cNvSpPr txBox="1"/>
          <p:nvPr/>
        </p:nvSpPr>
        <p:spPr>
          <a:xfrm>
            <a:off x="1722525" y="1843073"/>
            <a:ext cx="162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168870-60C4-0F9C-1D25-BF42E5D5E8F5}"/>
              </a:ext>
            </a:extLst>
          </p:cNvPr>
          <p:cNvSpPr txBox="1"/>
          <p:nvPr/>
        </p:nvSpPr>
        <p:spPr>
          <a:xfrm>
            <a:off x="7427394" y="1843073"/>
            <a:ext cx="1624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DDF606-6C11-9BDD-49FD-FBC2F694CF78}"/>
              </a:ext>
            </a:extLst>
          </p:cNvPr>
          <p:cNvSpPr txBox="1"/>
          <p:nvPr/>
        </p:nvSpPr>
        <p:spPr>
          <a:xfrm>
            <a:off x="1788042" y="2766403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2 bytes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815F0-EA7B-C4B9-2AEF-EE813FF374C1}"/>
              </a:ext>
            </a:extLst>
          </p:cNvPr>
          <p:cNvSpPr txBox="1"/>
          <p:nvPr/>
        </p:nvSpPr>
        <p:spPr>
          <a:xfrm>
            <a:off x="7514523" y="2766402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4 bytes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466D652-D9AF-2705-303F-E2B16E31A251}"/>
              </a:ext>
            </a:extLst>
          </p:cNvPr>
          <p:cNvSpPr/>
          <p:nvPr/>
        </p:nvSpPr>
        <p:spPr>
          <a:xfrm>
            <a:off x="5036588" y="2766402"/>
            <a:ext cx="2347856" cy="4547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AFDC0917-7FFB-294E-AD49-8FBA8E346394}"/>
              </a:ext>
            </a:extLst>
          </p:cNvPr>
          <p:cNvSpPr/>
          <p:nvPr/>
        </p:nvSpPr>
        <p:spPr>
          <a:xfrm>
            <a:off x="5036588" y="3807502"/>
            <a:ext cx="2347856" cy="45471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0E262-F0B9-782D-6D4F-312ED529A434}"/>
              </a:ext>
            </a:extLst>
          </p:cNvPr>
          <p:cNvSpPr txBox="1"/>
          <p:nvPr/>
        </p:nvSpPr>
        <p:spPr>
          <a:xfrm>
            <a:off x="5108291" y="2457138"/>
            <a:ext cx="2204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Memory explosion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B9C49-A368-630F-1A05-F6DCF2DFABEF}"/>
              </a:ext>
            </a:extLst>
          </p:cNvPr>
          <p:cNvSpPr txBox="1"/>
          <p:nvPr/>
        </p:nvSpPr>
        <p:spPr>
          <a:xfrm>
            <a:off x="5598169" y="3530376"/>
            <a:ext cx="1224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loss</a:t>
            </a:r>
          </a:p>
        </p:txBody>
      </p:sp>
    </p:spTree>
    <p:extLst>
      <p:ext uri="{BB962C8B-B14F-4D97-AF65-F5344CB8AC3E}">
        <p14:creationId xmlns:p14="http://schemas.microsoft.com/office/powerpoint/2010/main" val="22657514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1" grpId="0"/>
      <p:bldP spid="12" grpId="0"/>
      <p:bldP spid="14" grpId="0"/>
      <p:bldP spid="15" grpId="0"/>
      <p:bldP spid="16" grpId="0" animBg="1"/>
      <p:bldP spid="18" grpId="0" animBg="1"/>
      <p:bldP spid="2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C6D27-B67C-1A9E-20A8-0C47A74DE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DB6719-0CCC-7BA5-70D9-F0CFFED48F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25BD7AE-DE93-7743-5DAD-F893699167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DDDA78-D8B1-1FDD-EC3E-4A38FCA4C5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5C77CA8-8600-C9A0-D346-AC1A48A0AC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40D0F9C-4A28-B1E3-FB0E-65AEB5E6D8B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234259B-A6B5-FA90-6579-77F10CA928E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207CC48-B199-0EE7-1FD1-565988075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DB48B2B-D9F4-02E4-304B-BFDFEE1F6E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5DA8C0-147C-1082-A139-59DF0FF7A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E0D31DF-C2D4-70F8-E357-4889554B26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D45CCF7-3EA8-646B-9450-B62BE3D60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E6C9937-815C-A8B8-3374-827FC3E036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1712024-1B86-B65D-61A5-7C8D235C096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A2D9C5B-6844-1106-CC07-F7C2F1792A4F}"/>
              </a:ext>
            </a:extLst>
          </p:cNvPr>
          <p:cNvSpPr txBox="1"/>
          <p:nvPr/>
        </p:nvSpPr>
        <p:spPr>
          <a:xfrm>
            <a:off x="983075" y="1519270"/>
            <a:ext cx="7812395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solve this problem, use specific data types like: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Signed long 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Unsigned short int</a:t>
            </a:r>
          </a:p>
          <a:p>
            <a:endParaRPr lang="en-GB" sz="2800" dirty="0">
              <a:solidFill>
                <a:schemeClr val="tx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2ED64A-3038-14A5-0302-4CFC91688FE8}"/>
              </a:ext>
            </a:extLst>
          </p:cNvPr>
          <p:cNvSpPr txBox="1"/>
          <p:nvPr/>
        </p:nvSpPr>
        <p:spPr>
          <a:xfrm>
            <a:off x="5912943" y="2134822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73FE76-FD73-051F-4356-C73430FDB723}"/>
              </a:ext>
            </a:extLst>
          </p:cNvPr>
          <p:cNvSpPr txBox="1"/>
          <p:nvPr/>
        </p:nvSpPr>
        <p:spPr>
          <a:xfrm>
            <a:off x="983075" y="3078416"/>
            <a:ext cx="769883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make it more practical and easier to deal with: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Signed char </a:t>
            </a:r>
            <a:r>
              <a:rPr lang="en-GB" sz="2400" dirty="0">
                <a:sym typeface="Wingdings" panose="05000000000000000000" pitchFamily="2" charset="2"/>
              </a:rPr>
              <a:t> s8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short int  u16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long int  u32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C83348-24BD-DDB6-1EC3-D9048DCAB7D7}"/>
              </a:ext>
            </a:extLst>
          </p:cNvPr>
          <p:cNvSpPr txBox="1"/>
          <p:nvPr/>
        </p:nvSpPr>
        <p:spPr>
          <a:xfrm>
            <a:off x="983075" y="4767643"/>
            <a:ext cx="38544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How to achieve so in C?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Using </a:t>
            </a:r>
            <a:r>
              <a:rPr lang="en-GB" sz="2400" b="1" dirty="0">
                <a:solidFill>
                  <a:srgbClr val="0070C0"/>
                </a:solidFill>
              </a:rPr>
              <a:t>typedef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7DEFA945-EB8D-3481-0C38-3E555E8FF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249321" y="2075467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2082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5" grpId="0"/>
      <p:bldP spid="26" grpId="0"/>
      <p:bldP spid="27" grpId="0" uiExpand="1" build="allAtOnce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D6CF6C41-5914-7B02-3F3B-CB714DA9D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CEF299-E197-E3E9-E242-856186A44D31}"/>
              </a:ext>
            </a:extLst>
          </p:cNvPr>
          <p:cNvSpPr txBox="1"/>
          <p:nvPr/>
        </p:nvSpPr>
        <p:spPr>
          <a:xfrm>
            <a:off x="819886" y="1519270"/>
            <a:ext cx="6103509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STD_TYPES.h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a library file that defines fixed-size, compiler-independent data types to ensure consistent memory usage across different compilers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B70CE20B-F163-A90D-C1CC-0795EE888D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D922899-855F-62AA-F920-0B4B4C0AE3F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0A7E6C-5D95-0A71-0A8D-8FFE8829CE9A}"/>
              </a:ext>
            </a:extLst>
          </p:cNvPr>
          <p:cNvSpPr/>
          <p:nvPr/>
        </p:nvSpPr>
        <p:spPr>
          <a:xfrm>
            <a:off x="819886" y="4587498"/>
            <a:ext cx="5439905" cy="5652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typedef</a:t>
            </a:r>
            <a:r>
              <a:rPr lang="en-GB" sz="2400" dirty="0"/>
              <a:t>     </a:t>
            </a:r>
            <a:r>
              <a:rPr lang="en-GB" sz="2400" dirty="0" err="1"/>
              <a:t>data_type</a:t>
            </a:r>
            <a:r>
              <a:rPr lang="en-GB" sz="2400" dirty="0"/>
              <a:t>    </a:t>
            </a:r>
            <a:r>
              <a:rPr lang="en-GB" sz="2400" dirty="0" err="1"/>
              <a:t>new_data_name</a:t>
            </a:r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2D310B-EEA7-897F-A46C-894FF3EB03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34" t="9657" r="10396" b="10582"/>
          <a:stretch>
            <a:fillRect/>
          </a:stretch>
        </p:blipFill>
        <p:spPr>
          <a:xfrm>
            <a:off x="7145881" y="1519270"/>
            <a:ext cx="4058465" cy="44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83123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D9CD-86DA-E6C8-58A3-9EC18D62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059838D-E830-4D20-E9CC-9AE3706556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E503C7-8B4D-B01D-CEEB-8BC92D67E6F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E15CFE-24FB-D4D5-D8A2-7E597454070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78B27B-F4B2-7031-6A41-0203C346B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2D506A-F6E9-D3FD-1530-CBBA5F36FF8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AE4D11-26FC-FB82-A962-61ADC7CCA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897B29-56C1-AFA2-2E2A-4C370620FB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D2B32EF-7D3F-F4D8-C946-741E2BD52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590F868-726C-5B53-B7AF-AE5343AA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DBCA067E-B603-25AB-24AD-FE3622CEF8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41FAFAD-5846-AF89-F873-62893C89FBE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29111EFA-B81F-4B82-B7E2-099472D1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EB3DB-CB77-A3B0-B49F-479ED2ED7C58}"/>
              </a:ext>
            </a:extLst>
          </p:cNvPr>
          <p:cNvSpPr txBox="1"/>
          <p:nvPr/>
        </p:nvSpPr>
        <p:spPr>
          <a:xfrm>
            <a:off x="996579" y="1430931"/>
            <a:ext cx="358604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Bit Manipulation:</a:t>
            </a:r>
            <a:endParaRPr lang="en-GB" sz="2400" dirty="0">
              <a:solidFill>
                <a:schemeClr val="tx2"/>
              </a:solidFill>
            </a:endParaRPr>
          </a:p>
          <a:p>
            <a:endParaRPr lang="en-GB" sz="2800" dirty="0">
              <a:solidFill>
                <a:schemeClr val="tx2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Clear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Toggle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Get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Rotate bit left/right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F7D3AC-898A-8E2B-68DE-E270D4D3B32C}"/>
              </a:ext>
            </a:extLst>
          </p:cNvPr>
          <p:cNvSpPr txBox="1"/>
          <p:nvPr/>
        </p:nvSpPr>
        <p:spPr>
          <a:xfrm>
            <a:off x="996579" y="4482431"/>
            <a:ext cx="748807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Registers are controlled using bits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Bit operations are used in all layers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Rewriting bit logic reduces readability and safety</a:t>
            </a:r>
          </a:p>
        </p:txBody>
      </p:sp>
      <p:pic>
        <p:nvPicPr>
          <p:cNvPr id="13318" name="Picture 6" descr="Bit Field Manipulation | C For Dummies Blog">
            <a:extLst>
              <a:ext uri="{FF2B5EF4-FFF2-40B4-BE49-F238E27FC236}">
                <a16:creationId xmlns:a16="http://schemas.microsoft.com/office/drawing/2014/main" id="{E659C386-1AC5-8A47-DFA8-1B042B8FA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927" b="69187"/>
          <a:stretch>
            <a:fillRect/>
          </a:stretch>
        </p:blipFill>
        <p:spPr bwMode="auto">
          <a:xfrm>
            <a:off x="7073447" y="1430931"/>
            <a:ext cx="4286250" cy="118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Bit Field Manipulation | C For Dummies Blog">
            <a:extLst>
              <a:ext uri="{FF2B5EF4-FFF2-40B4-BE49-F238E27FC236}">
                <a16:creationId xmlns:a16="http://schemas.microsoft.com/office/drawing/2014/main" id="{9DA0C512-BC66-CBB7-C7C8-3399112C17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356"/>
          <a:stretch>
            <a:fillRect/>
          </a:stretch>
        </p:blipFill>
        <p:spPr bwMode="auto">
          <a:xfrm>
            <a:off x="7073447" y="3717207"/>
            <a:ext cx="4286250" cy="828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2F32659-0C65-A613-B20F-EA297432989A}"/>
              </a:ext>
            </a:extLst>
          </p:cNvPr>
          <p:cNvSpPr txBox="1"/>
          <p:nvPr/>
        </p:nvSpPr>
        <p:spPr>
          <a:xfrm>
            <a:off x="7854660" y="2959502"/>
            <a:ext cx="2723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Set bit number 2</a:t>
            </a:r>
          </a:p>
        </p:txBody>
      </p:sp>
    </p:spTree>
    <p:extLst>
      <p:ext uri="{BB962C8B-B14F-4D97-AF65-F5344CB8AC3E}">
        <p14:creationId xmlns:p14="http://schemas.microsoft.com/office/powerpoint/2010/main" val="316624317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 uiExpand="1" build="allAtOnce"/>
      <p:bldP spid="21" grpId="0" uiExpand="1" build="allAtOnce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0AD06-57E9-5C77-A0D2-1168CB63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D667AA6-1C5A-FE0E-2EF9-DEE9929AB1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02470FF-C587-E877-5209-4B7BA29FC1C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7117D-9E84-42AB-4737-B9FE639F94B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DB6C1A-A908-4F11-CF39-8567F638EC0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703BF26-63B0-A727-E380-0CFBD0AD829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16EA225-C101-88E8-794E-96C9027872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38227A2-3577-6E4C-B438-E8A1C18EF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4DC2A2-278F-4F00-3A78-EABC1FF392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2401F56-66FD-9C96-53D2-576B708489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5034C9AE-5401-7067-80C4-336FC623C9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E88F6A4-104B-2BCA-14FA-C267EB77B48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14888D5-F7D1-9E7E-B4EF-C4B2D9BE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A708F-58FB-0057-A3E8-C277BFE59AE4}"/>
              </a:ext>
            </a:extLst>
          </p:cNvPr>
          <p:cNvSpPr txBox="1"/>
          <p:nvPr/>
        </p:nvSpPr>
        <p:spPr>
          <a:xfrm>
            <a:off x="996579" y="1430931"/>
            <a:ext cx="74576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Bit Manipulation using </a:t>
            </a:r>
            <a:r>
              <a:rPr lang="en-GB" sz="3200" b="1" dirty="0">
                <a:solidFill>
                  <a:schemeClr val="tx2"/>
                </a:solidFill>
              </a:rPr>
              <a:t>bitwise</a:t>
            </a:r>
            <a:r>
              <a:rPr lang="en-GB" sz="3200" dirty="0">
                <a:solidFill>
                  <a:schemeClr val="tx2"/>
                </a:solidFill>
              </a:rPr>
              <a:t> operators: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072459-F6B7-801F-DF77-CF89329E8DC0}"/>
              </a:ext>
            </a:extLst>
          </p:cNvPr>
          <p:cNvSpPr txBox="1"/>
          <p:nvPr/>
        </p:nvSpPr>
        <p:spPr>
          <a:xfrm>
            <a:off x="635738" y="2855582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Clear bit:   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9CE70-A5DB-8D78-2738-C23FBF1380E6}"/>
              </a:ext>
            </a:extLst>
          </p:cNvPr>
          <p:cNvSpPr txBox="1"/>
          <p:nvPr/>
        </p:nvSpPr>
        <p:spPr>
          <a:xfrm>
            <a:off x="635738" y="21795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Set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677B28-08D2-C8C7-70B5-AC52353CC8E8}"/>
              </a:ext>
            </a:extLst>
          </p:cNvPr>
          <p:cNvSpPr txBox="1"/>
          <p:nvPr/>
        </p:nvSpPr>
        <p:spPr>
          <a:xfrm>
            <a:off x="635738" y="35316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Toggle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0D4536-DCEE-8C91-5627-7C46EDC5A001}"/>
              </a:ext>
            </a:extLst>
          </p:cNvPr>
          <p:cNvSpPr txBox="1"/>
          <p:nvPr/>
        </p:nvSpPr>
        <p:spPr>
          <a:xfrm>
            <a:off x="635738" y="4902440"/>
            <a:ext cx="3288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Rotate left bit: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C144B-9EB0-37D2-0A84-05077DBEE0FF}"/>
              </a:ext>
            </a:extLst>
          </p:cNvPr>
          <p:cNvSpPr txBox="1"/>
          <p:nvPr/>
        </p:nvSpPr>
        <p:spPr>
          <a:xfrm>
            <a:off x="635738" y="4207682"/>
            <a:ext cx="3877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Get bit:	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8BBE12-0499-548A-DC8F-FA7DE6A8CA69}"/>
              </a:ext>
            </a:extLst>
          </p:cNvPr>
          <p:cNvSpPr txBox="1"/>
          <p:nvPr/>
        </p:nvSpPr>
        <p:spPr>
          <a:xfrm>
            <a:off x="4303417" y="2175814"/>
            <a:ext cx="3030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|=   (1&lt;&lt;BIT)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D3B5F7-1604-155F-B3E0-F73B2B474D61}"/>
              </a:ext>
            </a:extLst>
          </p:cNvPr>
          <p:cNvSpPr txBox="1"/>
          <p:nvPr/>
        </p:nvSpPr>
        <p:spPr>
          <a:xfrm>
            <a:off x="4305917" y="286785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&amp;= (~(1&lt;&lt;BIT))</a:t>
            </a:r>
            <a:endParaRPr lang="en-GB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211FF-BED4-7A7F-48D3-00DA90F940D3}"/>
              </a:ext>
            </a:extLst>
          </p:cNvPr>
          <p:cNvSpPr txBox="1"/>
          <p:nvPr/>
        </p:nvSpPr>
        <p:spPr>
          <a:xfrm>
            <a:off x="4293427" y="352991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^=   (1&lt;&lt;BIT)</a:t>
            </a:r>
            <a:endParaRPr lang="en-GB" sz="2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1A23FC-5D56-2830-FCDF-551FD7BEEAF9}"/>
              </a:ext>
            </a:extLst>
          </p:cNvPr>
          <p:cNvSpPr txBox="1"/>
          <p:nvPr/>
        </p:nvSpPr>
        <p:spPr>
          <a:xfrm>
            <a:off x="4232341" y="4217403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(REG &amp; (1&lt;&lt;BIT)) &gt;&gt; BIT</a:t>
            </a:r>
            <a:endParaRPr lang="en-GB" sz="2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DA2C1-E9C2-B115-475C-F3E9D8C3350B}"/>
              </a:ext>
            </a:extLst>
          </p:cNvPr>
          <p:cNvSpPr txBox="1"/>
          <p:nvPr/>
        </p:nvSpPr>
        <p:spPr>
          <a:xfrm>
            <a:off x="3370219" y="4896525"/>
            <a:ext cx="69142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	</a:t>
            </a:r>
            <a:r>
              <a:rPr lang="en-GB" sz="2800" dirty="0">
                <a:solidFill>
                  <a:srgbClr val="0070C0"/>
                </a:solidFill>
              </a:rPr>
              <a:t>REG = (REG&lt;&lt;</a:t>
            </a:r>
            <a:r>
              <a:rPr lang="en-GB" sz="2800" dirty="0" err="1">
                <a:solidFill>
                  <a:srgbClr val="0070C0"/>
                </a:solidFill>
              </a:rPr>
              <a:t>num</a:t>
            </a:r>
            <a:r>
              <a:rPr lang="en-GB" sz="2800" dirty="0">
                <a:solidFill>
                  <a:srgbClr val="0070C0"/>
                </a:solidFill>
              </a:rPr>
              <a:t>) | (REG&gt;&gt;(8-num))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45890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9" grpId="0"/>
      <p:bldP spid="15" grpId="0"/>
      <p:bldP spid="16" grpId="0"/>
      <p:bldP spid="18" grpId="0"/>
      <p:bldP spid="20" grpId="0"/>
      <p:bldP spid="23" grpId="0"/>
      <p:bldP spid="24" grpId="0" build="allAtOnce"/>
      <p:bldP spid="26" grpId="0"/>
      <p:bldP spid="2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5E390-48C3-A2B1-FEE0-44F3BACC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4992C0B-3295-5A73-A8DC-7339EBA8C4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6526DC6-E954-FCF3-A46B-D8252EC82EB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30827-0A61-7D05-88FF-E2325DA17B5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4BBF07-6E2B-DAFC-00A4-4DEBD567BD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79CE3F7-A407-8A39-757D-653AFF43F6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1483131-9A3B-0DFD-2A5E-99B788C16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101C38-713D-8E00-8E12-E1FA0A3440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97BAC5-5C36-F98D-2CF9-D02DD59A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05F60B8-5067-80AB-81A8-B41164209B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BC4559B-655F-7801-83C5-86A2EB8DB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D704EB-5FCA-4AB7-A1C7-65B99213BAE7}"/>
              </a:ext>
            </a:extLst>
          </p:cNvPr>
          <p:cNvSpPr txBox="1"/>
          <p:nvPr/>
        </p:nvSpPr>
        <p:spPr>
          <a:xfrm>
            <a:off x="819886" y="1519270"/>
            <a:ext cx="332666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BIT_MATH.h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a library file that provides reusable macro functions for performing bit-level operations on registers in embedded systems.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6EB588C7-D6B6-B1C6-99DC-1ACC492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1EF9A58-9D5B-D56C-70EF-8F54171B868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5FE8A7-29D6-051D-BA75-31B6A24C10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5" t="9879" r="7343" b="9608"/>
          <a:stretch>
            <a:fillRect/>
          </a:stretch>
        </p:blipFill>
        <p:spPr>
          <a:xfrm>
            <a:off x="4945800" y="1519270"/>
            <a:ext cx="6307220" cy="429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78106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DE75F-E862-3BA9-4138-9F9AE9F27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FF2F94D-3154-9182-9627-205A6294AABA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F40CE-6F27-D9C8-4371-16B4492E740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3472D83-7ECE-F41C-B116-0973EF195F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A584147-8A23-179E-C294-9EC68E03AD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550E32-549D-ADDE-9762-7234439682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468E1BD-C8A0-2477-8F7F-1E576D3558C6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1A96C1-B53D-FA15-3A61-7B2027D08DE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EF171FD-8F99-3FEC-9189-CE2B4C647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3C8847-F562-631F-8666-CB8CBF672D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1897489-4F9A-1C61-7DD2-FE5A898B11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A2363625-72CB-32F5-1B9B-3A1D051410B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5D35AF-454E-DAFA-A80D-5381C7A89725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B496264-0A66-551C-82C0-89CF889512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223CAD12-4E5C-1389-007E-AB6E5B5634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A150EE5E-71BA-2461-01E5-C3BA6E317C05}"/>
              </a:ext>
            </a:extLst>
          </p:cNvPr>
          <p:cNvSpPr txBox="1">
            <a:spLocks/>
          </p:cNvSpPr>
          <p:nvPr/>
        </p:nvSpPr>
        <p:spPr>
          <a:xfrm>
            <a:off x="1900279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MCAL Layer</a:t>
            </a:r>
          </a:p>
        </p:txBody>
      </p:sp>
    </p:spTree>
    <p:extLst>
      <p:ext uri="{BB962C8B-B14F-4D97-AF65-F5344CB8AC3E}">
        <p14:creationId xmlns:p14="http://schemas.microsoft.com/office/powerpoint/2010/main" val="1461700202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7F6FC-91DD-CE2B-0648-0E29206BF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D3A132-E1FD-3BE0-ED3A-5C3B5ACD8F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E393F3F-0C0C-EA25-35A4-22690BAACFF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A6EDA9-864B-AD9D-D4E9-F905E49D77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ADAA34F-0870-DF68-6364-BE9B77E0E6E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12E97-77F6-3389-024F-D577FEB9009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1B473C1-FA28-5D71-6AD7-11BEF552261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A56D6A2-0F9D-02D4-F1BA-7D836921A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28534C-74A6-4E52-B7BB-7F093894E0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B963D47-0384-F762-FA19-1F50B017E0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4AF2E2E-BE01-1782-7945-F5326914745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E41F54-7A99-5D9F-7BBB-C14761AA77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5BD6E11-0A19-ABD5-9892-B5E9550AD30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C0E31CE1-716B-8F96-5EBC-A49AC28A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A9459-B2FC-5EA0-8427-7508DE634A88}"/>
              </a:ext>
            </a:extLst>
          </p:cNvPr>
          <p:cNvSpPr txBox="1"/>
          <p:nvPr/>
        </p:nvSpPr>
        <p:spPr>
          <a:xfrm>
            <a:off x="1103086" y="1674195"/>
            <a:ext cx="88651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any peripheral, we deal with its registers.</a:t>
            </a:r>
          </a:p>
          <a:p>
            <a:r>
              <a:rPr lang="en-GB" sz="2400" dirty="0"/>
              <a:t>So, to access the GPIO we deal with the registers: DDR, PORT, PIN.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ABA30C-4446-F0AE-2E22-F04929F7CD10}"/>
              </a:ext>
            </a:extLst>
          </p:cNvPr>
          <p:cNvSpPr txBox="1"/>
          <p:nvPr/>
        </p:nvSpPr>
        <p:spPr>
          <a:xfrm>
            <a:off x="1103086" y="2905780"/>
            <a:ext cx="576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Register accessing using pointers: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228326-21FD-B77D-EAE6-EC2D5D6A21B8}"/>
              </a:ext>
            </a:extLst>
          </p:cNvPr>
          <p:cNvSpPr txBox="1"/>
          <p:nvPr/>
        </p:nvSpPr>
        <p:spPr>
          <a:xfrm>
            <a:off x="1103086" y="3523263"/>
            <a:ext cx="873066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registers, we access their addresses by using pointers:</a:t>
            </a:r>
            <a:br>
              <a:rPr lang="en-GB" sz="2400" dirty="0"/>
            </a:br>
            <a:endParaRPr lang="en-GB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*DDRA = (u8*) 0x3A;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*PORTA = (u8*) 0x3B;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E37BBD-4404-50EE-9BB7-D6BB54DAD0C6}"/>
              </a:ext>
            </a:extLst>
          </p:cNvPr>
          <p:cNvSpPr txBox="1"/>
          <p:nvPr/>
        </p:nvSpPr>
        <p:spPr>
          <a:xfrm>
            <a:off x="6319343" y="4447071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97F36D80-90D9-9BF6-21FD-A0D130905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55721" y="4387716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78532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8" grpId="0"/>
      <p:bldP spid="29" grpId="0"/>
      <p:bldP spid="3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01BB7-DFD3-4852-41CD-32781A5D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4829D5A-4D91-D6B2-D6F8-C1CB1FD90B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AF35259-7E35-D310-C13A-5D868D69084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B22C25-F535-E7C3-5661-83585FDF40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A889CC-D8D6-D8B2-85FC-4FB379226B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602BBDD-1E21-4BEB-DCD4-13175264422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DABB423-BC13-CE32-A18E-B30E3A904F5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DFA84B-BF36-F546-BC42-35B481381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86EA121-F2C1-37A5-2371-33870B142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DBD7CCE-4A90-B122-AEB4-56D5E7FF27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CBA549C-4595-C70E-E63D-B26C8838AB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7F16252-412F-3F98-752A-D299EA7D5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F58FF2B-2E6D-88AC-23E2-5DDFA75F666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44A601A7-352C-4F49-DF36-B18564ED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D0DB4-EB54-2960-8FC2-57C3FCF2E377}"/>
              </a:ext>
            </a:extLst>
          </p:cNvPr>
          <p:cNvSpPr txBox="1"/>
          <p:nvPr/>
        </p:nvSpPr>
        <p:spPr>
          <a:xfrm>
            <a:off x="1278554" y="1502985"/>
            <a:ext cx="32359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not practical?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1F9ED-BEA9-4C78-2B57-B72BE3F78876}"/>
              </a:ext>
            </a:extLst>
          </p:cNvPr>
          <p:cNvSpPr txBox="1"/>
          <p:nvPr/>
        </p:nvSpPr>
        <p:spPr>
          <a:xfrm>
            <a:off x="1639291" y="2156897"/>
            <a:ext cx="89988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Memory consumable.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* DDRA is used to access the register instead of DDRA directly.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08F64-7B93-A00B-2105-670351EF2D5F}"/>
              </a:ext>
            </a:extLst>
          </p:cNvPr>
          <p:cNvSpPr txBox="1"/>
          <p:nvPr/>
        </p:nvSpPr>
        <p:spPr>
          <a:xfrm>
            <a:off x="1278554" y="3153087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To solve this, use </a:t>
            </a:r>
            <a:r>
              <a:rPr lang="en-GB" sz="2800" b="1" dirty="0">
                <a:solidFill>
                  <a:srgbClr val="0070C0"/>
                </a:solidFill>
              </a:rPr>
              <a:t>#define</a:t>
            </a:r>
            <a:r>
              <a:rPr lang="en-GB" sz="2800" b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6199B8-0FF2-5B4B-2562-43447B5D2EEB}"/>
              </a:ext>
            </a:extLst>
          </p:cNvPr>
          <p:cNvSpPr txBox="1"/>
          <p:nvPr/>
        </p:nvSpPr>
        <p:spPr>
          <a:xfrm>
            <a:off x="1798948" y="3812457"/>
            <a:ext cx="5040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#define </a:t>
            </a:r>
            <a:r>
              <a:rPr lang="en-GB" sz="2400" dirty="0">
                <a:solidFill>
                  <a:srgbClr val="0070C0"/>
                </a:solidFill>
              </a:rPr>
              <a:t>DDRA (*(</a:t>
            </a: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>
                <a:solidFill>
                  <a:srgbClr val="0070C0"/>
                </a:solidFill>
              </a:rPr>
              <a:t> u8*)(0x39))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2C0D89-711A-4329-8BFF-DA8705E658BB}"/>
              </a:ext>
            </a:extLst>
          </p:cNvPr>
          <p:cNvSpPr txBox="1"/>
          <p:nvPr/>
        </p:nvSpPr>
        <p:spPr>
          <a:xfrm>
            <a:off x="1347901" y="4402783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</a:t>
            </a:r>
            <a:r>
              <a:rPr lang="en-GB" sz="2800" b="1" dirty="0">
                <a:solidFill>
                  <a:srgbClr val="0070C0"/>
                </a:solidFill>
              </a:rPr>
              <a:t>volatile</a:t>
            </a:r>
            <a:r>
              <a:rPr lang="en-GB" sz="2800" b="1" dirty="0">
                <a:solidFill>
                  <a:schemeClr val="tx2"/>
                </a:solidFill>
              </a:rPr>
              <a:t>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FFF67-CCDD-749D-C266-BEF9C34A0282}"/>
              </a:ext>
            </a:extLst>
          </p:cNvPr>
          <p:cNvSpPr txBox="1"/>
          <p:nvPr/>
        </p:nvSpPr>
        <p:spPr>
          <a:xfrm>
            <a:off x="1624520" y="4933585"/>
            <a:ext cx="89988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/>
              <a:t> prevents the compiler from caching a variable, ensuring each access reads the current value from the hardware.</a:t>
            </a:r>
          </a:p>
        </p:txBody>
      </p:sp>
    </p:spTree>
    <p:extLst>
      <p:ext uri="{BB962C8B-B14F-4D97-AF65-F5344CB8AC3E}">
        <p14:creationId xmlns:p14="http://schemas.microsoft.com/office/powerpoint/2010/main" val="4191049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  <p:bldP spid="11" grpId="0"/>
      <p:bldP spid="12" grpId="0"/>
      <p:bldP spid="14" grpId="0"/>
      <p:bldP spid="18" grpId="0"/>
      <p:bldP spid="2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3AAE9-1359-513B-4D9A-67B125751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0A21176-952A-2759-979B-2CF363E6C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1F9917A-5E9B-3F3F-DD85-B58288A1C5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097DED-F0FA-643D-6510-D1D557630A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32FA29-9D8A-E1A4-F097-96855B44566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6ADB286-5C51-EF3B-3B6D-02AD80D2E5E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1335B9-4A46-83AF-A4CC-B7464431BE6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C3E653-38CB-8C8F-0CE9-3F9B6BFF54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F6C39B-8ACD-EF6B-F00D-B471BFFE4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49D975E-ECA7-E82F-C4F0-399FB2CF49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6F27A50-9019-77F1-1E87-91BD579A4B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4678EA87-D0F1-56B9-009D-7C69CE188D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F9F038A-A16A-26B5-64D0-FFA9404C318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5D22EEBD-BD24-8400-4247-F9FD8E20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A8E-41BE-18AA-26E9-0DD06800F791}"/>
              </a:ext>
            </a:extLst>
          </p:cNvPr>
          <p:cNvSpPr txBox="1"/>
          <p:nvPr/>
        </p:nvSpPr>
        <p:spPr>
          <a:xfrm>
            <a:off x="1278554" y="1502985"/>
            <a:ext cx="5524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GPIO Driver consists of two files: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9CBE33-F065-F96D-7A08-61008E4BD1F9}"/>
              </a:ext>
            </a:extLst>
          </p:cNvPr>
          <p:cNvSpPr txBox="1"/>
          <p:nvPr/>
        </p:nvSpPr>
        <p:spPr>
          <a:xfrm>
            <a:off x="1348724" y="2156897"/>
            <a:ext cx="57302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GPIO.h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header file that contains function prototypes, macros, and configuration options for the GPIO driver. 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GPIO.c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source file that contains the implementation of the functions declared in </a:t>
            </a:r>
            <a:r>
              <a:rPr lang="en-GB" sz="2400" dirty="0" err="1"/>
              <a:t>GPIO.h</a:t>
            </a:r>
            <a:r>
              <a:rPr lang="en-GB" sz="2400" dirty="0"/>
              <a:t> file.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CDF92-30DF-22A4-8BB8-DCF04CE6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4935" y="1927321"/>
            <a:ext cx="3201381" cy="30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134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8A96-10C3-7FA0-7209-54F9B789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085C1C-3209-EE09-C066-9289C0DA72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4632126-6C8B-22BF-3CB2-F9925FFB689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5C3275-A3C9-FA87-F8B1-D71C8CB6316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A56AEB6-4FB0-BFDF-F742-B9D50894882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DCB2F1C-6A59-0685-8851-AE92997EB97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CDDA75E-D3FE-1DC3-F3FE-9FAC7EF788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4070EBB-1CAE-1B7E-5CCB-4442AAB13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460591-6D3F-30E6-80F7-3CA15DD439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AF548C1-DD59-87F2-F889-9DFD4A783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55466FC-D858-8235-97EF-9C235E69E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4731E5-C2CA-4BC5-ECAE-BD1B85C2F2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7" t="8333" r="8815" b="8889"/>
          <a:stretch>
            <a:fillRect/>
          </a:stretch>
        </p:blipFill>
        <p:spPr>
          <a:xfrm>
            <a:off x="662423" y="1635382"/>
            <a:ext cx="4212006" cy="44827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BB6C6A-15C4-666B-F36C-C5AFF4500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3" t="8273" r="7140" b="9871"/>
          <a:stretch>
            <a:fillRect/>
          </a:stretch>
        </p:blipFill>
        <p:spPr>
          <a:xfrm>
            <a:off x="5162349" y="1665770"/>
            <a:ext cx="6466498" cy="4445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6869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99F7-285F-8BD9-6F27-0F4E8D16E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AB9FDFB-C077-B508-F8D4-137F4C68936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BB4DACA-0FB4-C41C-DC53-2A99784B9567}"/>
              </a:ext>
            </a:extLst>
          </p:cNvPr>
          <p:cNvSpPr/>
          <p:nvPr/>
        </p:nvSpPr>
        <p:spPr>
          <a:xfrm rot="5400000">
            <a:off x="-1003331" y="1459220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7479ED-AF84-E7F7-75C2-BF980CBD48D3}"/>
              </a:ext>
            </a:extLst>
          </p:cNvPr>
          <p:cNvSpPr/>
          <p:nvPr/>
        </p:nvSpPr>
        <p:spPr>
          <a:xfrm rot="5400000">
            <a:off x="-1003331" y="1459220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40EC9ED-C785-765B-5DA4-64D7D7D06244}"/>
              </a:ext>
            </a:extLst>
          </p:cNvPr>
          <p:cNvGrpSpPr/>
          <p:nvPr/>
        </p:nvGrpSpPr>
        <p:grpSpPr>
          <a:xfrm rot="10800000" flipH="1">
            <a:off x="9994435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6553550-B52D-930E-0497-FB4C94D1DC3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FA4D551-BCE8-2278-FF16-0EAD986EF3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6EDBE24-2376-CD9F-7FDD-19257AA40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ECA2DD-4F75-A77D-325E-27F4C685D9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87A8CF-9DBD-196A-BEFD-E80478146F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C92EE4D2-85E2-C878-D3F6-BDB724408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20" y="327333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0BD959-C8B5-4A8D-4B10-D8687184DB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69" y="1887471"/>
            <a:ext cx="3275017" cy="37346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6AC03F7-8070-5130-F65D-FB5B15D09211}"/>
              </a:ext>
            </a:extLst>
          </p:cNvPr>
          <p:cNvSpPr txBox="1"/>
          <p:nvPr/>
        </p:nvSpPr>
        <p:spPr>
          <a:xfrm>
            <a:off x="1279377" y="2736503"/>
            <a:ext cx="45997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For register addresses refer to </a:t>
            </a:r>
            <a:r>
              <a:rPr lang="en-GB" sz="2800" b="1" dirty="0" err="1"/>
              <a:t>Atmega</a:t>
            </a:r>
            <a:r>
              <a:rPr lang="en-GB" sz="2800" b="1" dirty="0"/>
              <a:t> 32 Datasheet</a:t>
            </a:r>
            <a:r>
              <a:rPr lang="en-GB" sz="2800" dirty="0"/>
              <a:t>, inserted table in </a:t>
            </a:r>
            <a:r>
              <a:rPr lang="en-GB" sz="2800" b="1" dirty="0"/>
              <a:t>page </a:t>
            </a:r>
            <a:r>
              <a:rPr lang="en-GB" sz="2800" b="1" dirty="0">
                <a:solidFill>
                  <a:srgbClr val="FF0000"/>
                </a:solidFill>
              </a:rPr>
              <a:t>327</a:t>
            </a:r>
          </a:p>
        </p:txBody>
      </p:sp>
      <p:grpSp>
        <p:nvGrpSpPr>
          <p:cNvPr id="15" name="Group 4">
            <a:extLst>
              <a:ext uri="{FF2B5EF4-FFF2-40B4-BE49-F238E27FC236}">
                <a16:creationId xmlns:a16="http://schemas.microsoft.com/office/drawing/2014/main" id="{0B8B4248-FC03-59F6-DA22-97E509CBEEC1}"/>
              </a:ext>
            </a:extLst>
          </p:cNvPr>
          <p:cNvGrpSpPr/>
          <p:nvPr/>
        </p:nvGrpSpPr>
        <p:grpSpPr>
          <a:xfrm>
            <a:off x="-13855" y="5927906"/>
            <a:ext cx="12279790" cy="1351076"/>
            <a:chOff x="0" y="0"/>
            <a:chExt cx="3234183" cy="355839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AD89D89A-1A1B-C1E4-7B2F-279D7DE37931}"/>
                </a:ext>
              </a:extLst>
            </p:cNvPr>
            <p:cNvSpPr/>
            <p:nvPr/>
          </p:nvSpPr>
          <p:spPr>
            <a:xfrm>
              <a:off x="0" y="0"/>
              <a:ext cx="3234184" cy="355839"/>
            </a:xfrm>
            <a:custGeom>
              <a:avLst/>
              <a:gdLst/>
              <a:ahLst/>
              <a:cxnLst/>
              <a:rect l="l" t="t" r="r" b="b"/>
              <a:pathLst>
                <a:path w="4851276" h="533759">
                  <a:moveTo>
                    <a:pt x="0" y="0"/>
                  </a:moveTo>
                  <a:lnTo>
                    <a:pt x="4851276" y="0"/>
                  </a:lnTo>
                  <a:lnTo>
                    <a:pt x="4851276" y="533759"/>
                  </a:lnTo>
                  <a:lnTo>
                    <a:pt x="0" y="533759"/>
                  </a:lnTo>
                  <a:close/>
                </a:path>
              </a:pathLst>
            </a:custGeom>
            <a:solidFill>
              <a:srgbClr val="004068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Box 6">
              <a:extLst>
                <a:ext uri="{FF2B5EF4-FFF2-40B4-BE49-F238E27FC236}">
                  <a16:creationId xmlns:a16="http://schemas.microsoft.com/office/drawing/2014/main" id="{15700A4F-8F1C-0FC3-B776-8FFEB5591A43}"/>
                </a:ext>
              </a:extLst>
            </p:cNvPr>
            <p:cNvSpPr txBox="1"/>
            <p:nvPr/>
          </p:nvSpPr>
          <p:spPr>
            <a:xfrm>
              <a:off x="0" y="-25400"/>
              <a:ext cx="3234183" cy="381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1E6E4E12-291A-009E-C48A-1789CB878FFD}"/>
              </a:ext>
            </a:extLst>
          </p:cNvPr>
          <p:cNvSpPr/>
          <p:nvPr/>
        </p:nvSpPr>
        <p:spPr>
          <a:xfrm>
            <a:off x="-13854" y="5927907"/>
            <a:ext cx="1457343" cy="930093"/>
          </a:xfrm>
          <a:custGeom>
            <a:avLst/>
            <a:gdLst/>
            <a:ahLst/>
            <a:cxnLst/>
            <a:rect l="l" t="t" r="r" b="b"/>
            <a:pathLst>
              <a:path w="2186015" h="1395140">
                <a:moveTo>
                  <a:pt x="0" y="0"/>
                </a:moveTo>
                <a:lnTo>
                  <a:pt x="2186015" y="0"/>
                </a:lnTo>
                <a:lnTo>
                  <a:pt x="2186015" y="1395140"/>
                </a:lnTo>
                <a:lnTo>
                  <a:pt x="0" y="13951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Freeform 8">
            <a:extLst>
              <a:ext uri="{FF2B5EF4-FFF2-40B4-BE49-F238E27FC236}">
                <a16:creationId xmlns:a16="http://schemas.microsoft.com/office/drawing/2014/main" id="{F65063AB-7394-E000-E7A3-371CE1DA4E05}"/>
              </a:ext>
            </a:extLst>
          </p:cNvPr>
          <p:cNvSpPr/>
          <p:nvPr/>
        </p:nvSpPr>
        <p:spPr>
          <a:xfrm>
            <a:off x="10047310" y="5956059"/>
            <a:ext cx="2130835" cy="901940"/>
          </a:xfrm>
          <a:custGeom>
            <a:avLst/>
            <a:gdLst/>
            <a:ahLst/>
            <a:cxnLst/>
            <a:rect l="l" t="t" r="r" b="b"/>
            <a:pathLst>
              <a:path w="3196253" h="1352911">
                <a:moveTo>
                  <a:pt x="0" y="0"/>
                </a:moveTo>
                <a:lnTo>
                  <a:pt x="3196253" y="0"/>
                </a:lnTo>
                <a:lnTo>
                  <a:pt x="3196253" y="1352911"/>
                </a:lnTo>
                <a:lnTo>
                  <a:pt x="0" y="13529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52925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918D8-4514-A281-65AF-8EF142B9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55208B6-4F1E-1AE0-C4B0-F10065E4100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53952F-9E37-E3DA-2AF4-9DAB9542E9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052264-EC9A-2AD1-D908-83D990A24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3AD90C2-F00B-4F28-FFDB-057C31A36B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5BADB08-9E68-76BC-8417-21CA2D7462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526E61D-4E15-AD37-79E6-DA3C50400E4C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A7F8F75-B8D2-C6A4-63D2-6EBBA90D497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A97E575-DC98-E53C-7C64-FAB95589F501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1E4ABB5-54E1-FECB-9855-CCDC7177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FFFB1DF-4362-DA65-E14C-1299C6DE85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5DD2CAF-16AD-0267-0C84-0DD6C7C6F9A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F18B51-9656-5532-3191-5D42BEB54159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3E717C5-808D-7C8E-77B9-8F587FE1680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2070440-2897-CB81-758A-E3701DBDE8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7D605682-D2D2-F518-2A27-66DEFE9F3B21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Driver</a:t>
            </a:r>
          </a:p>
        </p:txBody>
      </p:sp>
    </p:spTree>
    <p:extLst>
      <p:ext uri="{BB962C8B-B14F-4D97-AF65-F5344CB8AC3E}">
        <p14:creationId xmlns:p14="http://schemas.microsoft.com/office/powerpoint/2010/main" val="737613357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BDE16-1920-4698-8C0C-107C3951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73610D8-83A8-B942-CF52-B7E1D72ABF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619B8D3-BED0-B45B-48C6-4F535E82C63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FBCD80-727D-0A8E-CAE8-2B99CA33B79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8DA9F18-5F94-0A16-F43F-EEB6127FE52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07CC391-4C7C-2B53-FEA4-A3D95F19CE6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64AF2B2-7C10-589E-31FF-1A266FEAA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410859-B717-D45B-48B4-89CB7D6327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60BC21-9505-FF9E-0E6A-0F10A3FAD1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23D51F-4BF2-FC07-E953-DECB8B7A65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72555463-84BF-A6CB-0D7F-7ACFC38E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STD_TYPES.h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33A93DE-21C6-D9A4-8B31-8D2F412EB4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1" t="8284" r="11293" b="8484"/>
          <a:stretch>
            <a:fillRect/>
          </a:stretch>
        </p:blipFill>
        <p:spPr>
          <a:xfrm>
            <a:off x="937268" y="1487624"/>
            <a:ext cx="3743755" cy="50430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6A66133-D639-1DBC-3900-E1D2D6C43A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5" t="9697" r="8465" b="10303"/>
          <a:stretch>
            <a:fillRect/>
          </a:stretch>
        </p:blipFill>
        <p:spPr>
          <a:xfrm>
            <a:off x="5204534" y="1487624"/>
            <a:ext cx="6369171" cy="509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86369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452E3-0BF7-DAAB-2C75-49B545F8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64E08F7-41BA-5D45-9FA9-21E5C3376F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C0FF3A-6CE5-929C-25C1-78733CC471A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10075D-5BAC-9F50-CF92-1BD1579B884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ADD305D-E445-008F-4E53-75C5EDBB66B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13C8FDF-D883-1EB4-8D5C-818D59044F2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43A6752-97CA-C356-2658-7CA3062CD0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689919B-C044-08D3-F5E6-2EB6321619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8729834-1A16-C84E-22EA-36D3CDA1EC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BEA1D67-F2FA-3839-D493-7D793E9071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F6DF7A28-B210-F27E-C416-07E1C7055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BIT_MATH.h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047DBA-4B6C-70D3-FE34-C64AD30F29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8" t="9879" r="6617" b="8687"/>
          <a:stretch>
            <a:fillRect/>
          </a:stretch>
        </p:blipFill>
        <p:spPr>
          <a:xfrm>
            <a:off x="2227115" y="1399943"/>
            <a:ext cx="7737769" cy="5277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114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6FF43-BF89-3553-68F6-A414E752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5F07503-EB21-1E3C-990B-8146D55017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3F9F321-4C38-3DB6-2E57-262937B378B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D21F-BC95-A3CA-DD05-4695539A09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1B61ED-C482-6FF1-6DBB-4E6C134F20C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4DFEDF-A124-1E66-66C7-0D94D283BA5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C8024FA-D86B-2211-599B-657C0D9F55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BAA7692-7BCF-DD81-D290-334256A0E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9415A17-C336-7E4D-9766-592A47F271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496B696-2E3A-869D-A976-1DDCC69277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590099D4-F698-B44C-664E-104302FD0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4125FD-7A31-C27C-0F9F-394B4CC7F3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1" t="8081" r="10205" b="8081"/>
          <a:stretch>
            <a:fillRect/>
          </a:stretch>
        </p:blipFill>
        <p:spPr>
          <a:xfrm>
            <a:off x="752894" y="1383785"/>
            <a:ext cx="3507910" cy="50433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702EB5C-724A-7BF2-7231-C6E18BFE56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6" t="7641" r="4676" b="7525"/>
          <a:stretch>
            <a:fillRect/>
          </a:stretch>
        </p:blipFill>
        <p:spPr>
          <a:xfrm>
            <a:off x="4479424" y="1598808"/>
            <a:ext cx="7235169" cy="4689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299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A6D4-D64E-6684-FE81-93A5A6CEB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F914AAC-C9CB-9ACA-2DDD-3C84C9B28F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788D049-C47C-3A8D-891E-BFFCF2F67CB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7F8B-389A-F2BE-DCC9-5B81B4ACD1D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069609D-5454-DF61-24DF-A6CCE4425A1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2B68B8D-1B0E-1FC2-6E40-B38A836DE43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F4C7A0-21AA-F209-C8FF-C0CDEF656E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6978CF7-4B5B-D64C-A55A-D12AD8CEC9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18675A-90F0-F929-2062-7038D4704F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3A1751F-BACF-8648-EAE0-70F935B204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6982C76-0E0F-E311-67D8-8956BFCE6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GPIO.c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Picture 1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C6B6D62-1759-3648-210E-D755C8A668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5431" y="1904174"/>
            <a:ext cx="7961137" cy="373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55720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91E9-BE8B-FEF7-8A7B-72A07B2F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87981AC-C639-AA9E-5879-CEF5C90596A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71B59A-DFE2-B10D-FED7-5340B1E351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99DF45-A80C-6E8E-BB51-CCDE0B2F9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E016434-76AF-F713-DE6A-961FF52C35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CD7CDA-A60B-BC08-2EA0-ADFE5CD049D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D484DD8-8952-5EBB-BBB7-1D406B2C2A8D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150A24F-9982-235A-6A0D-1D47A3D1BB1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B11A612-9639-AA07-ADE0-2BD73BF03004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D5AEF46-15A5-4B2B-A6AA-FF5EC7E5DD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761A6C1-10AD-8AE6-7C3C-061D1D02C6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59B081DA-57BE-1827-E4C9-78F6FB51496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00BF6D-A76C-0463-66B8-7BA0D2597975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02DCA17-87E4-0D04-8935-0F2E9E265E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ED6315B9-6385-6C92-25EF-C93097757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4122" y="2215042"/>
            <a:ext cx="5376273" cy="1325563"/>
          </a:xfrm>
        </p:spPr>
        <p:txBody>
          <a:bodyPr>
            <a:noAutofit/>
          </a:bodyPr>
          <a:lstStyle/>
          <a:p>
            <a:pPr algn="ctr"/>
            <a:r>
              <a:rPr lang="en-US" sz="9600" b="1" dirty="0">
                <a:solidFill>
                  <a:schemeClr val="bg2"/>
                </a:solidFill>
                <a:latin typeface="Britannic Bold" panose="020B0903060703020204" pitchFamily="34" charset="0"/>
              </a:rPr>
              <a:t>Break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6E2094E8-223D-3563-9590-79B6AE60DB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7" name="Graphic 6" descr="Stopwatch 25% with solid fill">
            <a:extLst>
              <a:ext uri="{FF2B5EF4-FFF2-40B4-BE49-F238E27FC236}">
                <a16:creationId xmlns:a16="http://schemas.microsoft.com/office/drawing/2014/main" id="{5AB9B12E-EBD7-60E4-0B30-38D30ACD4B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54865" y="1858361"/>
            <a:ext cx="1682244" cy="1682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472084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4128</TotalTime>
  <Words>1141</Words>
  <Application>Microsoft Office PowerPoint</Application>
  <PresentationFormat>Widescreen</PresentationFormat>
  <Paragraphs>278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Aptos</vt:lpstr>
      <vt:lpstr>Aptos Display</vt:lpstr>
      <vt:lpstr>Arial</vt:lpstr>
      <vt:lpstr>Britannic Bold</vt:lpstr>
      <vt:lpstr>Wingdings</vt:lpstr>
      <vt:lpstr>Office Theme</vt:lpstr>
      <vt:lpstr>PowerPoint Presentation</vt:lpstr>
      <vt:lpstr>PowerPoint Presentation</vt:lpstr>
      <vt:lpstr>PowerPoint Presentation</vt:lpstr>
      <vt:lpstr>Content</vt:lpstr>
      <vt:lpstr>REMEMBER</vt:lpstr>
      <vt:lpstr>REMEMBER</vt:lpstr>
      <vt:lpstr>Peripherals</vt:lpstr>
      <vt:lpstr>Peripherals</vt:lpstr>
      <vt:lpstr>PowerPoint Presentation</vt:lpstr>
      <vt:lpstr>Layered Architecture</vt:lpstr>
      <vt:lpstr>Layered Architecture</vt:lpstr>
      <vt:lpstr>PowerPoint Presentation</vt:lpstr>
      <vt:lpstr>MCAL vs HAL vs APP</vt:lpstr>
      <vt:lpstr>MCAL vs HAL vs APP</vt:lpstr>
      <vt:lpstr>PowerPoint Presentation</vt:lpstr>
      <vt:lpstr>LIB Layer</vt:lpstr>
      <vt:lpstr>PowerPoint Presentation</vt:lpstr>
      <vt:lpstr>ATmega32 Pin overview</vt:lpstr>
      <vt:lpstr>ATmega32 Pin overview</vt:lpstr>
      <vt:lpstr>GPIO Registers</vt:lpstr>
      <vt:lpstr>PowerPoint Presentation</vt:lpstr>
      <vt:lpstr>Code Organization Based on Layered Architecture</vt:lpstr>
      <vt:lpstr>PowerPoint Presentation</vt:lpstr>
      <vt:lpstr>LIB Layer in Code</vt:lpstr>
      <vt:lpstr>LIB Layer in Code</vt:lpstr>
      <vt:lpstr>LIB Layer in Code</vt:lpstr>
      <vt:lpstr>LIB Layer in Code</vt:lpstr>
      <vt:lpstr>LIB Layer in Code</vt:lpstr>
      <vt:lpstr>LIB Layer in Code</vt:lpstr>
      <vt:lpstr>PowerPoint Presentation</vt:lpstr>
      <vt:lpstr>MCAL Layer in Code</vt:lpstr>
      <vt:lpstr>MCAL Layer in Code</vt:lpstr>
      <vt:lpstr>MCAL Layer in Code</vt:lpstr>
      <vt:lpstr>MCAL Layer in Code</vt:lpstr>
      <vt:lpstr>MCAL Layer in Code</vt:lpstr>
      <vt:lpstr>PowerPoint Presentation</vt:lpstr>
      <vt:lpstr>STD_TYPES.h</vt:lpstr>
      <vt:lpstr>BIT_MATH.h</vt:lpstr>
      <vt:lpstr>GPIO.h</vt:lpstr>
      <vt:lpstr>GPIO.c</vt:lpstr>
      <vt:lpstr>Break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Mariam Ahmed Mohamed Ali Reda</cp:lastModifiedBy>
  <cp:revision>421</cp:revision>
  <dcterms:created xsi:type="dcterms:W3CDTF">2025-01-30T15:09:40Z</dcterms:created>
  <dcterms:modified xsi:type="dcterms:W3CDTF">2026-04-14T11:59:17Z</dcterms:modified>
</cp:coreProperties>
</file>