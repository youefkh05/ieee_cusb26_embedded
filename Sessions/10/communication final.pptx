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3" r:id="rId2"/>
    <p:sldId id="330" r:id="rId3"/>
    <p:sldId id="257" r:id="rId4"/>
    <p:sldId id="277" r:id="rId5"/>
    <p:sldId id="282" r:id="rId6"/>
    <p:sldId id="288" r:id="rId7"/>
    <p:sldId id="334" r:id="rId8"/>
    <p:sldId id="289" r:id="rId9"/>
    <p:sldId id="331" r:id="rId10"/>
    <p:sldId id="335" r:id="rId11"/>
    <p:sldId id="332" r:id="rId12"/>
    <p:sldId id="345" r:id="rId13"/>
    <p:sldId id="333" r:id="rId14"/>
    <p:sldId id="336" r:id="rId15"/>
    <p:sldId id="340" r:id="rId16"/>
    <p:sldId id="337" r:id="rId17"/>
    <p:sldId id="351" r:id="rId18"/>
    <p:sldId id="338" r:id="rId19"/>
    <p:sldId id="339" r:id="rId20"/>
    <p:sldId id="344" r:id="rId21"/>
    <p:sldId id="341" r:id="rId22"/>
    <p:sldId id="347" r:id="rId23"/>
    <p:sldId id="350" r:id="rId24"/>
    <p:sldId id="342" r:id="rId25"/>
    <p:sldId id="343" r:id="rId26"/>
    <p:sldId id="348" r:id="rId27"/>
    <p:sldId id="349" r:id="rId28"/>
    <p:sldId id="346" r:id="rId29"/>
    <p:sldId id="285" r:id="rId30"/>
    <p:sldId id="318" r:id="rId31"/>
    <p:sldId id="30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E92D716-710A-4691-A3F3-88D5A62E1F3E}">
          <p14:sldIdLst>
            <p14:sldId id="273"/>
            <p14:sldId id="330"/>
            <p14:sldId id="257"/>
            <p14:sldId id="277"/>
            <p14:sldId id="282"/>
            <p14:sldId id="288"/>
            <p14:sldId id="334"/>
            <p14:sldId id="289"/>
            <p14:sldId id="331"/>
            <p14:sldId id="335"/>
            <p14:sldId id="332"/>
            <p14:sldId id="345"/>
            <p14:sldId id="333"/>
            <p14:sldId id="336"/>
            <p14:sldId id="340"/>
            <p14:sldId id="337"/>
            <p14:sldId id="351"/>
            <p14:sldId id="338"/>
            <p14:sldId id="339"/>
            <p14:sldId id="344"/>
            <p14:sldId id="341"/>
            <p14:sldId id="347"/>
            <p14:sldId id="350"/>
            <p14:sldId id="342"/>
            <p14:sldId id="343"/>
            <p14:sldId id="348"/>
            <p14:sldId id="349"/>
            <p14:sldId id="346"/>
            <p14:sldId id="285"/>
            <p14:sldId id="318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sma khaled" initials="bk" lastIdx="1" clrIdx="0">
    <p:extLst>
      <p:ext uri="{19B8F6BF-5375-455C-9EA6-DF929625EA0E}">
        <p15:presenceInfo xmlns:p15="http://schemas.microsoft.com/office/powerpoint/2012/main" userId="b0b62183d6b505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51B5"/>
    <a:srgbClr val="004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463D88-86C7-479B-9EE3-0741A353A20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D7C3BC-FE2D-479B-93D5-0743AB15BF53}">
      <dgm:prSet phldrT="[Text]"/>
      <dgm:spPr/>
      <dgm:t>
        <a:bodyPr/>
        <a:lstStyle/>
        <a:p>
          <a:r>
            <a:rPr lang="en-US" dirty="0"/>
            <a:t>Types of network </a:t>
          </a:r>
        </a:p>
      </dgm:t>
    </dgm:pt>
    <dgm:pt modelId="{47B11F31-1712-4502-B653-8AE4250CEF7C}" type="parTrans" cxnId="{A259CAA3-E63A-4514-9562-9680FD9D9743}">
      <dgm:prSet/>
      <dgm:spPr/>
      <dgm:t>
        <a:bodyPr/>
        <a:lstStyle/>
        <a:p>
          <a:endParaRPr lang="en-US"/>
        </a:p>
      </dgm:t>
    </dgm:pt>
    <dgm:pt modelId="{0B271532-1202-46DA-91F7-7F3BACF4AD09}" type="sibTrans" cxnId="{A259CAA3-E63A-4514-9562-9680FD9D9743}">
      <dgm:prSet/>
      <dgm:spPr/>
      <dgm:t>
        <a:bodyPr/>
        <a:lstStyle/>
        <a:p>
          <a:endParaRPr lang="en-US"/>
        </a:p>
      </dgm:t>
    </dgm:pt>
    <dgm:pt modelId="{8C466C9D-A5AA-4957-942E-1963586F173A}">
      <dgm:prSet phldrT="[Text]"/>
      <dgm:spPr/>
      <dgm:t>
        <a:bodyPr/>
        <a:lstStyle/>
        <a:p>
          <a:r>
            <a:rPr lang="en-US" dirty="0"/>
            <a:t>Independent slaves</a:t>
          </a:r>
        </a:p>
      </dgm:t>
    </dgm:pt>
    <dgm:pt modelId="{B356A482-01DE-4317-ACE4-C4FD03D03E99}" type="parTrans" cxnId="{B998EA85-8415-4327-8A50-E008D4988C42}">
      <dgm:prSet/>
      <dgm:spPr/>
      <dgm:t>
        <a:bodyPr/>
        <a:lstStyle/>
        <a:p>
          <a:endParaRPr lang="en-US"/>
        </a:p>
      </dgm:t>
    </dgm:pt>
    <dgm:pt modelId="{86507E0F-5A4A-44FE-9739-FDD1D7010FD1}" type="sibTrans" cxnId="{B998EA85-8415-4327-8A50-E008D4988C42}">
      <dgm:prSet/>
      <dgm:spPr/>
      <dgm:t>
        <a:bodyPr/>
        <a:lstStyle/>
        <a:p>
          <a:endParaRPr lang="en-US"/>
        </a:p>
      </dgm:t>
    </dgm:pt>
    <dgm:pt modelId="{8DDDCBC5-2AA9-4AE5-944E-E1F3ED63DA76}">
      <dgm:prSet phldrT="[Text]"/>
      <dgm:spPr/>
      <dgm:t>
        <a:bodyPr/>
        <a:lstStyle/>
        <a:p>
          <a:r>
            <a:rPr lang="en-US" dirty="0"/>
            <a:t>Daisy chain </a:t>
          </a:r>
        </a:p>
      </dgm:t>
    </dgm:pt>
    <dgm:pt modelId="{994F1C4E-C36B-415E-9B63-C8D458D1427C}" type="parTrans" cxnId="{E37F3F74-DE0F-4E05-9AAD-CD33B32C330B}">
      <dgm:prSet/>
      <dgm:spPr/>
      <dgm:t>
        <a:bodyPr/>
        <a:lstStyle/>
        <a:p>
          <a:endParaRPr lang="en-US"/>
        </a:p>
      </dgm:t>
    </dgm:pt>
    <dgm:pt modelId="{00D26E72-A995-40F7-8669-1D76A984FBDD}" type="sibTrans" cxnId="{E37F3F74-DE0F-4E05-9AAD-CD33B32C330B}">
      <dgm:prSet/>
      <dgm:spPr/>
      <dgm:t>
        <a:bodyPr/>
        <a:lstStyle/>
        <a:p>
          <a:endParaRPr lang="en-US"/>
        </a:p>
      </dgm:t>
    </dgm:pt>
    <dgm:pt modelId="{903E36D9-559C-4C42-B34F-C85F96028080}" type="pres">
      <dgm:prSet presAssocID="{C9463D88-86C7-479B-9EE3-0741A353A2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1379BD0-AA5F-4E63-8B94-B53C9E2A1A6C}" type="pres">
      <dgm:prSet presAssocID="{0FD7C3BC-FE2D-479B-93D5-0743AB15BF53}" presName="hierRoot1" presStyleCnt="0"/>
      <dgm:spPr/>
    </dgm:pt>
    <dgm:pt modelId="{5ED258AE-0963-4098-8B66-8B61054018AE}" type="pres">
      <dgm:prSet presAssocID="{0FD7C3BC-FE2D-479B-93D5-0743AB15BF53}" presName="composite" presStyleCnt="0"/>
      <dgm:spPr/>
    </dgm:pt>
    <dgm:pt modelId="{6BBAB916-163A-4A40-B239-3CBB2891ED0B}" type="pres">
      <dgm:prSet presAssocID="{0FD7C3BC-FE2D-479B-93D5-0743AB15BF53}" presName="background" presStyleLbl="node0" presStyleIdx="0" presStyleCnt="1"/>
      <dgm:spPr/>
    </dgm:pt>
    <dgm:pt modelId="{9E2E3BB7-F4E7-4558-AFAA-52C9AD8C10C6}" type="pres">
      <dgm:prSet presAssocID="{0FD7C3BC-FE2D-479B-93D5-0743AB15BF53}" presName="text" presStyleLbl="fgAcc0" presStyleIdx="0" presStyleCnt="1" custScaleX="392576" custLinFactNeighborX="-857" custLinFactNeighborY="-4046">
        <dgm:presLayoutVars>
          <dgm:chPref val="3"/>
        </dgm:presLayoutVars>
      </dgm:prSet>
      <dgm:spPr/>
    </dgm:pt>
    <dgm:pt modelId="{F4130EC4-354C-459A-A94B-33C5DD764BB6}" type="pres">
      <dgm:prSet presAssocID="{0FD7C3BC-FE2D-479B-93D5-0743AB15BF53}" presName="hierChild2" presStyleCnt="0"/>
      <dgm:spPr/>
    </dgm:pt>
    <dgm:pt modelId="{27BB8A0B-A9D9-4684-A135-CF43BBE7B24D}" type="pres">
      <dgm:prSet presAssocID="{B356A482-01DE-4317-ACE4-C4FD03D03E99}" presName="Name10" presStyleLbl="parChTrans1D2" presStyleIdx="0" presStyleCnt="2"/>
      <dgm:spPr/>
    </dgm:pt>
    <dgm:pt modelId="{68B60F21-8D7A-4B26-BD38-DB8D7DE16827}" type="pres">
      <dgm:prSet presAssocID="{8C466C9D-A5AA-4957-942E-1963586F173A}" presName="hierRoot2" presStyleCnt="0"/>
      <dgm:spPr/>
    </dgm:pt>
    <dgm:pt modelId="{3289FEC8-98E5-4174-9645-286309E6F57E}" type="pres">
      <dgm:prSet presAssocID="{8C466C9D-A5AA-4957-942E-1963586F173A}" presName="composite2" presStyleCnt="0"/>
      <dgm:spPr/>
    </dgm:pt>
    <dgm:pt modelId="{B8286B4B-9BFB-4C8F-AA93-17E9D37B3FB7}" type="pres">
      <dgm:prSet presAssocID="{8C466C9D-A5AA-4957-942E-1963586F173A}" presName="background2" presStyleLbl="node2" presStyleIdx="0" presStyleCnt="2"/>
      <dgm:spPr/>
    </dgm:pt>
    <dgm:pt modelId="{01B9E570-3129-4867-A4B3-66DBEB0849F2}" type="pres">
      <dgm:prSet presAssocID="{8C466C9D-A5AA-4957-942E-1963586F173A}" presName="text2" presStyleLbl="fgAcc2" presStyleIdx="0" presStyleCnt="2" custLinFactX="-100000" custLinFactNeighborX="-184714" custLinFactNeighborY="-9802">
        <dgm:presLayoutVars>
          <dgm:chPref val="3"/>
        </dgm:presLayoutVars>
      </dgm:prSet>
      <dgm:spPr/>
    </dgm:pt>
    <dgm:pt modelId="{B528D598-F077-471B-8601-7DC52CDD6C10}" type="pres">
      <dgm:prSet presAssocID="{8C466C9D-A5AA-4957-942E-1963586F173A}" presName="hierChild3" presStyleCnt="0"/>
      <dgm:spPr/>
    </dgm:pt>
    <dgm:pt modelId="{92954A18-0303-4191-9A69-CC5D610B6A33}" type="pres">
      <dgm:prSet presAssocID="{994F1C4E-C36B-415E-9B63-C8D458D1427C}" presName="Name10" presStyleLbl="parChTrans1D2" presStyleIdx="1" presStyleCnt="2"/>
      <dgm:spPr/>
    </dgm:pt>
    <dgm:pt modelId="{F6B23AE1-288C-47A4-83ED-C44BE5FF748B}" type="pres">
      <dgm:prSet presAssocID="{8DDDCBC5-2AA9-4AE5-944E-E1F3ED63DA76}" presName="hierRoot2" presStyleCnt="0"/>
      <dgm:spPr/>
    </dgm:pt>
    <dgm:pt modelId="{30035E29-E711-46C3-BC66-D6ABF538B25E}" type="pres">
      <dgm:prSet presAssocID="{8DDDCBC5-2AA9-4AE5-944E-E1F3ED63DA76}" presName="composite2" presStyleCnt="0"/>
      <dgm:spPr/>
    </dgm:pt>
    <dgm:pt modelId="{3D8AA657-E386-4AA5-995D-9B59C8584A57}" type="pres">
      <dgm:prSet presAssocID="{8DDDCBC5-2AA9-4AE5-944E-E1F3ED63DA76}" presName="background2" presStyleLbl="node2" presStyleIdx="1" presStyleCnt="2"/>
      <dgm:spPr/>
    </dgm:pt>
    <dgm:pt modelId="{B9835537-BCE4-4746-B574-3C987A91CA6E}" type="pres">
      <dgm:prSet presAssocID="{8DDDCBC5-2AA9-4AE5-944E-E1F3ED63DA76}" presName="text2" presStyleLbl="fgAcc2" presStyleIdx="1" presStyleCnt="2" custLinFactX="100000" custLinFactNeighborX="173907" custLinFactNeighborY="-9334">
        <dgm:presLayoutVars>
          <dgm:chPref val="3"/>
        </dgm:presLayoutVars>
      </dgm:prSet>
      <dgm:spPr/>
    </dgm:pt>
    <dgm:pt modelId="{359BCBA4-1402-491A-8D4B-EB9EE283F8F1}" type="pres">
      <dgm:prSet presAssocID="{8DDDCBC5-2AA9-4AE5-944E-E1F3ED63DA76}" presName="hierChild3" presStyleCnt="0"/>
      <dgm:spPr/>
    </dgm:pt>
  </dgm:ptLst>
  <dgm:cxnLst>
    <dgm:cxn modelId="{150DA737-3F06-4D10-B8A1-E1EA9CDE15A2}" type="presOf" srcId="{0FD7C3BC-FE2D-479B-93D5-0743AB15BF53}" destId="{9E2E3BB7-F4E7-4558-AFAA-52C9AD8C10C6}" srcOrd="0" destOrd="0" presId="urn:microsoft.com/office/officeart/2005/8/layout/hierarchy1"/>
    <dgm:cxn modelId="{79854151-A7AF-482D-B61D-0207DF3EF3E1}" type="presOf" srcId="{B356A482-01DE-4317-ACE4-C4FD03D03E99}" destId="{27BB8A0B-A9D9-4684-A135-CF43BBE7B24D}" srcOrd="0" destOrd="0" presId="urn:microsoft.com/office/officeart/2005/8/layout/hierarchy1"/>
    <dgm:cxn modelId="{B3075671-A919-4B42-9A1F-D1A896EB311C}" type="presOf" srcId="{994F1C4E-C36B-415E-9B63-C8D458D1427C}" destId="{92954A18-0303-4191-9A69-CC5D610B6A33}" srcOrd="0" destOrd="0" presId="urn:microsoft.com/office/officeart/2005/8/layout/hierarchy1"/>
    <dgm:cxn modelId="{E37F3F74-DE0F-4E05-9AAD-CD33B32C330B}" srcId="{0FD7C3BC-FE2D-479B-93D5-0743AB15BF53}" destId="{8DDDCBC5-2AA9-4AE5-944E-E1F3ED63DA76}" srcOrd="1" destOrd="0" parTransId="{994F1C4E-C36B-415E-9B63-C8D458D1427C}" sibTransId="{00D26E72-A995-40F7-8669-1D76A984FBDD}"/>
    <dgm:cxn modelId="{B998EA85-8415-4327-8A50-E008D4988C42}" srcId="{0FD7C3BC-FE2D-479B-93D5-0743AB15BF53}" destId="{8C466C9D-A5AA-4957-942E-1963586F173A}" srcOrd="0" destOrd="0" parTransId="{B356A482-01DE-4317-ACE4-C4FD03D03E99}" sibTransId="{86507E0F-5A4A-44FE-9739-FDD1D7010FD1}"/>
    <dgm:cxn modelId="{15064D94-0498-4354-98A1-1C98768FF4FF}" type="presOf" srcId="{8DDDCBC5-2AA9-4AE5-944E-E1F3ED63DA76}" destId="{B9835537-BCE4-4746-B574-3C987A91CA6E}" srcOrd="0" destOrd="0" presId="urn:microsoft.com/office/officeart/2005/8/layout/hierarchy1"/>
    <dgm:cxn modelId="{A259CAA3-E63A-4514-9562-9680FD9D9743}" srcId="{C9463D88-86C7-479B-9EE3-0741A353A209}" destId="{0FD7C3BC-FE2D-479B-93D5-0743AB15BF53}" srcOrd="0" destOrd="0" parTransId="{47B11F31-1712-4502-B653-8AE4250CEF7C}" sibTransId="{0B271532-1202-46DA-91F7-7F3BACF4AD09}"/>
    <dgm:cxn modelId="{4A92E2D8-16BE-46C9-B19B-EABC28356589}" type="presOf" srcId="{8C466C9D-A5AA-4957-942E-1963586F173A}" destId="{01B9E570-3129-4867-A4B3-66DBEB0849F2}" srcOrd="0" destOrd="0" presId="urn:microsoft.com/office/officeart/2005/8/layout/hierarchy1"/>
    <dgm:cxn modelId="{4F2EB4E0-5927-4EEA-92EA-1EE70D5DEB0A}" type="presOf" srcId="{C9463D88-86C7-479B-9EE3-0741A353A209}" destId="{903E36D9-559C-4C42-B34F-C85F96028080}" srcOrd="0" destOrd="0" presId="urn:microsoft.com/office/officeart/2005/8/layout/hierarchy1"/>
    <dgm:cxn modelId="{DF47D9BA-10E5-4BCF-8DCB-6A7CC5D3B17D}" type="presParOf" srcId="{903E36D9-559C-4C42-B34F-C85F96028080}" destId="{F1379BD0-AA5F-4E63-8B94-B53C9E2A1A6C}" srcOrd="0" destOrd="0" presId="urn:microsoft.com/office/officeart/2005/8/layout/hierarchy1"/>
    <dgm:cxn modelId="{16817E46-2BF8-47B5-B9D5-C3D8509A0624}" type="presParOf" srcId="{F1379BD0-AA5F-4E63-8B94-B53C9E2A1A6C}" destId="{5ED258AE-0963-4098-8B66-8B61054018AE}" srcOrd="0" destOrd="0" presId="urn:microsoft.com/office/officeart/2005/8/layout/hierarchy1"/>
    <dgm:cxn modelId="{1B6F39BB-E4DB-467A-92A7-DEADF5541B8E}" type="presParOf" srcId="{5ED258AE-0963-4098-8B66-8B61054018AE}" destId="{6BBAB916-163A-4A40-B239-3CBB2891ED0B}" srcOrd="0" destOrd="0" presId="urn:microsoft.com/office/officeart/2005/8/layout/hierarchy1"/>
    <dgm:cxn modelId="{23FD38B7-F99E-4D23-B589-2FD986E40DEC}" type="presParOf" srcId="{5ED258AE-0963-4098-8B66-8B61054018AE}" destId="{9E2E3BB7-F4E7-4558-AFAA-52C9AD8C10C6}" srcOrd="1" destOrd="0" presId="urn:microsoft.com/office/officeart/2005/8/layout/hierarchy1"/>
    <dgm:cxn modelId="{1842297B-C057-4181-8853-F059DE841F15}" type="presParOf" srcId="{F1379BD0-AA5F-4E63-8B94-B53C9E2A1A6C}" destId="{F4130EC4-354C-459A-A94B-33C5DD764BB6}" srcOrd="1" destOrd="0" presId="urn:microsoft.com/office/officeart/2005/8/layout/hierarchy1"/>
    <dgm:cxn modelId="{5C7E2470-0145-4BC9-BC46-A27F598DE56C}" type="presParOf" srcId="{F4130EC4-354C-459A-A94B-33C5DD764BB6}" destId="{27BB8A0B-A9D9-4684-A135-CF43BBE7B24D}" srcOrd="0" destOrd="0" presId="urn:microsoft.com/office/officeart/2005/8/layout/hierarchy1"/>
    <dgm:cxn modelId="{B91610C5-59C4-41BC-8194-CBFADB38FD97}" type="presParOf" srcId="{F4130EC4-354C-459A-A94B-33C5DD764BB6}" destId="{68B60F21-8D7A-4B26-BD38-DB8D7DE16827}" srcOrd="1" destOrd="0" presId="urn:microsoft.com/office/officeart/2005/8/layout/hierarchy1"/>
    <dgm:cxn modelId="{7553220E-FD50-4A08-8F45-97FD30C3D075}" type="presParOf" srcId="{68B60F21-8D7A-4B26-BD38-DB8D7DE16827}" destId="{3289FEC8-98E5-4174-9645-286309E6F57E}" srcOrd="0" destOrd="0" presId="urn:microsoft.com/office/officeart/2005/8/layout/hierarchy1"/>
    <dgm:cxn modelId="{AE984FA0-7062-4A59-B438-0CEBFD0D015D}" type="presParOf" srcId="{3289FEC8-98E5-4174-9645-286309E6F57E}" destId="{B8286B4B-9BFB-4C8F-AA93-17E9D37B3FB7}" srcOrd="0" destOrd="0" presId="urn:microsoft.com/office/officeart/2005/8/layout/hierarchy1"/>
    <dgm:cxn modelId="{29AECDEC-ED3A-406D-809B-83316D9D5391}" type="presParOf" srcId="{3289FEC8-98E5-4174-9645-286309E6F57E}" destId="{01B9E570-3129-4867-A4B3-66DBEB0849F2}" srcOrd="1" destOrd="0" presId="urn:microsoft.com/office/officeart/2005/8/layout/hierarchy1"/>
    <dgm:cxn modelId="{AEDAAFC0-28B9-446A-A61F-CEE0CE0F58B0}" type="presParOf" srcId="{68B60F21-8D7A-4B26-BD38-DB8D7DE16827}" destId="{B528D598-F077-471B-8601-7DC52CDD6C10}" srcOrd="1" destOrd="0" presId="urn:microsoft.com/office/officeart/2005/8/layout/hierarchy1"/>
    <dgm:cxn modelId="{2290CC26-8965-4B18-8A90-FDEE368E6C91}" type="presParOf" srcId="{F4130EC4-354C-459A-A94B-33C5DD764BB6}" destId="{92954A18-0303-4191-9A69-CC5D610B6A33}" srcOrd="2" destOrd="0" presId="urn:microsoft.com/office/officeart/2005/8/layout/hierarchy1"/>
    <dgm:cxn modelId="{026DD185-7A43-4920-80E5-591244EB4481}" type="presParOf" srcId="{F4130EC4-354C-459A-A94B-33C5DD764BB6}" destId="{F6B23AE1-288C-47A4-83ED-C44BE5FF748B}" srcOrd="3" destOrd="0" presId="urn:microsoft.com/office/officeart/2005/8/layout/hierarchy1"/>
    <dgm:cxn modelId="{2088108B-C95C-46DE-B3B0-0F10C79176E0}" type="presParOf" srcId="{F6B23AE1-288C-47A4-83ED-C44BE5FF748B}" destId="{30035E29-E711-46C3-BC66-D6ABF538B25E}" srcOrd="0" destOrd="0" presId="urn:microsoft.com/office/officeart/2005/8/layout/hierarchy1"/>
    <dgm:cxn modelId="{07867B4A-8AAD-4BD1-9EAD-92DEEB94F56D}" type="presParOf" srcId="{30035E29-E711-46C3-BC66-D6ABF538B25E}" destId="{3D8AA657-E386-4AA5-995D-9B59C8584A57}" srcOrd="0" destOrd="0" presId="urn:microsoft.com/office/officeart/2005/8/layout/hierarchy1"/>
    <dgm:cxn modelId="{735B29F0-C261-4F25-880A-DC2F52189BA8}" type="presParOf" srcId="{30035E29-E711-46C3-BC66-D6ABF538B25E}" destId="{B9835537-BCE4-4746-B574-3C987A91CA6E}" srcOrd="1" destOrd="0" presId="urn:microsoft.com/office/officeart/2005/8/layout/hierarchy1"/>
    <dgm:cxn modelId="{38F15A7E-AC7C-4417-B903-7A9FD0C7E279}" type="presParOf" srcId="{F6B23AE1-288C-47A4-83ED-C44BE5FF748B}" destId="{359BCBA4-1402-491A-8D4B-EB9EE283F8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54A18-0303-4191-9A69-CC5D610B6A33}">
      <dsp:nvSpPr>
        <dsp:cNvPr id="0" name=""/>
        <dsp:cNvSpPr/>
      </dsp:nvSpPr>
      <dsp:spPr>
        <a:xfrm>
          <a:off x="4053656" y="638473"/>
          <a:ext cx="3515582" cy="2692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302"/>
              </a:lnTo>
              <a:lnTo>
                <a:pt x="3515582" y="172302"/>
              </a:lnTo>
              <a:lnTo>
                <a:pt x="3515582" y="26926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BB8A0B-A9D9-4684-A135-CF43BBE7B24D}">
      <dsp:nvSpPr>
        <dsp:cNvPr id="0" name=""/>
        <dsp:cNvSpPr/>
      </dsp:nvSpPr>
      <dsp:spPr>
        <a:xfrm>
          <a:off x="442898" y="638473"/>
          <a:ext cx="3610758" cy="266156"/>
        </a:xfrm>
        <a:custGeom>
          <a:avLst/>
          <a:gdLst/>
          <a:ahLst/>
          <a:cxnLst/>
          <a:rect l="0" t="0" r="0" b="0"/>
          <a:pathLst>
            <a:path>
              <a:moveTo>
                <a:pt x="3610758" y="0"/>
              </a:moveTo>
              <a:lnTo>
                <a:pt x="3610758" y="169191"/>
              </a:lnTo>
              <a:lnTo>
                <a:pt x="0" y="169191"/>
              </a:lnTo>
              <a:lnTo>
                <a:pt x="0" y="26615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BAB916-163A-4A40-B239-3CBB2891ED0B}">
      <dsp:nvSpPr>
        <dsp:cNvPr id="0" name=""/>
        <dsp:cNvSpPr/>
      </dsp:nvSpPr>
      <dsp:spPr>
        <a:xfrm>
          <a:off x="1999123" y="-26176"/>
          <a:ext cx="4109066" cy="664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E3BB7-F4E7-4558-AFAA-52C9AD8C10C6}">
      <dsp:nvSpPr>
        <dsp:cNvPr id="0" name=""/>
        <dsp:cNvSpPr/>
      </dsp:nvSpPr>
      <dsp:spPr>
        <a:xfrm>
          <a:off x="2115422" y="84307"/>
          <a:ext cx="4109066" cy="664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Types of network </a:t>
          </a:r>
        </a:p>
      </dsp:txBody>
      <dsp:txXfrm>
        <a:off x="2134889" y="103774"/>
        <a:ext cx="4070132" cy="625716"/>
      </dsp:txXfrm>
    </dsp:sp>
    <dsp:sp modelId="{B8286B4B-9BFB-4C8F-AA93-17E9D37B3FB7}">
      <dsp:nvSpPr>
        <dsp:cNvPr id="0" name=""/>
        <dsp:cNvSpPr/>
      </dsp:nvSpPr>
      <dsp:spPr>
        <a:xfrm>
          <a:off x="-80448" y="904629"/>
          <a:ext cx="1046693" cy="664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9E570-3129-4867-A4B3-66DBEB0849F2}">
      <dsp:nvSpPr>
        <dsp:cNvPr id="0" name=""/>
        <dsp:cNvSpPr/>
      </dsp:nvSpPr>
      <dsp:spPr>
        <a:xfrm>
          <a:off x="35851" y="1015113"/>
          <a:ext cx="1046693" cy="664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Independent slaves</a:t>
          </a:r>
        </a:p>
      </dsp:txBody>
      <dsp:txXfrm>
        <a:off x="55318" y="1034580"/>
        <a:ext cx="1007759" cy="625716"/>
      </dsp:txXfrm>
    </dsp:sp>
    <dsp:sp modelId="{3D8AA657-E386-4AA5-995D-9B59C8584A57}">
      <dsp:nvSpPr>
        <dsp:cNvPr id="0" name=""/>
        <dsp:cNvSpPr/>
      </dsp:nvSpPr>
      <dsp:spPr>
        <a:xfrm>
          <a:off x="7045892" y="907740"/>
          <a:ext cx="1046693" cy="664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35537-BCE4-4746-B574-3C987A91CA6E}">
      <dsp:nvSpPr>
        <dsp:cNvPr id="0" name=""/>
        <dsp:cNvSpPr/>
      </dsp:nvSpPr>
      <dsp:spPr>
        <a:xfrm>
          <a:off x="7162191" y="1018224"/>
          <a:ext cx="1046693" cy="664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Daisy chain </a:t>
          </a:r>
        </a:p>
      </dsp:txBody>
      <dsp:txXfrm>
        <a:off x="7181658" y="1037691"/>
        <a:ext cx="1007759" cy="625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0F177-2B9D-42C7-87F0-306C299C9B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69DC-B0CD-43F1-9694-171E0AFE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00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337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4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6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1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21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42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77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35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50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23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29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05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61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11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203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59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31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9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45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24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810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6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913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092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095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3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E8B-C79B-B5FE-E91F-6CEEACDC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7E57-4FFF-A29E-1A65-649B2B8B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4617-9682-58AA-CB7C-D5846398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5109-AC23-0459-7E0B-6A6A8EEB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03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C51-E67A-E307-3684-CCD370E49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91B4-77A1-EA2F-D932-D4B9033BF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6472-CAEC-0451-F547-77598C21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257E-4C9A-4F08-D290-F6C428C6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30C7-AEA7-1282-BEFB-BDC876B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BD4C-EE8B-4714-2F18-7056F8DC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D86A-C000-1B16-42A4-D4976B3D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75E1-4ADC-F64F-B1D5-D61848B4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4475-F41E-832B-7CA1-07CADED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6643-2AA1-07B5-0FF2-8CB82B30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A9AB-940D-697B-FA9F-1BE22F9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DAF6-520C-8652-337D-45768CE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FB35-DDCE-7511-E07A-2BB4692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ABD6-44AD-9E46-A878-AEF77AB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184D-4CF3-4DB7-90C2-B69729C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F87-4A82-0A2D-0780-2C7167F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0D27-3FAA-4689-FE18-6344AC6E9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019B-79F5-9C73-AE8C-E9A744E8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E599-958A-BA34-2931-B53D164F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CED4-34D7-A09F-CD5A-F9D1442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933A-9F42-9A43-A341-B4BC976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517F-CFDA-A29D-7065-12AA7C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67E8-8B91-B0D5-0CFE-5340C305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924A7-91C4-2035-FFDE-E8E34E6F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C078D-4AFB-3CA1-8F08-36597D1A7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80E9-E512-90B1-97F3-0248F8CEC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A597-4DBA-6FAF-9969-BBD6DD6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DF46-62E4-07B7-587F-E6A96A6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DA6A0-3010-C17B-FB0D-D39EAF9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301-4EBB-BD37-8535-BCE604F4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8025E-CB15-4764-8988-1EFAD8C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6302-DC90-D96B-FCAA-442A229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A314-BE68-E8F3-D888-90D6E03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59510-A45A-F5F2-CDAD-D406B97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A0DF2-0584-DCF7-87D9-B7FC724F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FBD8-113F-E70E-89C7-ED2FC0F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F14-CAD3-AD26-745C-A209518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7189-987C-85D3-A576-066ED13C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E3D3-254B-4913-9704-379A9DA5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BFABC-A84A-7B99-0619-7893E003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3591-DD9F-0929-45AF-A837693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B44C-7FB3-3DE9-451D-54F0C28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C003-5FCC-56E8-6ACE-22198478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10D09-97F0-FA30-7572-70F5B6B22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30E28-6318-22BE-F3E3-19FE9D0D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5BE1-1D87-E057-082A-4FA06EBF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B4FA-396E-2089-0F46-3BD03F6D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948F-F0C9-5284-CC49-28D42734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1EC2-606C-4C0A-88E6-62004BA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3B4C-E305-5466-CCDF-A1B36063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62CB-56C8-A8B7-DAAA-E450DBCD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9343-77EA-492D-FDAB-4D70CCB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BEE-C120-3C2C-E31A-83805D0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A90FD-410C-EAD0-BE31-F7011AE1B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0FB1D-DE09-B814-7BF9-87A63161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4F45B-A051-E4BE-6E25-10C26EC3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4EE3-DB19-49CB-FCE9-B190DDFE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A551-6844-C9B5-A679-C48EDA7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5591F-3911-4435-88E1-A6AAFCD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AE15-093E-8DDF-A159-FC1AD163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5935-4CFA-37F8-D79B-D7BB2DD3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06-5270-1E97-C1C8-188ABB02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7160-38D4-5A90-B98C-361576A3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12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9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7.png"/><Relationship Id="rId9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hyperlink" Target="http://electronics.stackexchange.com/questions/243049/open-drain-concept-in-i2c-bu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48F23-22F3-02B2-3845-38DEE7F1D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59" y="-680640"/>
            <a:ext cx="2905680" cy="290568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85317F2A-EE10-BE72-AC7B-9E60470F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378" y="2272334"/>
            <a:ext cx="8371244" cy="23133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Embedded Workshop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None/>
            </a:pPr>
            <a:r>
              <a:rPr lang="en-US" sz="6500" b="1" dirty="0">
                <a:solidFill>
                  <a:srgbClr val="004467"/>
                </a:solidFill>
              </a:rPr>
              <a:t> 10</a:t>
            </a:r>
          </a:p>
        </p:txBody>
      </p:sp>
    </p:spTree>
    <p:extLst>
      <p:ext uri="{BB962C8B-B14F-4D97-AF65-F5344CB8AC3E}">
        <p14:creationId xmlns:p14="http://schemas.microsoft.com/office/powerpoint/2010/main" val="195204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1925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13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4461" y="-10463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5039360" y="1088383"/>
            <a:ext cx="21222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2043023" y="2365238"/>
            <a:ext cx="798074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Instructor:Basma</a:t>
            </a: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Khaled &amp;Fatma Foley.</a:t>
            </a:r>
            <a:endParaRPr dirty="0"/>
          </a:p>
        </p:txBody>
      </p:sp>
      <p:sp>
        <p:nvSpPr>
          <p:cNvPr id="125" name="Google Shape;125;p2"/>
          <p:cNvSpPr txBox="1"/>
          <p:nvPr/>
        </p:nvSpPr>
        <p:spPr>
          <a:xfrm>
            <a:off x="3230880" y="3028077"/>
            <a:ext cx="57302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Cairo University, EECE Department.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rgbClr val="4153BA"/>
            </a:gs>
            <a:gs pos="15000">
              <a:srgbClr val="0294E0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196455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45" y="1305991"/>
            <a:ext cx="2720161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6CEDAB3-9B8B-1435-3769-336FC11B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85" y="2369893"/>
            <a:ext cx="10515600" cy="394592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SPI 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 HW and SPECS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beginning of i2c</a:t>
            </a:r>
          </a:p>
          <a:p>
            <a:r>
              <a:rPr lang="en-US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i2c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 and SPECS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open drain and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push-pull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avr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talk with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i2c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0512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725" y="2353204"/>
            <a:ext cx="5376273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SPI ?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0103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1B1EBE1-B1FF-4633-830D-C5AC825146C9}"/>
              </a:ext>
            </a:extLst>
          </p:cNvPr>
          <p:cNvSpPr txBox="1">
            <a:spLocks/>
          </p:cNvSpPr>
          <p:nvPr/>
        </p:nvSpPr>
        <p:spPr>
          <a:xfrm>
            <a:off x="826632" y="12694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is SPI ?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D9FC212-73A9-4F25-9B5A-B0973759E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32" y="2626097"/>
            <a:ext cx="10515600" cy="4351338"/>
          </a:xfrm>
        </p:spPr>
        <p:txBody>
          <a:bodyPr>
            <a:normAutofit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Peripheral Interface (SPI) bus is a synchronous serial communication interface specification used for short distance communication. </a:t>
            </a:r>
          </a:p>
          <a:p>
            <a:pPr marL="0" indent="0">
              <a:buNone/>
            </a:pPr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 with a single master device and with one or more slave devices.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99306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47" y="2204753"/>
            <a:ext cx="5376273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 connection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37974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7A261C1-6653-4F22-BC8C-B40D2755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635" y="14546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HW connection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65E78A-1C98-4AD5-A7B5-CD7247B36903}"/>
              </a:ext>
            </a:extLst>
          </p:cNvPr>
          <p:cNvSpPr txBox="1"/>
          <p:nvPr/>
        </p:nvSpPr>
        <p:spPr>
          <a:xfrm>
            <a:off x="3048000" y="4709808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SCLK : Serial Clock (output from master). 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MOSI : Master Output, Slave Input (output from master).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MISO : Master Input, Slave Output (output from slave). </a:t>
            </a:r>
          </a:p>
          <a:p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: Slave Select (active low, output from master).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E67664-A92F-488B-8BA5-0F0E4CADBC78}"/>
              </a:ext>
            </a:extLst>
          </p:cNvPr>
          <p:cNvSpPr/>
          <p:nvPr/>
        </p:nvSpPr>
        <p:spPr>
          <a:xfrm>
            <a:off x="2151529" y="1855694"/>
            <a:ext cx="2563906" cy="206188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AC349-000A-4DB0-A1A9-0B64CD1E60D0}"/>
              </a:ext>
            </a:extLst>
          </p:cNvPr>
          <p:cNvSpPr/>
          <p:nvPr/>
        </p:nvSpPr>
        <p:spPr>
          <a:xfrm>
            <a:off x="6857999" y="1855694"/>
            <a:ext cx="2563906" cy="206188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85A8E0-BDA6-4137-B35B-BFFDC18102D5}"/>
              </a:ext>
            </a:extLst>
          </p:cNvPr>
          <p:cNvSpPr txBox="1"/>
          <p:nvPr/>
        </p:nvSpPr>
        <p:spPr>
          <a:xfrm>
            <a:off x="2837329" y="2625025"/>
            <a:ext cx="119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78664B-8E5A-47FC-B398-AB7B166232F9}"/>
              </a:ext>
            </a:extLst>
          </p:cNvPr>
          <p:cNvSpPr txBox="1"/>
          <p:nvPr/>
        </p:nvSpPr>
        <p:spPr>
          <a:xfrm>
            <a:off x="7637928" y="2625025"/>
            <a:ext cx="100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494640-0305-4663-A849-DAD2813FEE01}"/>
              </a:ext>
            </a:extLst>
          </p:cNvPr>
          <p:cNvCxnSpPr/>
          <p:nvPr/>
        </p:nvCxnSpPr>
        <p:spPr>
          <a:xfrm>
            <a:off x="4715435" y="2178424"/>
            <a:ext cx="21425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013F8F-44AE-48A9-AFF9-72D9040F7ACE}"/>
              </a:ext>
            </a:extLst>
          </p:cNvPr>
          <p:cNvCxnSpPr/>
          <p:nvPr/>
        </p:nvCxnSpPr>
        <p:spPr>
          <a:xfrm flipH="1">
            <a:off x="4715435" y="2554941"/>
            <a:ext cx="21425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CD1EE1-F866-42FD-A84E-30B7F9C309AB}"/>
              </a:ext>
            </a:extLst>
          </p:cNvPr>
          <p:cNvCxnSpPr/>
          <p:nvPr/>
        </p:nvCxnSpPr>
        <p:spPr>
          <a:xfrm>
            <a:off x="4715435" y="3039035"/>
            <a:ext cx="21425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FC23FE-CACB-4253-B772-65CDEE2D9123}"/>
              </a:ext>
            </a:extLst>
          </p:cNvPr>
          <p:cNvCxnSpPr/>
          <p:nvPr/>
        </p:nvCxnSpPr>
        <p:spPr>
          <a:xfrm>
            <a:off x="4715435" y="3446930"/>
            <a:ext cx="21425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0CDE66F-949C-4CA3-B236-AFF4114F1A17}"/>
              </a:ext>
            </a:extLst>
          </p:cNvPr>
          <p:cNvSpPr txBox="1"/>
          <p:nvPr/>
        </p:nvSpPr>
        <p:spPr>
          <a:xfrm>
            <a:off x="5401235" y="3162508"/>
            <a:ext cx="82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SCLK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B44785-7AC0-4877-81D7-1788D86C41C7}"/>
              </a:ext>
            </a:extLst>
          </p:cNvPr>
          <p:cNvSpPr txBox="1"/>
          <p:nvPr/>
        </p:nvSpPr>
        <p:spPr>
          <a:xfrm>
            <a:off x="5405716" y="1886182"/>
            <a:ext cx="82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8882F7-B747-4796-8A07-C784318BB53B}"/>
              </a:ext>
            </a:extLst>
          </p:cNvPr>
          <p:cNvSpPr txBox="1"/>
          <p:nvPr/>
        </p:nvSpPr>
        <p:spPr>
          <a:xfrm>
            <a:off x="5405716" y="2256867"/>
            <a:ext cx="82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6712E6-DE50-4F2E-B602-7BA8E3137E7F}"/>
              </a:ext>
            </a:extLst>
          </p:cNvPr>
          <p:cNvSpPr txBox="1"/>
          <p:nvPr/>
        </p:nvSpPr>
        <p:spPr>
          <a:xfrm>
            <a:off x="5401235" y="2696040"/>
            <a:ext cx="82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SS/CS</a:t>
            </a:r>
          </a:p>
        </p:txBody>
      </p:sp>
    </p:spTree>
    <p:extLst>
      <p:ext uri="{BB962C8B-B14F-4D97-AF65-F5344CB8AC3E}">
        <p14:creationId xmlns:p14="http://schemas.microsoft.com/office/powerpoint/2010/main" val="277748991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8F953F0-E2B6-445A-863B-FE1B34EAC526}"/>
              </a:ext>
            </a:extLst>
          </p:cNvPr>
          <p:cNvCxnSpPr/>
          <p:nvPr/>
        </p:nvCxnSpPr>
        <p:spPr>
          <a:xfrm>
            <a:off x="9243627" y="3732186"/>
            <a:ext cx="0" cy="1953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831AFC1-CD6F-4D04-9C0B-BD23B372C33B}"/>
              </a:ext>
            </a:extLst>
          </p:cNvPr>
          <p:cNvCxnSpPr/>
          <p:nvPr/>
        </p:nvCxnSpPr>
        <p:spPr>
          <a:xfrm>
            <a:off x="8823961" y="3732186"/>
            <a:ext cx="43004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988C367-3E47-4992-AF0A-A41547333BDB}"/>
              </a:ext>
            </a:extLst>
          </p:cNvPr>
          <p:cNvCxnSpPr/>
          <p:nvPr/>
        </p:nvCxnSpPr>
        <p:spPr>
          <a:xfrm>
            <a:off x="9761220" y="3543300"/>
            <a:ext cx="0" cy="967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FC67744-7E91-418A-9753-9629A470F6A2}"/>
              </a:ext>
            </a:extLst>
          </p:cNvPr>
          <p:cNvCxnSpPr/>
          <p:nvPr/>
        </p:nvCxnSpPr>
        <p:spPr>
          <a:xfrm>
            <a:off x="9761220" y="4511040"/>
            <a:ext cx="45555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88AB651-5CDB-40A6-8EC0-1BB3D7AB1137}"/>
              </a:ext>
            </a:extLst>
          </p:cNvPr>
          <p:cNvCxnSpPr/>
          <p:nvPr/>
        </p:nvCxnSpPr>
        <p:spPr>
          <a:xfrm>
            <a:off x="8841309" y="3543300"/>
            <a:ext cx="9199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A093E31-1A90-4E52-A918-36D65F3C7F46}"/>
              </a:ext>
            </a:extLst>
          </p:cNvPr>
          <p:cNvCxnSpPr>
            <a:cxnSpLocks/>
          </p:cNvCxnSpPr>
          <p:nvPr/>
        </p:nvCxnSpPr>
        <p:spPr>
          <a:xfrm>
            <a:off x="8841309" y="3367836"/>
            <a:ext cx="12182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14" name="Picture 2" descr="What Is Serial Peripheral Interface (SPI)? – Digilent Blog">
            <a:extLst>
              <a:ext uri="{FF2B5EF4-FFF2-40B4-BE49-F238E27FC236}">
                <a16:creationId xmlns:a16="http://schemas.microsoft.com/office/drawing/2014/main" id="{55F24D69-6CAC-4464-8FBC-58BF1EE85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465" y="2152221"/>
            <a:ext cx="4094630" cy="409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4C0C0D2D-39A8-4F37-8138-98B4FD377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323940"/>
              </p:ext>
            </p:extLst>
          </p:nvPr>
        </p:nvGraphicFramePr>
        <p:xfrm>
          <a:off x="1975223" y="452915"/>
          <a:ext cx="8241553" cy="1745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460B311-F124-402C-8E38-4B2E38FBAB1C}"/>
              </a:ext>
            </a:extLst>
          </p:cNvPr>
          <p:cNvSpPr/>
          <p:nvPr/>
        </p:nvSpPr>
        <p:spPr>
          <a:xfrm>
            <a:off x="8003109" y="2662110"/>
            <a:ext cx="838200" cy="1303020"/>
          </a:xfrm>
          <a:prstGeom prst="rect">
            <a:avLst/>
          </a:prstGeom>
          <a:noFill/>
          <a:ln w="38100">
            <a:solidFill>
              <a:srgbClr val="004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C26D8-EB39-40FA-94FA-B61A540F77B8}"/>
              </a:ext>
            </a:extLst>
          </p:cNvPr>
          <p:cNvSpPr/>
          <p:nvPr/>
        </p:nvSpPr>
        <p:spPr>
          <a:xfrm>
            <a:off x="10235769" y="2552586"/>
            <a:ext cx="822960" cy="86106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4546-900A-4AFF-9A89-EB3C4BB7806A}"/>
              </a:ext>
            </a:extLst>
          </p:cNvPr>
          <p:cNvSpPr/>
          <p:nvPr/>
        </p:nvSpPr>
        <p:spPr>
          <a:xfrm>
            <a:off x="10235769" y="3769006"/>
            <a:ext cx="830580" cy="8610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3EC4E-484F-477A-B1E1-9B997BFF5F7C}"/>
              </a:ext>
            </a:extLst>
          </p:cNvPr>
          <p:cNvSpPr/>
          <p:nvPr/>
        </p:nvSpPr>
        <p:spPr>
          <a:xfrm>
            <a:off x="10243389" y="4985426"/>
            <a:ext cx="830580" cy="861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46B57-ABF1-44F3-AD98-4BF1E67BE0E0}"/>
              </a:ext>
            </a:extLst>
          </p:cNvPr>
          <p:cNvSpPr txBox="1"/>
          <p:nvPr/>
        </p:nvSpPr>
        <p:spPr>
          <a:xfrm>
            <a:off x="8003109" y="2662110"/>
            <a:ext cx="83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MOSI</a:t>
            </a:r>
          </a:p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MISO</a:t>
            </a:r>
          </a:p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SCK</a:t>
            </a:r>
          </a:p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SS0</a:t>
            </a:r>
          </a:p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SS1</a:t>
            </a:r>
          </a:p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01CB08-F777-4925-BC65-6B5B849A589A}"/>
              </a:ext>
            </a:extLst>
          </p:cNvPr>
          <p:cNvSpPr txBox="1"/>
          <p:nvPr/>
        </p:nvSpPr>
        <p:spPr>
          <a:xfrm>
            <a:off x="10243389" y="2598395"/>
            <a:ext cx="8724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MOSI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MISO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SCK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8BE33F-FCB7-4FCC-A74D-2CD8FAEB25B4}"/>
              </a:ext>
            </a:extLst>
          </p:cNvPr>
          <p:cNvSpPr txBox="1"/>
          <p:nvPr/>
        </p:nvSpPr>
        <p:spPr>
          <a:xfrm>
            <a:off x="10264345" y="3829035"/>
            <a:ext cx="8305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MOSI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MISO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SCK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F2808D-D567-44F3-9AD0-660292A8A080}"/>
              </a:ext>
            </a:extLst>
          </p:cNvPr>
          <p:cNvSpPr txBox="1"/>
          <p:nvPr/>
        </p:nvSpPr>
        <p:spPr>
          <a:xfrm>
            <a:off x="10210718" y="5019052"/>
            <a:ext cx="830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MOSI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MISO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SCK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FA6DD6E-DD91-4FFE-B4AD-03AB1AA11E77}"/>
              </a:ext>
            </a:extLst>
          </p:cNvPr>
          <p:cNvCxnSpPr>
            <a:cxnSpLocks/>
          </p:cNvCxnSpPr>
          <p:nvPr/>
        </p:nvCxnSpPr>
        <p:spPr>
          <a:xfrm>
            <a:off x="8841309" y="3151452"/>
            <a:ext cx="698931" cy="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D93327B-EC57-4647-9A6E-3751730C118B}"/>
              </a:ext>
            </a:extLst>
          </p:cNvPr>
          <p:cNvCxnSpPr/>
          <p:nvPr/>
        </p:nvCxnSpPr>
        <p:spPr>
          <a:xfrm flipV="1">
            <a:off x="9540240" y="3078480"/>
            <a:ext cx="0" cy="72972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ECC18F-8918-4D70-9FDD-018495347010}"/>
              </a:ext>
            </a:extLst>
          </p:cNvPr>
          <p:cNvCxnSpPr/>
          <p:nvPr/>
        </p:nvCxnSpPr>
        <p:spPr>
          <a:xfrm>
            <a:off x="9540240" y="3078480"/>
            <a:ext cx="67653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55318D7-A7FD-46C5-A7AC-445D274F2257}"/>
              </a:ext>
            </a:extLst>
          </p:cNvPr>
          <p:cNvCxnSpPr/>
          <p:nvPr/>
        </p:nvCxnSpPr>
        <p:spPr>
          <a:xfrm>
            <a:off x="9540240" y="3151452"/>
            <a:ext cx="0" cy="1161468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996C82-197C-48DD-A513-F20EB42A7890}"/>
              </a:ext>
            </a:extLst>
          </p:cNvPr>
          <p:cNvCxnSpPr/>
          <p:nvPr/>
        </p:nvCxnSpPr>
        <p:spPr>
          <a:xfrm>
            <a:off x="9540240" y="4305300"/>
            <a:ext cx="703149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28A8683-9D5B-45A1-91C1-5B45CFA5A8B2}"/>
              </a:ext>
            </a:extLst>
          </p:cNvPr>
          <p:cNvCxnSpPr/>
          <p:nvPr/>
        </p:nvCxnSpPr>
        <p:spPr>
          <a:xfrm>
            <a:off x="9540240" y="4305300"/>
            <a:ext cx="0" cy="121920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4DA690-5FFE-491A-ABA9-55EBADA05D4C}"/>
              </a:ext>
            </a:extLst>
          </p:cNvPr>
          <p:cNvCxnSpPr/>
          <p:nvPr/>
        </p:nvCxnSpPr>
        <p:spPr>
          <a:xfrm>
            <a:off x="9540240" y="5524500"/>
            <a:ext cx="72410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95C1504-0A4F-4C57-88CE-19BA5CD89394}"/>
              </a:ext>
            </a:extLst>
          </p:cNvPr>
          <p:cNvCxnSpPr/>
          <p:nvPr/>
        </p:nvCxnSpPr>
        <p:spPr>
          <a:xfrm>
            <a:off x="8841309" y="2831315"/>
            <a:ext cx="919911" cy="0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1710DC8-99B2-4E46-9F50-630A3F852D47}"/>
              </a:ext>
            </a:extLst>
          </p:cNvPr>
          <p:cNvCxnSpPr/>
          <p:nvPr/>
        </p:nvCxnSpPr>
        <p:spPr>
          <a:xfrm flipV="1">
            <a:off x="9761220" y="2720340"/>
            <a:ext cx="0" cy="110975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039DE9-EF09-4CC0-81D4-76D91E1ABC07}"/>
              </a:ext>
            </a:extLst>
          </p:cNvPr>
          <p:cNvCxnSpPr/>
          <p:nvPr/>
        </p:nvCxnSpPr>
        <p:spPr>
          <a:xfrm>
            <a:off x="9761220" y="2720340"/>
            <a:ext cx="455556" cy="0"/>
          </a:xfrm>
          <a:prstGeom prst="straightConnector1">
            <a:avLst/>
          </a:prstGeom>
          <a:ln w="28575">
            <a:solidFill>
              <a:srgbClr val="3F51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305D348-8B50-406C-ADD0-309ADBE7CEB0}"/>
              </a:ext>
            </a:extLst>
          </p:cNvPr>
          <p:cNvCxnSpPr/>
          <p:nvPr/>
        </p:nvCxnSpPr>
        <p:spPr>
          <a:xfrm flipH="1">
            <a:off x="9902292" y="2899895"/>
            <a:ext cx="314484" cy="0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ADE9484-581D-40D6-A1BB-F22CE84AE729}"/>
              </a:ext>
            </a:extLst>
          </p:cNvPr>
          <p:cNvCxnSpPr/>
          <p:nvPr/>
        </p:nvCxnSpPr>
        <p:spPr>
          <a:xfrm>
            <a:off x="9902292" y="2899895"/>
            <a:ext cx="0" cy="1065235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148EA81-8BF9-440A-B1AB-616815F920AD}"/>
              </a:ext>
            </a:extLst>
          </p:cNvPr>
          <p:cNvCxnSpPr/>
          <p:nvPr/>
        </p:nvCxnSpPr>
        <p:spPr>
          <a:xfrm>
            <a:off x="9902292" y="3965130"/>
            <a:ext cx="314484" cy="0"/>
          </a:xfrm>
          <a:prstGeom prst="straightConnector1">
            <a:avLst/>
          </a:prstGeom>
          <a:ln w="28575">
            <a:solidFill>
              <a:srgbClr val="3F51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6050A93-17D4-4E68-A68D-18400CBF0B10}"/>
              </a:ext>
            </a:extLst>
          </p:cNvPr>
          <p:cNvCxnSpPr/>
          <p:nvPr/>
        </p:nvCxnSpPr>
        <p:spPr>
          <a:xfrm flipH="1">
            <a:off x="9902292" y="4097448"/>
            <a:ext cx="314484" cy="0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F3C2A65-CEEB-4D92-9DA2-3E72F830B7E1}"/>
              </a:ext>
            </a:extLst>
          </p:cNvPr>
          <p:cNvCxnSpPr/>
          <p:nvPr/>
        </p:nvCxnSpPr>
        <p:spPr>
          <a:xfrm>
            <a:off x="9902292" y="4097448"/>
            <a:ext cx="0" cy="1065235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CFF7A8E-C7A1-4C86-867E-5BDF5A1A2D9D}"/>
              </a:ext>
            </a:extLst>
          </p:cNvPr>
          <p:cNvCxnSpPr/>
          <p:nvPr/>
        </p:nvCxnSpPr>
        <p:spPr>
          <a:xfrm>
            <a:off x="9902292" y="5162683"/>
            <a:ext cx="314484" cy="0"/>
          </a:xfrm>
          <a:prstGeom prst="straightConnector1">
            <a:avLst/>
          </a:prstGeom>
          <a:ln w="28575">
            <a:solidFill>
              <a:srgbClr val="3F51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AFBF968-0C35-45E9-8316-85F090A2B185}"/>
              </a:ext>
            </a:extLst>
          </p:cNvPr>
          <p:cNvCxnSpPr>
            <a:cxnSpLocks/>
          </p:cNvCxnSpPr>
          <p:nvPr/>
        </p:nvCxnSpPr>
        <p:spPr>
          <a:xfrm flipH="1">
            <a:off x="9044940" y="5339756"/>
            <a:ext cx="1198449" cy="0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88C7731-5F94-4E60-8E2C-325274BA3197}"/>
              </a:ext>
            </a:extLst>
          </p:cNvPr>
          <p:cNvCxnSpPr>
            <a:cxnSpLocks/>
          </p:cNvCxnSpPr>
          <p:nvPr/>
        </p:nvCxnSpPr>
        <p:spPr>
          <a:xfrm flipV="1">
            <a:off x="9044940" y="2983115"/>
            <a:ext cx="26670" cy="2356642"/>
          </a:xfrm>
          <a:prstGeom prst="line">
            <a:avLst/>
          </a:prstGeom>
          <a:ln w="28575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A1806EF-71C8-440E-8B58-8E5FC277CE2B}"/>
              </a:ext>
            </a:extLst>
          </p:cNvPr>
          <p:cNvCxnSpPr/>
          <p:nvPr/>
        </p:nvCxnSpPr>
        <p:spPr>
          <a:xfrm flipH="1">
            <a:off x="8841309" y="2983115"/>
            <a:ext cx="230301" cy="0"/>
          </a:xfrm>
          <a:prstGeom prst="straightConnector1">
            <a:avLst/>
          </a:prstGeom>
          <a:ln w="28575">
            <a:solidFill>
              <a:srgbClr val="3F51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2D48340-194B-4DD6-BCD8-2ECED99F3F05}"/>
              </a:ext>
            </a:extLst>
          </p:cNvPr>
          <p:cNvCxnSpPr/>
          <p:nvPr/>
        </p:nvCxnSpPr>
        <p:spPr>
          <a:xfrm flipV="1">
            <a:off x="10059534" y="3262274"/>
            <a:ext cx="0" cy="10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4C08CA9-DA68-4C69-9C61-94B2AF18E044}"/>
              </a:ext>
            </a:extLst>
          </p:cNvPr>
          <p:cNvCxnSpPr/>
          <p:nvPr/>
        </p:nvCxnSpPr>
        <p:spPr>
          <a:xfrm>
            <a:off x="10059534" y="3262274"/>
            <a:ext cx="20481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C617536-9AD7-4F76-9834-3944126E8B08}"/>
              </a:ext>
            </a:extLst>
          </p:cNvPr>
          <p:cNvCxnSpPr/>
          <p:nvPr/>
        </p:nvCxnSpPr>
        <p:spPr>
          <a:xfrm>
            <a:off x="9243627" y="5685800"/>
            <a:ext cx="10207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28857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790" y="2358045"/>
            <a:ext cx="5652417" cy="131204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of communication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48720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6B6B2F6-2196-4439-B148-7B2DC244B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818" y="312723"/>
            <a:ext cx="5689228" cy="1325563"/>
          </a:xfrm>
        </p:spPr>
        <p:txBody>
          <a:bodyPr/>
          <a:lstStyle/>
          <a:p>
            <a:r>
              <a:rPr lang="en-US" dirty="0"/>
              <a:t>Way of communication </a:t>
            </a:r>
          </a:p>
        </p:txBody>
      </p:sp>
      <p:pic>
        <p:nvPicPr>
          <p:cNvPr id="15" name="Picture 2" descr="MICROPROCESSOR AND MICROCONTROLLER: Serial Peripheral Interface Protocol">
            <a:extLst>
              <a:ext uri="{FF2B5EF4-FFF2-40B4-BE49-F238E27FC236}">
                <a16:creationId xmlns:a16="http://schemas.microsoft.com/office/drawing/2014/main" id="{902F0602-A543-4BD1-8284-CB93BD372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324" y="3412658"/>
            <a:ext cx="666750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4B96C2-EA7C-4DBF-811A-287AEC996312}"/>
              </a:ext>
            </a:extLst>
          </p:cNvPr>
          <p:cNvSpPr txBox="1"/>
          <p:nvPr/>
        </p:nvSpPr>
        <p:spPr>
          <a:xfrm>
            <a:off x="1631576" y="2171529"/>
            <a:ext cx="7117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happens through shift 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swaps a bit with the slave every clock cycle.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43101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725" y="2458252"/>
            <a:ext cx="5376273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08112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03FEA9A-AFA6-4C66-8F7C-615B67BD7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05" y="1305972"/>
            <a:ext cx="10515600" cy="1325563"/>
          </a:xfrm>
        </p:spPr>
        <p:txBody>
          <a:bodyPr/>
          <a:lstStyle/>
          <a:p>
            <a:r>
              <a:rPr lang="en-US" dirty="0"/>
              <a:t>SPECS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20AD21-75F4-440A-BEFF-177B6B05E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105" y="2625254"/>
            <a:ext cx="10515600" cy="2390796"/>
          </a:xfrm>
        </p:spPr>
        <p:txBody>
          <a:bodyPr/>
          <a:lstStyle/>
          <a:p>
            <a:r>
              <a:rPr lang="en-US" dirty="0"/>
              <a:t> full duplex ,sure!!</a:t>
            </a:r>
          </a:p>
          <a:p>
            <a:r>
              <a:rPr lang="en-US" dirty="0"/>
              <a:t>SMMS</a:t>
            </a:r>
          </a:p>
          <a:p>
            <a:r>
              <a:rPr lang="en-US" dirty="0"/>
              <a:t>Serial</a:t>
            </a:r>
          </a:p>
          <a:p>
            <a:r>
              <a:rPr lang="en-US" dirty="0"/>
              <a:t>Synchronous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0156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64D9373-CCB4-462B-921E-7C7893D6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152" y="1295603"/>
            <a:ext cx="10515600" cy="1325563"/>
          </a:xfrm>
        </p:spPr>
        <p:txBody>
          <a:bodyPr/>
          <a:lstStyle/>
          <a:p>
            <a:r>
              <a:rPr lang="en-US" dirty="0"/>
              <a:t>Frame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1FC6B1D1-C308-45AC-A668-BFDBD7194E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152" y="2756103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It’s frameless     </a:t>
                </a:r>
              </a:p>
              <a:p>
                <a:pPr lvl="1"/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start bit</a:t>
                </a:r>
              </a:p>
              <a:p>
                <a:pPr lvl="1"/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stop bit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No address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Just raw data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throughput =100%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1FC6B1D1-C308-45AC-A668-BFDBD7194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152" y="2756103"/>
                <a:ext cx="10515600" cy="4351338"/>
              </a:xfrm>
              <a:blipFill>
                <a:blip r:embed="rId8"/>
                <a:stretch>
                  <a:fillRect l="-1159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3">
            <a:extLst>
              <a:ext uri="{FF2B5EF4-FFF2-40B4-BE49-F238E27FC236}">
                <a16:creationId xmlns:a16="http://schemas.microsoft.com/office/drawing/2014/main" id="{68581CD2-FE7B-4F3A-B8F8-A07DB95B7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2" y="74581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D09912C3-5860-4851-B912-EE02566A3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2" y="74581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A3D172F-6DA1-43D5-9D21-75095CABF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2" y="745812"/>
            <a:ext cx="4571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Picture 8" descr="Asking Why Stock Illustrations – 2,509 Asking Why Stock Illustrations,  Vectors &amp; Clipart - Dreamstime">
            <a:extLst>
              <a:ext uri="{FF2B5EF4-FFF2-40B4-BE49-F238E27FC236}">
                <a16:creationId xmlns:a16="http://schemas.microsoft.com/office/drawing/2014/main" id="{5925A53D-3BBA-45E1-AACD-7E1497B17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975" y="3246455"/>
            <a:ext cx="2886635" cy="157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79530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47" y="2204753"/>
            <a:ext cx="5376273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or Write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6172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422B4AE-1A13-4BB3-BFC7-55B2A759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673" y="118583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polarity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7B9464-1AB6-4880-99E3-A6016C21A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673" y="24770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Read then write or write then read 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" name="Picture 2" descr="How does the SPI protocol work?">
            <a:extLst>
              <a:ext uri="{FF2B5EF4-FFF2-40B4-BE49-F238E27FC236}">
                <a16:creationId xmlns:a16="http://schemas.microsoft.com/office/drawing/2014/main" id="{5887DCF5-EDC4-474A-8777-806EDC20C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9" r="33806"/>
          <a:stretch/>
        </p:blipFill>
        <p:spPr bwMode="auto">
          <a:xfrm>
            <a:off x="2551469" y="3221112"/>
            <a:ext cx="4376005" cy="210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84B39BBC-4B5B-4FD1-8146-7F2797E39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487107"/>
              </p:ext>
            </p:extLst>
          </p:nvPr>
        </p:nvGraphicFramePr>
        <p:xfrm>
          <a:off x="6927475" y="3408484"/>
          <a:ext cx="196327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3270">
                  <a:extLst>
                    <a:ext uri="{9D8B030D-6E8A-4147-A177-3AD203B41FA5}">
                      <a16:colId xmlns:a16="http://schemas.microsoft.com/office/drawing/2014/main" val="1187165345"/>
                    </a:ext>
                  </a:extLst>
                </a:gridCol>
              </a:tblGrid>
              <a:tr h="28884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n-lt"/>
                          <a:cs typeface="Times New Roman" panose="02020603050405020304" pitchFamily="18" charset="0"/>
                        </a:rPr>
                        <a:t>who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302990"/>
                  </a:ext>
                </a:extLst>
              </a:tr>
              <a:tr h="28884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641460"/>
                  </a:ext>
                </a:extLst>
              </a:tr>
              <a:tr h="28884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302601"/>
                  </a:ext>
                </a:extLst>
              </a:tr>
              <a:tr h="28884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812705"/>
                  </a:ext>
                </a:extLst>
              </a:tr>
              <a:tr h="28884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8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79210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862" y="2458252"/>
            <a:ext cx="5376273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66122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A7F6DC2-53D1-447D-8FBD-63DF8EC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32" y="102520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begin of I2C ”inter integrated circuit”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961FD38-2F9E-47D5-93F4-8AEE6DB91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941" y="2379536"/>
            <a:ext cx="9793941" cy="3311151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connect between ICS</a:t>
            </a:r>
            <a:endParaRPr lang="ar-E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communication protocol at which the devices are hooked up to the I2C bus with just </a:t>
            </a:r>
            <a:r>
              <a:rPr lang="en-US" sz="2400" u="none" strike="noStrike" baseline="0" dirty="0">
                <a:solidFill>
                  <a:srgbClr val="548E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wires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not SPI?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two many wires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not UART?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communication between MCs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I2C or TWI ”Two wire interface”?</a:t>
            </a:r>
          </a:p>
        </p:txBody>
      </p:sp>
    </p:spTree>
    <p:extLst>
      <p:ext uri="{BB962C8B-B14F-4D97-AF65-F5344CB8AC3E}">
        <p14:creationId xmlns:p14="http://schemas.microsoft.com/office/powerpoint/2010/main" val="32522221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47" y="2204753"/>
            <a:ext cx="5376273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 connection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5927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7DD7956-7828-4A13-93F5-02945046F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914" y="217227"/>
            <a:ext cx="3830168" cy="1325563"/>
          </a:xfrm>
        </p:spPr>
        <p:txBody>
          <a:bodyPr/>
          <a:lstStyle/>
          <a:p>
            <a:r>
              <a:rPr lang="en-US" dirty="0"/>
              <a:t>HW connection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E28C28-8D15-4C1F-A92F-58EF2EF647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7187" y="1690688"/>
            <a:ext cx="7457625" cy="29117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27CCF6F-CF0E-45FC-8294-E4FEB70D8D51}"/>
              </a:ext>
            </a:extLst>
          </p:cNvPr>
          <p:cNvSpPr txBox="1"/>
          <p:nvPr/>
        </p:nvSpPr>
        <p:spPr>
          <a:xfrm>
            <a:off x="4668368" y="5316071"/>
            <a:ext cx="2855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SDA: serial clock Line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SCL: serial Data line</a:t>
            </a:r>
          </a:p>
        </p:txBody>
      </p:sp>
    </p:spTree>
    <p:extLst>
      <p:ext uri="{BB962C8B-B14F-4D97-AF65-F5344CB8AC3E}">
        <p14:creationId xmlns:p14="http://schemas.microsoft.com/office/powerpoint/2010/main" val="3227122761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0" name="Content Placeholder 11">
            <a:extLst>
              <a:ext uri="{FF2B5EF4-FFF2-40B4-BE49-F238E27FC236}">
                <a16:creationId xmlns:a16="http://schemas.microsoft.com/office/drawing/2014/main" id="{FD5AE65A-94E8-4D60-BCC6-A4EA73FE4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 bwMode="auto">
          <a:xfrm>
            <a:off x="3001798" y="1935872"/>
            <a:ext cx="5550532" cy="383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9">
            <a:extLst>
              <a:ext uri="{FF2B5EF4-FFF2-40B4-BE49-F238E27FC236}">
                <a16:creationId xmlns:a16="http://schemas.microsoft.com/office/drawing/2014/main" id="{062621CC-9416-4B14-9980-C40AF185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435" y="258820"/>
            <a:ext cx="5715241" cy="1325563"/>
          </a:xfrm>
        </p:spPr>
        <p:txBody>
          <a:bodyPr/>
          <a:lstStyle/>
          <a:p>
            <a:r>
              <a:rPr lang="en-US" dirty="0"/>
              <a:t>Open-drain Vs push-pull</a:t>
            </a:r>
          </a:p>
        </p:txBody>
      </p:sp>
    </p:spTree>
    <p:extLst>
      <p:ext uri="{BB962C8B-B14F-4D97-AF65-F5344CB8AC3E}">
        <p14:creationId xmlns:p14="http://schemas.microsoft.com/office/powerpoint/2010/main" val="2775552563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1837049-78AE-47DE-843E-FF1126B6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659"/>
            <a:ext cx="10515600" cy="1325563"/>
          </a:xfrm>
        </p:spPr>
        <p:txBody>
          <a:bodyPr/>
          <a:lstStyle/>
          <a:p>
            <a:r>
              <a:rPr lang="en-US" dirty="0"/>
              <a:t>What is dominant and Recessive  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47027E-F8B2-478F-9AAB-5B86ADC8E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5947"/>
            <a:ext cx="10515600" cy="2477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Bit: A bit that appears on the bus if any node writes it. In our system the 0 is the dominant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Recessive Bit :A bit that appears on the bus if all nodes write it. In our system the 1 is the recessive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56390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47" y="2204753"/>
            <a:ext cx="5376273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72933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032A418-81DE-483E-ADF7-A4C21E51F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266" y="1281157"/>
            <a:ext cx="10515600" cy="1325563"/>
          </a:xfrm>
        </p:spPr>
        <p:txBody>
          <a:bodyPr/>
          <a:lstStyle/>
          <a:p>
            <a:r>
              <a:rPr lang="en-US" dirty="0"/>
              <a:t>SPECS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81841-AB93-4131-BBD9-05FBFC2EC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266" y="2526072"/>
            <a:ext cx="10515600" cy="4351338"/>
          </a:xfrm>
        </p:spPr>
        <p:txBody>
          <a:bodyPr/>
          <a:lstStyle/>
          <a:p>
            <a:r>
              <a:rPr lang="en-US" dirty="0"/>
              <a:t>Wired</a:t>
            </a:r>
          </a:p>
          <a:p>
            <a:r>
              <a:rPr lang="en-US" dirty="0"/>
              <a:t>Serial</a:t>
            </a:r>
          </a:p>
          <a:p>
            <a:r>
              <a:rPr lang="en-US" dirty="0"/>
              <a:t>MMMS</a:t>
            </a:r>
          </a:p>
          <a:p>
            <a:r>
              <a:rPr lang="en-US" dirty="0"/>
              <a:t>Half duplex</a:t>
            </a:r>
          </a:p>
          <a:p>
            <a:r>
              <a:rPr lang="en-US" dirty="0"/>
              <a:t>Synchronous </a:t>
            </a:r>
          </a:p>
          <a:p>
            <a:r>
              <a:rPr lang="en-US" dirty="0"/>
              <a:t>Throughput </a:t>
            </a:r>
            <a:r>
              <a:rPr lang="en-US" dirty="0">
                <a:sym typeface="Wingdings" panose="05000000000000000000" pitchFamily="2" charset="2"/>
              </a:rPr>
              <a:t>based on 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537757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13B1182-B62E-472D-8B5A-678246F2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94" y="435067"/>
            <a:ext cx="10515600" cy="1325563"/>
          </a:xfrm>
        </p:spPr>
        <p:txBody>
          <a:bodyPr/>
          <a:lstStyle/>
          <a:p>
            <a:r>
              <a:rPr lang="en-US" dirty="0"/>
              <a:t>Frame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3659ADC-636C-49D9-B132-34D0B5B4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527" y="2989357"/>
            <a:ext cx="4849771" cy="303007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condition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(falling) +SCL(High)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 Stop condition  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(falling) +SCL(High)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7AB029-8323-4EFA-876E-CED2F6951E62}"/>
              </a:ext>
            </a:extLst>
          </p:cNvPr>
          <p:cNvSpPr/>
          <p:nvPr/>
        </p:nvSpPr>
        <p:spPr>
          <a:xfrm>
            <a:off x="3388658" y="1663794"/>
            <a:ext cx="1380565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condition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88B4E7-06BE-4259-B770-DB2C037B718C}"/>
              </a:ext>
            </a:extLst>
          </p:cNvPr>
          <p:cNvSpPr/>
          <p:nvPr/>
        </p:nvSpPr>
        <p:spPr>
          <a:xfrm>
            <a:off x="7395881" y="1663794"/>
            <a:ext cx="1380565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condition</a:t>
            </a:r>
          </a:p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3A472C-AAC5-40D8-B00D-4D1D92088CD1}"/>
              </a:ext>
            </a:extLst>
          </p:cNvPr>
          <p:cNvSpPr/>
          <p:nvPr/>
        </p:nvSpPr>
        <p:spPr>
          <a:xfrm>
            <a:off x="4769223" y="1663794"/>
            <a:ext cx="1380565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packet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C7D56C-B88B-4900-BAD0-3A188125E91D}"/>
              </a:ext>
            </a:extLst>
          </p:cNvPr>
          <p:cNvSpPr/>
          <p:nvPr/>
        </p:nvSpPr>
        <p:spPr>
          <a:xfrm>
            <a:off x="6149788" y="1663794"/>
            <a:ext cx="1246093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packet</a:t>
            </a:r>
          </a:p>
        </p:txBody>
      </p:sp>
      <p:pic>
        <p:nvPicPr>
          <p:cNvPr id="23" name="Picture 2" descr="I2C Timing: Definition and Specification Guide (Part 2) | Analog Devices">
            <a:extLst>
              <a:ext uri="{FF2B5EF4-FFF2-40B4-BE49-F238E27FC236}">
                <a16:creationId xmlns:a16="http://schemas.microsoft.com/office/drawing/2014/main" id="{9F7D15E3-1DC5-44C9-A9BA-82E24DE9C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210" y="2989357"/>
            <a:ext cx="5163712" cy="2748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311CD433-1BAF-476E-B5FC-558CD8B279E5}"/>
              </a:ext>
            </a:extLst>
          </p:cNvPr>
          <p:cNvSpPr/>
          <p:nvPr/>
        </p:nvSpPr>
        <p:spPr>
          <a:xfrm>
            <a:off x="8086163" y="3769287"/>
            <a:ext cx="421340" cy="17619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5F9CFD-51D8-4B4A-80A8-3EC8C953B91E}"/>
              </a:ext>
            </a:extLst>
          </p:cNvPr>
          <p:cNvSpPr/>
          <p:nvPr/>
        </p:nvSpPr>
        <p:spPr>
          <a:xfrm>
            <a:off x="9386045" y="3769287"/>
            <a:ext cx="421340" cy="17619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0C0236-DABF-427F-AB80-8700E5DF30A7}"/>
              </a:ext>
            </a:extLst>
          </p:cNvPr>
          <p:cNvCxnSpPr>
            <a:cxnSpLocks/>
          </p:cNvCxnSpPr>
          <p:nvPr/>
        </p:nvCxnSpPr>
        <p:spPr>
          <a:xfrm>
            <a:off x="7906871" y="3612777"/>
            <a:ext cx="295835" cy="156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373E94-0174-4DEC-A76D-69E9F28098C7}"/>
              </a:ext>
            </a:extLst>
          </p:cNvPr>
          <p:cNvCxnSpPr>
            <a:cxnSpLocks/>
          </p:cNvCxnSpPr>
          <p:nvPr/>
        </p:nvCxnSpPr>
        <p:spPr>
          <a:xfrm flipH="1">
            <a:off x="9652747" y="3612777"/>
            <a:ext cx="324971" cy="156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268852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78EAF65-226E-4C59-84E7-CB2C0013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514" y="698079"/>
            <a:ext cx="10515600" cy="5988704"/>
          </a:xfrm>
        </p:spPr>
        <p:txBody>
          <a:bodyPr/>
          <a:lstStyle/>
          <a:p>
            <a:pPr marL="514350" indent="-514350">
              <a:buAutoNum type="arabicParenR" startAt="3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packet (9 bits)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number (7 bits)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R/W bit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bit ack 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packet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Data(8bits)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  <a:p>
            <a:pPr marL="514350" indent="-514350">
              <a:buAutoNum type="arabicParenR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239EE4-B9DD-4CE8-964E-B94165A91587}"/>
              </a:ext>
            </a:extLst>
          </p:cNvPr>
          <p:cNvSpPr/>
          <p:nvPr/>
        </p:nvSpPr>
        <p:spPr>
          <a:xfrm>
            <a:off x="2957537" y="2505308"/>
            <a:ext cx="1380565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condition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C35AE2-077D-449B-8D0D-1F7F62EC6E1A}"/>
              </a:ext>
            </a:extLst>
          </p:cNvPr>
          <p:cNvSpPr/>
          <p:nvPr/>
        </p:nvSpPr>
        <p:spPr>
          <a:xfrm>
            <a:off x="7879160" y="2505308"/>
            <a:ext cx="1380565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condition</a:t>
            </a:r>
          </a:p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DE1AD5-28B1-4A64-BDD6-3C2A163DCCE6}"/>
              </a:ext>
            </a:extLst>
          </p:cNvPr>
          <p:cNvSpPr/>
          <p:nvPr/>
        </p:nvSpPr>
        <p:spPr>
          <a:xfrm>
            <a:off x="4338103" y="2505308"/>
            <a:ext cx="1246092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no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BB55A4-DF66-4DEA-BA42-DEC2F178D2BF}"/>
              </a:ext>
            </a:extLst>
          </p:cNvPr>
          <p:cNvSpPr/>
          <p:nvPr/>
        </p:nvSpPr>
        <p:spPr>
          <a:xfrm>
            <a:off x="6633067" y="2505308"/>
            <a:ext cx="1246093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packet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139397-030E-45F3-A6C5-B763932F6CE5}"/>
              </a:ext>
            </a:extLst>
          </p:cNvPr>
          <p:cNvSpPr/>
          <p:nvPr/>
        </p:nvSpPr>
        <p:spPr>
          <a:xfrm>
            <a:off x="5584195" y="2505308"/>
            <a:ext cx="690284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W/R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E7332A-6FDA-4676-A660-349B608BA7A6}"/>
              </a:ext>
            </a:extLst>
          </p:cNvPr>
          <p:cNvSpPr/>
          <p:nvPr/>
        </p:nvSpPr>
        <p:spPr>
          <a:xfrm>
            <a:off x="6274479" y="2505308"/>
            <a:ext cx="358588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8CD211-993F-4A5B-90B7-A86D556C1473}"/>
              </a:ext>
            </a:extLst>
          </p:cNvPr>
          <p:cNvSpPr/>
          <p:nvPr/>
        </p:nvSpPr>
        <p:spPr>
          <a:xfrm>
            <a:off x="2957537" y="5185755"/>
            <a:ext cx="1380565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condition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60B46D-5CD0-45F1-8AB9-01A4985547FD}"/>
              </a:ext>
            </a:extLst>
          </p:cNvPr>
          <p:cNvSpPr/>
          <p:nvPr/>
        </p:nvSpPr>
        <p:spPr>
          <a:xfrm>
            <a:off x="7879160" y="5185755"/>
            <a:ext cx="1380565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condition</a:t>
            </a:r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1270B0-6114-4FD6-BCB5-E39DE5D76A40}"/>
              </a:ext>
            </a:extLst>
          </p:cNvPr>
          <p:cNvSpPr/>
          <p:nvPr/>
        </p:nvSpPr>
        <p:spPr>
          <a:xfrm>
            <a:off x="4338103" y="5185755"/>
            <a:ext cx="1246092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no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D205C9-D69F-47B8-A939-A823664851E1}"/>
              </a:ext>
            </a:extLst>
          </p:cNvPr>
          <p:cNvSpPr/>
          <p:nvPr/>
        </p:nvSpPr>
        <p:spPr>
          <a:xfrm>
            <a:off x="6633068" y="5185755"/>
            <a:ext cx="869572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F47D28-FF6C-40B7-918C-FB881A50F490}"/>
              </a:ext>
            </a:extLst>
          </p:cNvPr>
          <p:cNvSpPr/>
          <p:nvPr/>
        </p:nvSpPr>
        <p:spPr>
          <a:xfrm>
            <a:off x="5584195" y="5185755"/>
            <a:ext cx="690284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W/R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74AB2E-68FA-416D-91AA-7278A59F511A}"/>
              </a:ext>
            </a:extLst>
          </p:cNvPr>
          <p:cNvSpPr/>
          <p:nvPr/>
        </p:nvSpPr>
        <p:spPr>
          <a:xfrm>
            <a:off x="6274479" y="5185755"/>
            <a:ext cx="358588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237581-EDF1-45D8-B345-827C6B5AC740}"/>
              </a:ext>
            </a:extLst>
          </p:cNvPr>
          <p:cNvSpPr/>
          <p:nvPr/>
        </p:nvSpPr>
        <p:spPr>
          <a:xfrm>
            <a:off x="7511606" y="5185755"/>
            <a:ext cx="358588" cy="779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</p:txBody>
      </p:sp>
    </p:spTree>
    <p:extLst>
      <p:ext uri="{BB962C8B-B14F-4D97-AF65-F5344CB8AC3E}">
        <p14:creationId xmlns:p14="http://schemas.microsoft.com/office/powerpoint/2010/main" val="3387672868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B8F16B9-6054-45D3-B89E-8126057D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603"/>
            <a:ext cx="10515600" cy="1325563"/>
          </a:xfrm>
        </p:spPr>
        <p:txBody>
          <a:bodyPr/>
          <a:lstStyle/>
          <a:p>
            <a:r>
              <a:rPr lang="en-US" dirty="0"/>
              <a:t>Way of communication (Two scenarios)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944E419-A1E2-4219-A7DA-E4A21E9A5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8" y="29940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Master writes on slave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Master read from slave</a:t>
            </a:r>
          </a:p>
        </p:txBody>
      </p:sp>
    </p:spTree>
    <p:extLst>
      <p:ext uri="{BB962C8B-B14F-4D97-AF65-F5344CB8AC3E}">
        <p14:creationId xmlns:p14="http://schemas.microsoft.com/office/powerpoint/2010/main" val="1356515276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DF8F62A-12E9-42F7-B80D-63A82425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267" y="1165753"/>
            <a:ext cx="10515600" cy="1325563"/>
          </a:xfrm>
        </p:spPr>
        <p:txBody>
          <a:bodyPr/>
          <a:lstStyle/>
          <a:p>
            <a:r>
              <a:rPr lang="en-US" dirty="0"/>
              <a:t>SPI advanced definitions 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242B904-7F47-480B-B1AB-0249D833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26" y="2658534"/>
            <a:ext cx="10515600" cy="4351338"/>
          </a:xfrm>
        </p:spPr>
        <p:txBody>
          <a:bodyPr/>
          <a:lstStyle/>
          <a:p>
            <a:r>
              <a:rPr lang="en-US" dirty="0"/>
              <a:t>Multi Master Arbitration</a:t>
            </a:r>
          </a:p>
          <a:p>
            <a:r>
              <a:rPr lang="en-US" dirty="0"/>
              <a:t>Repeated start</a:t>
            </a:r>
          </a:p>
          <a:p>
            <a:r>
              <a:rPr lang="en-US" dirty="0"/>
              <a:t>Clock stretching</a:t>
            </a:r>
          </a:p>
          <a:p>
            <a:r>
              <a:rPr lang="en-US" dirty="0"/>
              <a:t>Bus starvation </a:t>
            </a:r>
          </a:p>
        </p:txBody>
      </p:sp>
    </p:spTree>
    <p:extLst>
      <p:ext uri="{BB962C8B-B14F-4D97-AF65-F5344CB8AC3E}">
        <p14:creationId xmlns:p14="http://schemas.microsoft.com/office/powerpoint/2010/main" val="1381990362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9081" y="5738573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1028" name="Picture 4" descr="A Vector Image with a Lettering it`s ...">
            <a:extLst>
              <a:ext uri="{FF2B5EF4-FFF2-40B4-BE49-F238E27FC236}">
                <a16:creationId xmlns:a16="http://schemas.microsoft.com/office/drawing/2014/main" id="{073DDC29-9B80-4CFC-8641-E1C3C4505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134" y="771038"/>
            <a:ext cx="4489895" cy="448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7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D9CD-86DA-E6C8-58A3-9EC18D62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64D661-F867-4F82-1E1E-C0E100543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059838D-E830-4D20-E9CC-9AE370655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E503C7-8B4D-B01D-CEEB-8BC92D67E6F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329441-AB25-CF64-0A11-FAF8DE84DE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F4006D8-F575-8EF9-A846-7E1F9EE35186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76DA6144-47F6-BDAB-3563-EDB085A1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415236-85B5-D628-D9B1-3E28D4EFD1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E15CFE-24FB-D4D5-D8A2-7E597454070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78B27B-F4B2-7031-6A41-0203C346B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D506A-F6E9-D3FD-1530-CBBA5F36FF8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AE4D11-26FC-FB82-A962-61ADC7CCA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897B29-56C1-AFA2-2E2A-4C370620F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2B32EF-7D3F-F4D8-C946-741E2BD5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590F868-726C-5B53-B7AF-AE5343AA4A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076F7E-02D7-0AB7-4B1B-8014B4A6097B}"/>
              </a:ext>
            </a:extLst>
          </p:cNvPr>
          <p:cNvSpPr txBox="1"/>
          <p:nvPr/>
        </p:nvSpPr>
        <p:spPr>
          <a:xfrm>
            <a:off x="553572" y="1454537"/>
            <a:ext cx="9720738" cy="7848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 dirty="0">
                <a:solidFill>
                  <a:srgbClr val="0045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I2C protocol to interface the LCD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AD270-0A3C-4228-A1B4-7C882B8E7680}"/>
              </a:ext>
            </a:extLst>
          </p:cNvPr>
          <p:cNvSpPr txBox="1"/>
          <p:nvPr/>
        </p:nvSpPr>
        <p:spPr>
          <a:xfrm>
            <a:off x="914400" y="2387600"/>
            <a:ext cx="95165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I2C communication: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16x2 LCD via I2C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I2C peripheral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command and data to LCD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43176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20" name="Title 14">
            <a:extLst>
              <a:ext uri="{FF2B5EF4-FFF2-40B4-BE49-F238E27FC236}">
                <a16:creationId xmlns:a16="http://schemas.microsoft.com/office/drawing/2014/main" id="{5B74792E-961E-0D4F-4546-DC2409F89C56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5603825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5744</TotalTime>
  <Words>535</Words>
  <Application>Microsoft Office PowerPoint</Application>
  <PresentationFormat>Widescreen</PresentationFormat>
  <Paragraphs>189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Content</vt:lpstr>
      <vt:lpstr>What is SPI ?</vt:lpstr>
      <vt:lpstr>PowerPoint Presentation</vt:lpstr>
      <vt:lpstr>HW connection</vt:lpstr>
      <vt:lpstr>HW connection</vt:lpstr>
      <vt:lpstr>PowerPoint Presentation</vt:lpstr>
      <vt:lpstr>Way of communication</vt:lpstr>
      <vt:lpstr>Way of communication </vt:lpstr>
      <vt:lpstr>SPECS</vt:lpstr>
      <vt:lpstr>SPECS</vt:lpstr>
      <vt:lpstr>Frame</vt:lpstr>
      <vt:lpstr>Read or Write</vt:lpstr>
      <vt:lpstr>Clock polarity</vt:lpstr>
      <vt:lpstr>I2C</vt:lpstr>
      <vt:lpstr>The begin of I2C ”inter integrated circuit”</vt:lpstr>
      <vt:lpstr>HW connection</vt:lpstr>
      <vt:lpstr>HW connection</vt:lpstr>
      <vt:lpstr>Open-drain Vs push-pull</vt:lpstr>
      <vt:lpstr>What is dominant and Recessive  ?</vt:lpstr>
      <vt:lpstr>SPECS</vt:lpstr>
      <vt:lpstr>SPECS</vt:lpstr>
      <vt:lpstr>Frame</vt:lpstr>
      <vt:lpstr>PowerPoint Presentation</vt:lpstr>
      <vt:lpstr>Way of communication (Two scenarios) </vt:lpstr>
      <vt:lpstr>SPI advanced definitions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 Ezzat</dc:creator>
  <cp:lastModifiedBy>yousef khaled</cp:lastModifiedBy>
  <cp:revision>465</cp:revision>
  <dcterms:created xsi:type="dcterms:W3CDTF">2025-01-30T15:09:40Z</dcterms:created>
  <dcterms:modified xsi:type="dcterms:W3CDTF">2026-03-03T15:29:51Z</dcterms:modified>
</cp:coreProperties>
</file>