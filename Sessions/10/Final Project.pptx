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3" r:id="rId2"/>
    <p:sldId id="277" r:id="rId3"/>
    <p:sldId id="349" r:id="rId4"/>
    <p:sldId id="288" r:id="rId5"/>
    <p:sldId id="352" r:id="rId6"/>
    <p:sldId id="367" r:id="rId7"/>
    <p:sldId id="346" r:id="rId8"/>
    <p:sldId id="353" r:id="rId9"/>
    <p:sldId id="354" r:id="rId10"/>
    <p:sldId id="355" r:id="rId11"/>
    <p:sldId id="356" r:id="rId12"/>
    <p:sldId id="361" r:id="rId13"/>
    <p:sldId id="357" r:id="rId14"/>
    <p:sldId id="362" r:id="rId15"/>
    <p:sldId id="358" r:id="rId16"/>
    <p:sldId id="359" r:id="rId17"/>
    <p:sldId id="360" r:id="rId18"/>
    <p:sldId id="347" r:id="rId19"/>
    <p:sldId id="348" r:id="rId20"/>
    <p:sldId id="350" r:id="rId21"/>
    <p:sldId id="363" r:id="rId22"/>
    <p:sldId id="364" r:id="rId23"/>
    <p:sldId id="365" r:id="rId24"/>
    <p:sldId id="366" r:id="rId25"/>
    <p:sldId id="351" r:id="rId26"/>
    <p:sldId id="30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273"/>
            <p14:sldId id="277"/>
            <p14:sldId id="349"/>
            <p14:sldId id="288"/>
            <p14:sldId id="352"/>
            <p14:sldId id="367"/>
            <p14:sldId id="346"/>
            <p14:sldId id="353"/>
            <p14:sldId id="354"/>
            <p14:sldId id="355"/>
            <p14:sldId id="356"/>
            <p14:sldId id="361"/>
            <p14:sldId id="357"/>
            <p14:sldId id="362"/>
            <p14:sldId id="358"/>
            <p14:sldId id="359"/>
            <p14:sldId id="360"/>
            <p14:sldId id="347"/>
            <p14:sldId id="348"/>
            <p14:sldId id="350"/>
            <p14:sldId id="363"/>
            <p14:sldId id="364"/>
            <p14:sldId id="365"/>
            <p14:sldId id="366"/>
            <p14:sldId id="351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7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3DB84-F5CE-E38C-7BAA-4B41D8C85017}" v="956" dt="2025-02-22T14:21:2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0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6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CC4-4F15-B4C0-FA25-23F163B0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E16B8-F2B4-1526-5709-8453ED3BB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706E8-FD77-99B4-AE02-BD8A07E14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6B662-9E46-01AD-4DC4-0E7FD97C4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26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E9E3F-A94F-9820-E99F-C94D497C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A8A75-FC04-BDF0-4592-43D972B04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6B685-4E56-04FA-504E-56E1696D6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AE0A-37CF-4E1A-92EC-3F5698859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98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9996-629C-AE32-E98E-AA935247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824FE-0731-88A1-AC26-4001DB08C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CC65D-B5BE-B4BF-94A7-8B149B98B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244B6-2EA2-D672-DD7C-D145C436D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47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33BE-A7A5-20BC-E96E-9BFC33D9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37EDE-6379-F807-3132-EAEC4FC04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451EF-7814-D1FA-0812-BA6578FC7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5033E-89B7-6C7A-934B-FE950F5C3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00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A0C76-5137-7114-71AA-7FD96ADE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C1D6D-72CB-25DB-F820-603113B63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EFFC1-9E33-2A02-530A-621D57D65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1C85F-D5D6-5D5C-46CD-F4C1E3CD4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93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11B5-1265-EA6A-0243-3099132F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5B083-8DC8-3CB8-900B-AFFA0C392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E3362-B026-AA5F-464C-B64938CA9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BFB04-CB42-DE1A-941E-DFEBF3712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99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FA9D-AE16-2315-982C-2AD595B9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A11B4-021A-409D-A794-14334891A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FE644-5F17-F7A0-AE38-C2685E249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16884-D434-4F76-B923-8D42FB706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37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0D968-0456-AC39-BEC2-537BE79A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76E74-64B3-FA26-942D-F802E9E9D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18E73-5626-AAC4-7307-C13730A05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9BDF-D651-89D2-6669-BD8FA18B5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4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573B-115E-8C98-1A6C-2E2819DE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8F4B7-DBC1-D60E-5C38-3C7E019D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CCBA7-D3DC-1C43-7DBE-AE4E71901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6CF4F-FEDC-6E34-1C52-EC1BB5620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62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BA06-7651-7A58-2870-ACB6DB68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0F869-2933-1254-E2EC-DB5A70B5A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F076B-FA00-7245-35F4-992AC5E10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660F3-6176-951C-4BEF-C4D4A4061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2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2DC7-EA13-4DB8-3E96-A11B6E94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9F204-5FE6-029B-5DF4-6A5D506AA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C6C36-8F10-663D-FC0D-66535572C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B4261-980B-61CD-8959-6A6C2C4CD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87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914E-0FE5-46C2-0A02-D8A0522C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9525C-FC63-10F7-B197-1EAED3359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1E6BC-239C-9E98-C2AB-D31100ED4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8B82E-DD4F-4203-53A8-8798537B7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37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3650-1958-5AF7-4784-B8F6633EA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F8859-BDE9-E608-41F7-232A5C16B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47061-4B79-F06A-3B85-28C0DB88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632AC-E4E9-36A9-D09E-80BB4EF9A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27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77AB-B667-1863-6292-06FC9C2D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D389F-00AF-DA65-13E3-AA1B919D2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84B14-79BA-C108-77AC-4DE0DBE78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C17EE-4D20-3411-213B-8DE6DDD2B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67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9AF6-BBB6-7AB1-F3C2-3AEA1A52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13F16-D4BF-97B3-68B6-F86DC034D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551AF-AAD3-01C4-3C33-BE64BF323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C5543-C0D4-A5D3-6C2D-657806878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42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06BE3-2949-9ACC-0731-716A3261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01545-1FF5-385F-A5CE-3EF42C981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F5CC9-3FF1-470A-E702-BC36FC7EE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732B9-987B-431A-0FB9-3748EC213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87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8AC91-C0F6-7965-2212-174919C2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B9AD2-FFA8-C7D3-2FB3-877FE7303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8DC14-8585-97F1-59D3-FA53F8369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2C61D-5798-02D4-5FE7-A3AC64837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42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DB17-C3E6-DD45-9755-6A0D1C52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65E8C-FC03-6532-9262-29833AB21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64A93-3BA8-9103-786A-ACA39F10C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81D8C-F13C-CA0E-F145-ABD1EC251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44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945B-509A-AB7F-2A34-9FA7FB6B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4C87D-1802-BF29-721C-3E38812F8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51CC0-1803-B1DD-2A9A-1DD1DBA51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5CCF4-6BF5-CC51-F4AE-CF7E0A42B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77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7A1F-EAA3-471B-A6B5-041D59CB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275BD-19E2-A87C-4B0F-C1EE6CFB5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6D773-97AE-E7D3-EA99-66F2F547D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F242F-A45F-9DBB-4BD6-1C2B97933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818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82C34-AF88-DE5A-4090-911084BF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49F9D-B538-E5E6-98A4-87698534F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02C43-882D-9C2F-41F9-FD1758D22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9F0BA-73F9-4801-1706-15A270437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0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377" y="2658492"/>
            <a:ext cx="8371244" cy="23133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Embedded Workshop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Final Project</a:t>
            </a:r>
          </a:p>
          <a:p>
            <a:pPr marL="0" indent="0" algn="ctr">
              <a:buNone/>
            </a:pPr>
            <a:endParaRPr lang="en-US" sz="6500" b="1" dirty="0">
              <a:solidFill>
                <a:srgbClr val="0044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4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rgbClr val="4153BA"/>
            </a:gs>
            <a:gs pos="15000">
              <a:srgbClr val="0294E0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117292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58" y="1617649"/>
            <a:ext cx="10345304" cy="3791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chemeClr val="bg1"/>
                </a:solidFill>
              </a:rPr>
              <a:t>        Smart Home Control Panel System</a:t>
            </a:r>
            <a:br>
              <a:rPr lang="en-US" sz="4900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A complete embedded system that allows the user to control home devices such as lights and fan speed using a keypad interface, while monitoring temperature and displaying all information on an LCD screen. The system also communicates with a PC through UART and stores user settings using I2C peripherals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05122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8802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" y="1287468"/>
            <a:ext cx="2720161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6CEDAB3-9B8B-1435-3769-336FC11B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81" y="2048560"/>
            <a:ext cx="10515600" cy="3945929"/>
          </a:xfrm>
        </p:spPr>
        <p:txBody>
          <a:bodyPr>
            <a:normAutofit fontScale="92500" lnSpcReduction="20000"/>
          </a:bodyPr>
          <a:lstStyle/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</a:rPr>
              <a:t>Project Description</a:t>
            </a:r>
            <a:endParaRPr lang="ar-EG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Block Diagram</a:t>
            </a:r>
            <a:endParaRPr lang="ar-EG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Hardware Components and Connections</a:t>
            </a:r>
          </a:p>
          <a:p>
            <a:r>
              <a:rPr lang="en-GB" dirty="0">
                <a:solidFill>
                  <a:schemeClr val="bg1"/>
                </a:solidFill>
              </a:rPr>
              <a:t>Used Peripherals</a:t>
            </a:r>
          </a:p>
          <a:p>
            <a:r>
              <a:rPr lang="en-GB" dirty="0">
                <a:solidFill>
                  <a:schemeClr val="bg1"/>
                </a:solidFill>
              </a:rPr>
              <a:t>System Features</a:t>
            </a:r>
          </a:p>
          <a:p>
            <a:r>
              <a:rPr lang="en-GB" dirty="0">
                <a:solidFill>
                  <a:schemeClr val="bg1"/>
                </a:solidFill>
              </a:rPr>
              <a:t>Example Scenario</a:t>
            </a:r>
          </a:p>
          <a:p>
            <a:r>
              <a:rPr lang="en-GB" dirty="0">
                <a:solidFill>
                  <a:schemeClr val="bg1"/>
                </a:solidFill>
              </a:rPr>
              <a:t>Submission Requirements</a:t>
            </a:r>
          </a:p>
          <a:p>
            <a:r>
              <a:rPr lang="en-GB" dirty="0">
                <a:solidFill>
                  <a:schemeClr val="bg1"/>
                </a:solidFill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7822730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80FC8F-95D8-76A9-EA35-0CDCB88DCB4C}"/>
              </a:ext>
            </a:extLst>
          </p:cNvPr>
          <p:cNvSpPr txBox="1"/>
          <p:nvPr/>
        </p:nvSpPr>
        <p:spPr>
          <a:xfrm>
            <a:off x="595160" y="1261645"/>
            <a:ext cx="1090095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</a:t>
            </a:r>
            <a:r>
              <a:rPr lang="en-US" sz="2800" b="1" dirty="0"/>
              <a:t>Smart Home Control Panel</a:t>
            </a:r>
            <a:r>
              <a:rPr lang="en-US" sz="2800" dirty="0"/>
              <a:t> is an embedded system based on the </a:t>
            </a:r>
            <a:r>
              <a:rPr lang="en-US" sz="2800" b="1" dirty="0"/>
              <a:t>ATmega32 microcontroller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The user can: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Enter commands using a keypad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View real-time system status on an LCD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Control devices like lights and fan using PWM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Monitor temperature using an analog sensor (ADC)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Communicate with a computer via UART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Save settings and time information using I2C modules</a:t>
            </a:r>
          </a:p>
          <a:p>
            <a:pPr>
              <a:buNone/>
            </a:pPr>
            <a:r>
              <a:rPr lang="en-US" sz="2800" dirty="0"/>
              <a:t>This project demonstrates the integration of multiple ATmega32 peripherals in one complete application.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739F255-03E5-3F41-2995-BDBDFB108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164" y="321747"/>
            <a:ext cx="55978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5729930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A54A-2456-803A-B364-B89EA58D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4D6903A-E479-5307-3E75-16B3FC949F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C06D290-9CB7-590E-09DC-9DFC2371780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E3EA10-EEEB-FDDB-FE6C-E3E6FAD906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641FE8-5529-E34C-D72E-AB3F28353AF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272B81-FBEA-D73D-079A-BFA26D024E19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22C6A8-4600-59D2-9C81-8D43CB2305B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2DCA10E-3546-9AAB-847D-DFEB8C6EF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7A563B-C9ED-6BE2-C645-EA99E8567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8ADF49-5648-C7C9-58A0-7C4C473A60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36F9725-54E8-D00A-1AE9-0489A93E00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A74D127C-C4DD-598A-048D-A5FAD5BF72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A987CCC-A19A-9397-376D-4698AB0F04C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3734FEF2-9A57-BE78-6788-C5DDAFEFE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20" y="217755"/>
            <a:ext cx="424436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Block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C18346-A3F2-8DAA-260D-E129169A0B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5242" y="1048752"/>
            <a:ext cx="7654608" cy="51137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F9AFB6-89AE-53A9-9A6A-F7E724FE36FF}"/>
              </a:ext>
            </a:extLst>
          </p:cNvPr>
          <p:cNvSpPr/>
          <p:nvPr/>
        </p:nvSpPr>
        <p:spPr>
          <a:xfrm>
            <a:off x="7663070" y="3429000"/>
            <a:ext cx="1739347" cy="1540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2EAD27-C083-07B9-540F-914D96146069}"/>
              </a:ext>
            </a:extLst>
          </p:cNvPr>
          <p:cNvSpPr/>
          <p:nvPr/>
        </p:nvSpPr>
        <p:spPr>
          <a:xfrm>
            <a:off x="6987540" y="3605631"/>
            <a:ext cx="1000888" cy="71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847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8AFC-9B21-E3B8-16D7-9265F863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C10AF12-E658-D177-D2A5-31B628686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2E87A70-4FA9-7B15-ABC6-CC073E1602F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A6C8C-676A-15A6-7F1A-3B82E2AEFB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86BA8F-3745-370A-1F9A-8137F3A96F5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7DD158-DD8E-5AC3-0C3A-3A7FB054D5F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26A658-74F1-9532-0B0F-84E5C85AF3F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E9B80D9-1D77-5791-92AE-C73BD046D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27FA12-1181-2D8F-8019-2539052F4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4C3FBF-16F2-7B9D-5E20-1A6F4A9E38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CA6DCAC-9057-7ED1-2FED-95EF9FA92E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B156FF53-26A9-C4CF-C03C-667941FA23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5F0D891-47F6-DE76-DDFB-9AED97AE50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D39BEB-EBD8-4E64-F822-280E67301E2D}"/>
              </a:ext>
            </a:extLst>
          </p:cNvPr>
          <p:cNvSpPr/>
          <p:nvPr/>
        </p:nvSpPr>
        <p:spPr>
          <a:xfrm>
            <a:off x="1222638" y="1315045"/>
            <a:ext cx="9723586" cy="1170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Application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2D98D8-42D8-EA8B-7DA1-D580841DF8C3}"/>
              </a:ext>
            </a:extLst>
          </p:cNvPr>
          <p:cNvSpPr/>
          <p:nvPr/>
        </p:nvSpPr>
        <p:spPr>
          <a:xfrm>
            <a:off x="1222637" y="2961949"/>
            <a:ext cx="9723588" cy="1170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14E757-938D-AFCA-FF15-436ADB67B7E0}"/>
              </a:ext>
            </a:extLst>
          </p:cNvPr>
          <p:cNvSpPr/>
          <p:nvPr/>
        </p:nvSpPr>
        <p:spPr>
          <a:xfrm>
            <a:off x="1373021" y="3204068"/>
            <a:ext cx="1582993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LCD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47D9E6-2765-E44B-F47D-CD4517EF3D4E}"/>
              </a:ext>
            </a:extLst>
          </p:cNvPr>
          <p:cNvSpPr/>
          <p:nvPr/>
        </p:nvSpPr>
        <p:spPr>
          <a:xfrm>
            <a:off x="3048847" y="3204068"/>
            <a:ext cx="2005528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Keypad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82CF35-BB11-591C-3165-2F0B82CD776F}"/>
              </a:ext>
            </a:extLst>
          </p:cNvPr>
          <p:cNvSpPr/>
          <p:nvPr/>
        </p:nvSpPr>
        <p:spPr>
          <a:xfrm>
            <a:off x="5147208" y="3204068"/>
            <a:ext cx="1681063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Motor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35A797-7004-B668-E36C-949EB81EF459}"/>
              </a:ext>
            </a:extLst>
          </p:cNvPr>
          <p:cNvSpPr/>
          <p:nvPr/>
        </p:nvSpPr>
        <p:spPr>
          <a:xfrm>
            <a:off x="6885392" y="3204068"/>
            <a:ext cx="1582993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LM35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899D29-17A7-610E-493B-6561CEFEFF94}"/>
              </a:ext>
            </a:extLst>
          </p:cNvPr>
          <p:cNvSpPr/>
          <p:nvPr/>
        </p:nvSpPr>
        <p:spPr>
          <a:xfrm>
            <a:off x="8525582" y="3204068"/>
            <a:ext cx="2272477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EEPROM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FBB61F-8BDA-79BA-5554-8354962ADE21}"/>
              </a:ext>
            </a:extLst>
          </p:cNvPr>
          <p:cNvSpPr/>
          <p:nvPr/>
        </p:nvSpPr>
        <p:spPr>
          <a:xfrm>
            <a:off x="1222637" y="4609565"/>
            <a:ext cx="9723588" cy="1170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398CA1-31F4-11C9-CB3B-B23F25E18DE6}"/>
              </a:ext>
            </a:extLst>
          </p:cNvPr>
          <p:cNvSpPr/>
          <p:nvPr/>
        </p:nvSpPr>
        <p:spPr>
          <a:xfrm>
            <a:off x="1454733" y="4851684"/>
            <a:ext cx="1582993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GPIO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F691BEC-B0F7-68B0-46F1-C9103565D31C}"/>
              </a:ext>
            </a:extLst>
          </p:cNvPr>
          <p:cNvSpPr/>
          <p:nvPr/>
        </p:nvSpPr>
        <p:spPr>
          <a:xfrm>
            <a:off x="3132391" y="4851684"/>
            <a:ext cx="1582993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PWM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88F1A1-D946-7D82-2C15-290896D383A0}"/>
              </a:ext>
            </a:extLst>
          </p:cNvPr>
          <p:cNvSpPr/>
          <p:nvPr/>
        </p:nvSpPr>
        <p:spPr>
          <a:xfrm>
            <a:off x="4810049" y="4851684"/>
            <a:ext cx="1308502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ADC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EE080C5-0827-DAD9-8D6E-9E591A70FF7C}"/>
              </a:ext>
            </a:extLst>
          </p:cNvPr>
          <p:cNvSpPr/>
          <p:nvPr/>
        </p:nvSpPr>
        <p:spPr>
          <a:xfrm>
            <a:off x="6243571" y="4851684"/>
            <a:ext cx="1511679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UART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B35F44C-2A9F-7077-1FEA-6FB4174CED41}"/>
              </a:ext>
            </a:extLst>
          </p:cNvPr>
          <p:cNvSpPr/>
          <p:nvPr/>
        </p:nvSpPr>
        <p:spPr>
          <a:xfrm>
            <a:off x="7860949" y="4851684"/>
            <a:ext cx="1088984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I2C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7089155-9BEF-66D1-E9FE-E33A8E3EAC3E}"/>
              </a:ext>
            </a:extLst>
          </p:cNvPr>
          <p:cNvSpPr/>
          <p:nvPr/>
        </p:nvSpPr>
        <p:spPr>
          <a:xfrm>
            <a:off x="9055633" y="4851684"/>
            <a:ext cx="1654466" cy="685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154758289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28FC-F40F-F039-29A1-DCDCF07F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6D1086C-BA73-AF19-9458-5799009969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2C8851-4774-721F-C215-CFCD8074C2C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FD59DC-979E-DA2E-8797-3086FF8537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48FF0D-2926-444A-FBFC-9FB8F217579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F2A514-5ACA-0C89-5D43-9EA40456171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CA96C50-A379-823E-A15B-CAFCD207DD9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2CCD75A-736E-4B28-32F4-7DC0B4E33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339DA31-EB75-3419-E8E3-512699526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C32A8E-441E-3FD9-0007-3B5AFF163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A4D4FD6-3EBD-4E30-B1AC-F850941FCF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507C9886-5583-158F-D807-8976BFD16F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6E16260-736E-B7E9-580D-C0036BED1BD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0CBD1C3A-F4A4-0CC0-F46F-7CADE2CA5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03" y="525728"/>
            <a:ext cx="92291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Hardware Components and Connections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DCFC0-6C72-DBCE-CF6A-94A8BAA8AE61}"/>
              </a:ext>
            </a:extLst>
          </p:cNvPr>
          <p:cNvSpPr txBox="1"/>
          <p:nvPr/>
        </p:nvSpPr>
        <p:spPr>
          <a:xfrm>
            <a:off x="747412" y="2586060"/>
            <a:ext cx="1281192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Microcontroller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ATmega32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Operates as the main processing and control unit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Utilizes GPIO, ADC, Timers, UART, and I2C peripherals</a:t>
            </a:r>
            <a:endParaRPr lang="ar-EG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412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D7A4-4780-88C2-6D06-ED0D49F1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2EF665F-A15B-5534-10A5-BDB8B3AF2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B050310-B705-886B-D6D8-3C434AD8380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3FC8D9-91B0-E87A-D5DB-848473E49F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2AD1BE-5B5F-E628-E6A5-9542D746076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A89882-EA3A-1817-4FED-8FAFE21EAA2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86BCEAA-5C63-D09C-9902-18090B71E82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02881EB-E28E-4BDA-0BC4-A270AB3ED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C749E51-9C74-52FD-97AC-56494F4E8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DBE22D2-2A1E-44FA-F6AC-7D51C83B4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363C6-DDB9-5B59-98C5-F784749C41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20C9F57-6734-350D-20A2-B30DE0AB08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65D8B6C-9BE8-F4D1-21F6-9688ADD7CCB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8FA12-F916-2A62-627C-6B1BB3182C82}"/>
              </a:ext>
            </a:extLst>
          </p:cNvPr>
          <p:cNvSpPr txBox="1"/>
          <p:nvPr/>
        </p:nvSpPr>
        <p:spPr>
          <a:xfrm>
            <a:off x="878487" y="1295994"/>
            <a:ext cx="10082612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User Input Interface (Keypad)</a:t>
            </a:r>
          </a:p>
          <a:p>
            <a:r>
              <a:rPr lang="en-US" sz="2800" dirty="0"/>
              <a:t>A </a:t>
            </a:r>
            <a:r>
              <a:rPr lang="en-US" sz="2800" b="1" dirty="0"/>
              <a:t>4×4 keypad</a:t>
            </a:r>
            <a:r>
              <a:rPr lang="en-US" sz="2800" dirty="0"/>
              <a:t> is used as the main user input device.</a:t>
            </a:r>
          </a:p>
          <a:p>
            <a:r>
              <a:rPr lang="en-US" sz="2800" dirty="0"/>
              <a:t>Connected to digital I/O pins</a:t>
            </a:r>
          </a:p>
          <a:p>
            <a:r>
              <a:rPr lang="en-US" sz="2800" dirty="0"/>
              <a:t>Configured using row–column scanning</a:t>
            </a:r>
          </a:p>
          <a:p>
            <a:r>
              <a:rPr lang="en-US" sz="2800" dirty="0"/>
              <a:t>Allows the user to: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Navigate the menu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Enter commands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Control LEDs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Adjust fan speed</a:t>
            </a:r>
          </a:p>
          <a:p>
            <a:r>
              <a:rPr lang="en-US" sz="2800" dirty="0"/>
              <a:t>Keypad scanning is performed periodically by the microcontroller using polling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3018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A075-6643-F51B-A784-15F24790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8F972FB4-C05A-00D1-D25B-4CB1F6F62A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C2F2E97-FAA8-A30F-D82A-26F386762C3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9066A7-9C49-EDB1-BD89-6C0646E379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4594F1-5A61-D6C9-724D-518358F099D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63C0FC-10B9-B6DF-3A8A-381633D7795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25A062-DFF7-4CE1-15E5-3A7B09D99D8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79C98C6-2728-6537-8BFF-0C0B5D0FCA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56C82C-5C5E-DF88-D082-DA1CCC4DD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644A9C6-5C32-B88D-A81B-4FF4658593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F09C570-69A3-02B0-BF08-8A24491CDD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88FB3EE-BE0A-B9BB-4829-79949A72C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56F9895-4645-600B-AEC9-35C3E8487AE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C203E7-2572-6FA1-CA06-96FC12BCF985}"/>
              </a:ext>
            </a:extLst>
          </p:cNvPr>
          <p:cNvSpPr txBox="1"/>
          <p:nvPr/>
        </p:nvSpPr>
        <p:spPr>
          <a:xfrm>
            <a:off x="1137168" y="1251459"/>
            <a:ext cx="963401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Display Interface (LCD)</a:t>
            </a:r>
          </a:p>
          <a:p>
            <a:pPr>
              <a:buNone/>
            </a:pPr>
            <a:r>
              <a:rPr lang="en-US" sz="2800" dirty="0"/>
              <a:t>A </a:t>
            </a:r>
            <a:r>
              <a:rPr lang="en-US" sz="2800" b="1" dirty="0"/>
              <a:t>16×2 character LCD</a:t>
            </a:r>
            <a:r>
              <a:rPr lang="en-US" sz="2800" dirty="0"/>
              <a:t> is used to display system information.</a:t>
            </a:r>
          </a:p>
          <a:p>
            <a:r>
              <a:rPr lang="en-US" sz="2800" dirty="0"/>
              <a:t>Displays: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Welcome screen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Menu options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LED status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Fan speed level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/>
              <a:t>Real-time temperature</a:t>
            </a:r>
          </a:p>
          <a:p>
            <a:r>
              <a:rPr lang="en-US" sz="2800" dirty="0"/>
              <a:t>Connected in 4-bit or 8-bit mode</a:t>
            </a:r>
          </a:p>
          <a:p>
            <a:r>
              <a:rPr lang="en-US" sz="2800" dirty="0"/>
              <a:t>Controlled through GPIO pins</a:t>
            </a:r>
          </a:p>
          <a:p>
            <a:r>
              <a:rPr lang="en-US" sz="2800" dirty="0"/>
              <a:t>The LCD provides continuous feedback to the user.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20428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54CD-D0D3-1318-9E61-46C8890F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EC730A7-7764-FF65-AB99-0E31895CB7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D021007-8DDB-9A25-D14F-11CC83D6D3A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40856A-61DF-2DF5-876B-AB340DAE8A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AD3C1F-E457-BFBA-FCDD-780ADE80BB0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E9B141-F684-86A9-76ED-CCCCE84BF734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E7C04FC-F538-A647-583C-547C5D57603C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6059616-F7F7-34A7-46D7-4F9F56E41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BE60730-876F-22A7-8840-D2D95D041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0307EC9-176A-011A-2357-6C638925A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C090797-374F-9940-FE45-C2CF5D6AAC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4921CF9-D3C2-C0EA-388E-BF5101376B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9D00078-7D23-9893-AA79-EF02861379D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7B4D54-F2EE-7869-074D-53BB601E3B88}"/>
              </a:ext>
            </a:extLst>
          </p:cNvPr>
          <p:cNvSpPr txBox="1"/>
          <p:nvPr/>
        </p:nvSpPr>
        <p:spPr>
          <a:xfrm>
            <a:off x="983075" y="1439606"/>
            <a:ext cx="963401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Temperature Monitoring (ADC)</a:t>
            </a:r>
          </a:p>
          <a:p>
            <a:r>
              <a:rPr lang="en-US" sz="2800" dirty="0"/>
              <a:t>Temperature is measured using an </a:t>
            </a:r>
            <a:r>
              <a:rPr lang="en-US" sz="2800" b="1" dirty="0"/>
              <a:t>analog temperature sensor</a:t>
            </a:r>
            <a:r>
              <a:rPr lang="en-US" sz="2800" dirty="0"/>
              <a:t> connected to the ADC module.</a:t>
            </a:r>
          </a:p>
          <a:p>
            <a:r>
              <a:rPr lang="en-US" sz="2800" dirty="0"/>
              <a:t>Sensor output is an analog voltage</a:t>
            </a:r>
          </a:p>
          <a:p>
            <a:r>
              <a:rPr lang="en-US" sz="2800" dirty="0"/>
              <a:t>Connected to one ADC channel</a:t>
            </a:r>
          </a:p>
          <a:p>
            <a:r>
              <a:rPr lang="en-US" sz="2800" dirty="0"/>
              <a:t>ADC converts the signal into a digital value</a:t>
            </a:r>
          </a:p>
          <a:p>
            <a:r>
              <a:rPr lang="en-US" sz="2800" dirty="0"/>
              <a:t>Temperature is: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Displayed on the LCD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Sent to the PC through UART</a:t>
            </a:r>
          </a:p>
          <a:p>
            <a:r>
              <a:rPr lang="en-US" sz="2800" dirty="0"/>
              <a:t>ADC sampling is performed periodically.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474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23D6-E80E-5FD5-603F-BFE0F753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0E2044AA-B678-8848-3743-6628093DC4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A14456B-F208-3056-4619-5A059885B27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A63C60-FDBF-22B5-E5B3-44A8D166C0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7288CD-2175-C1AC-29BD-3B5FFC8279E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ED943E-5C82-1B73-3EF6-A9A7F4BC450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C30BCC9-7BB4-06AD-E20E-4F57712B1CCC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883649C-9F6A-2A6D-6A6F-8633FA6C74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260B2E7-D52D-24FC-A81F-06493859FA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C13A14B-ED53-39DB-56D4-3F645F60E2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DE8F76B7-F42E-1AE8-C8DC-CDB95833D2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8D8CF21-8B79-6DA8-9B98-F7C6748BAC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A1146FD-7CD5-56CD-FF6D-116F6344E8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925F3-A3AB-8C2D-DB2F-F6C5EDAF34B9}"/>
              </a:ext>
            </a:extLst>
          </p:cNvPr>
          <p:cNvSpPr txBox="1"/>
          <p:nvPr/>
        </p:nvSpPr>
        <p:spPr>
          <a:xfrm>
            <a:off x="983075" y="1261645"/>
            <a:ext cx="963401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Lighting Control (LEDs)</a:t>
            </a:r>
          </a:p>
          <a:p>
            <a:r>
              <a:rPr lang="en-US" sz="2800" dirty="0"/>
              <a:t>The system controls </a:t>
            </a:r>
            <a:r>
              <a:rPr lang="en-US" sz="2800" b="1" dirty="0"/>
              <a:t>three LEDs</a:t>
            </a:r>
            <a:r>
              <a:rPr lang="en-US" sz="2800" dirty="0"/>
              <a:t>, each representing an independent lighting unit.</a:t>
            </a:r>
          </a:p>
          <a:p>
            <a:r>
              <a:rPr lang="en-US" sz="2800" dirty="0"/>
              <a:t>Each LED is connected to a </a:t>
            </a:r>
            <a:r>
              <a:rPr lang="en-US" sz="2800" b="1" dirty="0"/>
              <a:t>dedicated GPIO output pin</a:t>
            </a:r>
            <a:endParaRPr lang="en-US" sz="2800" dirty="0"/>
          </a:p>
          <a:p>
            <a:r>
              <a:rPr lang="en-US" sz="2800" dirty="0"/>
              <a:t>LEDs can be: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Turned ON or OFF individually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Controlled through keypad commands</a:t>
            </a:r>
          </a:p>
          <a:p>
            <a:r>
              <a:rPr lang="en-US" sz="2800" dirty="0"/>
              <a:t>LED states are: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Displayed on the LCD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Stored in EEPROM</a:t>
            </a:r>
          </a:p>
          <a:p>
            <a:r>
              <a:rPr lang="en-US" sz="2800" dirty="0"/>
              <a:t>This demonstrates basic digital output control.</a:t>
            </a:r>
          </a:p>
        </p:txBody>
      </p:sp>
    </p:spTree>
    <p:extLst>
      <p:ext uri="{BB962C8B-B14F-4D97-AF65-F5344CB8AC3E}">
        <p14:creationId xmlns:p14="http://schemas.microsoft.com/office/powerpoint/2010/main" val="152952981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A2CA-AB1F-258E-B304-4B0588A96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91722DB-234D-2B26-18C5-85CFFEFDC6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71BF5C7-36ED-76CE-DDF1-84565F5724F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EB5773-62B5-D4B3-48E8-3383889091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DA40AE-3C67-2865-07BF-2819FC92A9B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EB2FA2-3D1E-A3CF-5435-CAFA55620B1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10BE42-5E3F-1B0A-55F2-EF501E9EE2C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DA092A8-7DF1-E53A-CF31-296C8C12C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D5EB6C1-3649-42A9-3AF2-7F9133ADA4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E195A6A-A286-5A6C-6397-5F72953D2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1DB0DAE-A208-3572-52AC-583F15CE56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2468A1D-DA60-5509-21AD-9E4F966496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C7A93D7-721D-E7F8-08CF-926981180C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5C9A60-36F1-6BD8-9397-EB711614574D}"/>
              </a:ext>
            </a:extLst>
          </p:cNvPr>
          <p:cNvSpPr txBox="1"/>
          <p:nvPr/>
        </p:nvSpPr>
        <p:spPr>
          <a:xfrm>
            <a:off x="857916" y="1407295"/>
            <a:ext cx="110854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LED Control Details (With Temperature Ranges)</a:t>
            </a:r>
          </a:p>
          <a:p>
            <a:r>
              <a:rPr lang="en-US" sz="2400" dirty="0"/>
              <a:t>The system uses </a:t>
            </a:r>
            <a:r>
              <a:rPr lang="en-US" sz="2400" b="1" dirty="0"/>
              <a:t>three LEDs</a:t>
            </a:r>
            <a:r>
              <a:rPr lang="en-US" sz="2400" dirty="0"/>
              <a:t>, each indicating a specific temperature range: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Green LED (Low Temperature)</a:t>
            </a:r>
            <a:br>
              <a:rPr lang="en-US" sz="2400" dirty="0"/>
            </a:br>
            <a:r>
              <a:rPr lang="en-US" sz="2400" dirty="0"/>
              <a:t>Turns </a:t>
            </a:r>
            <a:r>
              <a:rPr lang="en-US" sz="2400" b="1" dirty="0"/>
              <a:t>ON</a:t>
            </a:r>
            <a:r>
              <a:rPr lang="en-US" sz="2400" dirty="0"/>
              <a:t> when the temperature is </a:t>
            </a:r>
            <a:r>
              <a:rPr lang="en-US" sz="2400" b="1" dirty="0"/>
              <a:t>below 25°C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This indicates safe and normal operating conditions.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Yellow LED (Medium Temperature)</a:t>
            </a:r>
            <a:br>
              <a:rPr lang="en-US" sz="2400" dirty="0"/>
            </a:br>
            <a:r>
              <a:rPr lang="en-US" sz="2400" dirty="0"/>
              <a:t>Turns </a:t>
            </a:r>
            <a:r>
              <a:rPr lang="en-US" sz="2400" b="1" dirty="0"/>
              <a:t>ON</a:t>
            </a:r>
            <a:r>
              <a:rPr lang="en-US" sz="2400" dirty="0"/>
              <a:t> when the temperature is </a:t>
            </a:r>
            <a:r>
              <a:rPr lang="en-US" sz="2400" b="1" dirty="0"/>
              <a:t>between 25°C and 35°C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This represents a moderate temperature level.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Red LED (High Temperature Warning)</a:t>
            </a:r>
            <a:br>
              <a:rPr lang="en-US" sz="2400" dirty="0"/>
            </a:br>
            <a:r>
              <a:rPr lang="en-US" sz="2400" dirty="0"/>
              <a:t>Turns </a:t>
            </a:r>
            <a:r>
              <a:rPr lang="en-US" sz="2400" b="1" dirty="0"/>
              <a:t>ON</a:t>
            </a:r>
            <a:r>
              <a:rPr lang="en-US" sz="2400" dirty="0"/>
              <a:t> when the temperature is </a:t>
            </a:r>
            <a:r>
              <a:rPr lang="en-US" sz="2400" b="1" dirty="0"/>
              <a:t>above 35°C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This indicates overheating and triggers a warning condition.</a:t>
            </a:r>
          </a:p>
          <a:p>
            <a:r>
              <a:rPr lang="en-US" sz="2400" dirty="0"/>
              <a:t>Only </a:t>
            </a:r>
            <a:r>
              <a:rPr lang="en-US" sz="2400" b="1" dirty="0"/>
              <a:t>one LED is active at a time</a:t>
            </a:r>
            <a:r>
              <a:rPr lang="en-US" sz="2400" dirty="0"/>
              <a:t> based on the current temperature reading.</a:t>
            </a:r>
          </a:p>
        </p:txBody>
      </p:sp>
    </p:spTree>
    <p:extLst>
      <p:ext uri="{BB962C8B-B14F-4D97-AF65-F5344CB8AC3E}">
        <p14:creationId xmlns:p14="http://schemas.microsoft.com/office/powerpoint/2010/main" val="204307294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6F4E-38A9-A349-1D01-2A6899F1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7AFE38A-F03D-EDAC-8496-8E7D7CCD81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3A684EB-E685-C47C-AE66-6CCFAB712BA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AE2845-8529-C5D0-2F27-7C25EAE79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F0C86C-E518-38AD-F5A0-C27613CF6E6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F3EB07-2137-6F54-0832-2FFA176EF72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B6B5C55-7329-3348-1EF5-B317EA7A181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B29DB0-3EFB-CE8E-CD12-FA1F207E3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EE425E-8918-AC9E-F813-C6C6B4D74B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EED785-1B5B-E06D-3516-495F9A55AE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EE8692B-D136-091E-F829-A5250B300C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D319893C-251B-7B48-C9F3-2A8DE44DE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720CB2F-28A4-C8BF-FA2D-34DB787BBE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0CD5C9-5852-6194-54F7-47142DC1E6FE}"/>
              </a:ext>
            </a:extLst>
          </p:cNvPr>
          <p:cNvSpPr txBox="1"/>
          <p:nvPr/>
        </p:nvSpPr>
        <p:spPr>
          <a:xfrm>
            <a:off x="751393" y="1606739"/>
            <a:ext cx="108770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Fan Control (PWM)</a:t>
            </a:r>
          </a:p>
          <a:p>
            <a:r>
              <a:rPr lang="en-US" sz="2800" dirty="0"/>
              <a:t>Fan speed control is implemented using </a:t>
            </a:r>
            <a:r>
              <a:rPr lang="en-US" sz="2800" b="1" dirty="0"/>
              <a:t>Pulse Width Modulation (PWM)</a:t>
            </a:r>
            <a:r>
              <a:rPr lang="en-US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 fan is driven using a PWM output from one of the ATmega32 timers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Fan speed is controlled by adjusting the </a:t>
            </a:r>
            <a:r>
              <a:rPr lang="en-US" sz="2800" b="1" dirty="0"/>
              <a:t>PWM duty cycle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Multiple speed levels are available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Speed is selected via the keypad and displayed on the LCD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PWM provides efficient and smooth speed control.</a:t>
            </a:r>
          </a:p>
        </p:txBody>
      </p:sp>
    </p:spTree>
    <p:extLst>
      <p:ext uri="{BB962C8B-B14F-4D97-AF65-F5344CB8AC3E}">
        <p14:creationId xmlns:p14="http://schemas.microsoft.com/office/powerpoint/2010/main" val="116321994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561A-755B-D56C-3778-A9CE049F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3A850D9-59D5-813D-A342-7E3C4F979B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0AAC7E6-2F9C-D5FF-9368-FAC8D158C84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2B6E35-6B06-A150-577F-0492112FF2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CFE23C-6493-7275-950B-16841C07154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5D4F7C-26AE-029A-F4F9-3194C796B3C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5BC107F-740B-1FCA-AB9C-25B70C47CC1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E1A275-00F9-4156-C4DA-44FF4DCF5A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8381417-972B-3BF2-717E-0C8F9AC78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1F55501-ED14-D827-8A21-450E2E20A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B0FAC-6928-6C83-1FA4-B18A7B3C2A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B1532A31-68B1-00AE-B369-620C48C520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2D55840-59EC-64A9-BA96-15F92359AD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144F9B-E7CD-E166-8CE7-02EBEF7E5C14}"/>
              </a:ext>
            </a:extLst>
          </p:cNvPr>
          <p:cNvSpPr txBox="1"/>
          <p:nvPr/>
        </p:nvSpPr>
        <p:spPr>
          <a:xfrm>
            <a:off x="751392" y="1237537"/>
            <a:ext cx="111404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b="1" dirty="0"/>
              <a:t>Fan Control and Temperature Relation (With PWM Ranges)</a:t>
            </a:r>
          </a:p>
          <a:p>
            <a:r>
              <a:rPr lang="en-US" sz="2000" dirty="0"/>
              <a:t>The fan speed is automatically controlled based on the temperature using </a:t>
            </a:r>
            <a:r>
              <a:rPr lang="en-US" sz="2000" b="1" dirty="0"/>
              <a:t>PWM</a:t>
            </a:r>
            <a:r>
              <a:rPr lang="en-US" sz="20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Temperature &lt; 25°C</a:t>
            </a:r>
            <a:br>
              <a:rPr lang="en-US" sz="2000" dirty="0"/>
            </a:br>
            <a:r>
              <a:rPr lang="en-US" sz="2000" dirty="0"/>
              <a:t>Fan runs at </a:t>
            </a:r>
            <a:r>
              <a:rPr lang="en-US" sz="2000" b="1" dirty="0"/>
              <a:t>low speed</a:t>
            </a:r>
            <a:br>
              <a:rPr lang="en-US" sz="2000" dirty="0"/>
            </a:br>
            <a:r>
              <a:rPr lang="en-US" sz="2000" dirty="0"/>
              <a:t>PWM duty cycle ≈ </a:t>
            </a:r>
            <a:r>
              <a:rPr lang="en-US" sz="2000" b="1" dirty="0"/>
              <a:t>30%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Temperature between 25°C and 35°C</a:t>
            </a:r>
            <a:br>
              <a:rPr lang="en-US" sz="2000" dirty="0"/>
            </a:br>
            <a:r>
              <a:rPr lang="en-US" sz="2000" dirty="0"/>
              <a:t>Fan runs at </a:t>
            </a:r>
            <a:r>
              <a:rPr lang="en-US" sz="2000" b="1" dirty="0"/>
              <a:t>medium speed</a:t>
            </a:r>
            <a:br>
              <a:rPr lang="en-US" sz="2000" dirty="0"/>
            </a:br>
            <a:r>
              <a:rPr lang="en-US" sz="2000" dirty="0"/>
              <a:t>PWM duty cycle ≈ </a:t>
            </a:r>
            <a:r>
              <a:rPr lang="en-US" sz="2000" b="1" dirty="0"/>
              <a:t>60%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Temperature &gt; 35°C</a:t>
            </a:r>
            <a:br>
              <a:rPr lang="en-US" sz="2000" dirty="0"/>
            </a:br>
            <a:r>
              <a:rPr lang="en-US" sz="2000" dirty="0"/>
              <a:t>Fan runs at </a:t>
            </a:r>
            <a:r>
              <a:rPr lang="en-US" sz="2000" b="1" dirty="0"/>
              <a:t>maximum speed</a:t>
            </a:r>
            <a:br>
              <a:rPr lang="en-US" sz="2000" dirty="0"/>
            </a:br>
            <a:r>
              <a:rPr lang="en-US" sz="2000" dirty="0"/>
              <a:t>PWM duty cycle ≈ </a:t>
            </a:r>
            <a:r>
              <a:rPr lang="en-US" sz="2000" b="1" dirty="0"/>
              <a:t>90–100%</a:t>
            </a:r>
            <a:endParaRPr lang="en-US" sz="2000" dirty="0"/>
          </a:p>
          <a:p>
            <a:r>
              <a:rPr lang="en-US" sz="2000" dirty="0"/>
              <a:t>This temperature-based control ensures efficient cooling while minimizing noise and power</a:t>
            </a:r>
            <a:r>
              <a:rPr lang="ar-EG" sz="2000" dirty="0"/>
              <a:t> </a:t>
            </a:r>
            <a:r>
              <a:rPr lang="en-US" sz="2000" dirty="0"/>
              <a:t>consumption.</a:t>
            </a:r>
            <a:br>
              <a:rPr lang="en-US" sz="2000" dirty="0"/>
            </a:br>
            <a:r>
              <a:rPr lang="en-US" sz="2000" dirty="0"/>
              <a:t>The fan speed and temperature are continuously displayed on the LCD and transmitted to the PC via UART.</a:t>
            </a:r>
          </a:p>
        </p:txBody>
      </p:sp>
    </p:spTree>
    <p:extLst>
      <p:ext uri="{BB962C8B-B14F-4D97-AF65-F5344CB8AC3E}">
        <p14:creationId xmlns:p14="http://schemas.microsoft.com/office/powerpoint/2010/main" val="383254213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0517-6789-AB6A-A440-BC823BE0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EE766FA-EAC6-1FD8-0089-B6915AF41B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93536E1-7A08-1C76-1BFA-6116E68CB6F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17F4A6-04A0-017E-2015-2588F57E3C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875AEB-439C-68CE-C1F2-6BF197BC0F0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11DB9F-63A3-C009-B17E-C01C8EE92BA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B16B02C-98EB-BE75-E452-7B58CABA93E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C3DDEBB-1897-0707-71E8-F7F3E17DBF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CDC3A-37D5-9E81-D39F-2D227323D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5A5B3F-3004-F25F-4D7E-EFFD45E631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F246153-A04C-8E68-44A7-D51199B52F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E4FB79B1-2A36-27B2-E7A9-6B5697FFD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96FB862-6E50-A4B5-BFBB-00AAA961F02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F42A20-BDD8-23BB-DC27-3D5C89E6B08C}"/>
              </a:ext>
            </a:extLst>
          </p:cNvPr>
          <p:cNvSpPr txBox="1"/>
          <p:nvPr/>
        </p:nvSpPr>
        <p:spPr>
          <a:xfrm>
            <a:off x="751393" y="1378399"/>
            <a:ext cx="108770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UART Communication</a:t>
            </a:r>
          </a:p>
          <a:p>
            <a:r>
              <a:rPr lang="en-US" sz="2800" dirty="0"/>
              <a:t>UART is used to communicate with a PC terminal.</a:t>
            </a:r>
          </a:p>
          <a:p>
            <a:r>
              <a:rPr lang="en-US" sz="2800" dirty="0"/>
              <a:t>Baud rate configured in software</a:t>
            </a:r>
          </a:p>
          <a:p>
            <a:r>
              <a:rPr lang="en-US" sz="2800" dirty="0"/>
              <a:t>System sends: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Temperature readings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LED status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Fan speed</a:t>
            </a:r>
          </a:p>
          <a:p>
            <a:r>
              <a:rPr lang="en-US" sz="2800" dirty="0"/>
              <a:t>Used for monitoring and debugging</a:t>
            </a:r>
          </a:p>
          <a:p>
            <a:r>
              <a:rPr lang="en-US" sz="2800" dirty="0"/>
              <a:t>Communication is unidirectional or bidirectional depending on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8418566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1907-C2FB-3C3E-FAD9-24493B48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FCDEF2C-9272-BB4A-7B3A-8408047EE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9731FFF-AE5F-8AB0-E922-287FA5C3D40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35C670-2199-FA01-3F4C-D1C8BA47A7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77A074-ED76-5EBC-5BB0-D41D0161CBD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FC71C1-151E-74C4-A70C-54F1960C34C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B5BEF35-B57D-8107-1539-782D8E31478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67B8D19-B08F-38DE-91FD-82A207A91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4527353-AFF1-FE44-BEF6-4F3C140E0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D337DE-492A-B295-4DC0-6C502B64C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B994DB2-0826-5F92-E70D-A55A790EF5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87CE227-0F9D-EC2A-D999-60B7E54F03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4A8D0CC-D032-16F3-C81B-61AB5F8A89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DAC39B-F6AF-7FAE-15FD-EB60B8B40A02}"/>
              </a:ext>
            </a:extLst>
          </p:cNvPr>
          <p:cNvSpPr txBox="1"/>
          <p:nvPr/>
        </p:nvSpPr>
        <p:spPr>
          <a:xfrm>
            <a:off x="809843" y="1638286"/>
            <a:ext cx="108770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Data Storage (I2C – EEPROM)</a:t>
            </a:r>
          </a:p>
          <a:p>
            <a:r>
              <a:rPr lang="en-US" sz="2800" dirty="0"/>
              <a:t>An external </a:t>
            </a:r>
            <a:r>
              <a:rPr lang="en-US" sz="2800" b="1" dirty="0"/>
              <a:t>EEPROM</a:t>
            </a:r>
            <a:r>
              <a:rPr lang="en-US" sz="2800" dirty="0"/>
              <a:t> is connected via the </a:t>
            </a:r>
            <a:r>
              <a:rPr lang="en-US" sz="2800" b="1" dirty="0"/>
              <a:t>I2C protocol</a:t>
            </a:r>
            <a:r>
              <a:rPr lang="en-US" sz="2800" dirty="0"/>
              <a:t>.</a:t>
            </a:r>
          </a:p>
          <a:p>
            <a:r>
              <a:rPr lang="en-US" sz="2800" dirty="0"/>
              <a:t>Used to store: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LED states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Fan speed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800" dirty="0"/>
              <a:t>User preferences</a:t>
            </a:r>
          </a:p>
          <a:p>
            <a:r>
              <a:rPr lang="en-US" sz="2800" dirty="0"/>
              <a:t>Data is retained after power loss</a:t>
            </a:r>
          </a:p>
          <a:p>
            <a:r>
              <a:rPr lang="en-US" sz="2800" dirty="0"/>
              <a:t>Settings are restored on system startup</a:t>
            </a:r>
          </a:p>
          <a:p>
            <a:r>
              <a:rPr lang="en-US" sz="2800" dirty="0"/>
              <a:t>This ensures non-volatile storage.</a:t>
            </a:r>
          </a:p>
        </p:txBody>
      </p:sp>
    </p:spTree>
    <p:extLst>
      <p:ext uri="{BB962C8B-B14F-4D97-AF65-F5344CB8AC3E}">
        <p14:creationId xmlns:p14="http://schemas.microsoft.com/office/powerpoint/2010/main" val="267849191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BAD4-37A7-9120-68CF-1443D867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2A373E5-AC39-8FBC-BBB0-7254C5FFC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D1E423F-843A-C44C-9F14-A3080EAF226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25071E-3916-DB63-206C-5133A2FE32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4C241F-3807-A42D-800E-859606E4344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B16080-DD4E-E94C-8D33-C297811302F9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269C157-D22A-6E28-09BD-2F82890AA51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26E6AA-00E9-1B21-A68B-2C81B98FC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5E8BA3B-501A-7DAC-6030-2DABD9F0A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036FA5-19D2-CA81-4BCB-51CF2D2F57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98C8834-7ED4-4668-96D5-2872E6B837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849C9383-B3B3-DAFC-F825-DF13096D50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43CD3D2-F9D3-8BD5-FA09-E4ACE1E86B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F78D41-6784-83F0-F42D-7A7DE7C969C3}"/>
              </a:ext>
            </a:extLst>
          </p:cNvPr>
          <p:cNvSpPr txBox="1"/>
          <p:nvPr/>
        </p:nvSpPr>
        <p:spPr>
          <a:xfrm>
            <a:off x="771986" y="1638286"/>
            <a:ext cx="108770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System Operation Flow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System powers 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LCD displays welcome screen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User enters commands via keypad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ATmega32 processes input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Devices (LEDs / fan) are controlled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Temperature is read and displayed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Data is sent to PC via UART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User settings are saved using I2C</a:t>
            </a:r>
          </a:p>
        </p:txBody>
      </p:sp>
    </p:spTree>
    <p:extLst>
      <p:ext uri="{BB962C8B-B14F-4D97-AF65-F5344CB8AC3E}">
        <p14:creationId xmlns:p14="http://schemas.microsoft.com/office/powerpoint/2010/main" val="96552399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DE5A-FA16-1200-700D-4EE9A742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4E86CFD-68B0-EA07-4E53-BD0BEB870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1AE6967-66C4-8B33-8C85-C16B90DBC07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61193-2FD4-F25E-4693-E689D940CE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66D059-2D38-81E0-D362-A866FDE47BE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C46C5C-A619-D5C5-98FE-6BC752C85BF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9569809-B843-3BC0-FFC8-949DE055DAC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835AF62-FD2A-65F3-FCE3-4198053F0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C16371-34B0-67AC-C0D4-0FFFA152D3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651EB18-1785-0C69-F5B4-F8B45B482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F630F73-5291-6E6C-57CF-E2F7C1E5EA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AA9FF2F1-024E-0033-02F8-DF01ACA16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91B2F88-B8F2-DE79-D0E9-B99DF6F3F0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FD8D19C4-0812-4183-A605-226B34DA1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758" y="959488"/>
            <a:ext cx="49546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Used Peripherals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97149B-C09A-0872-E02A-C9BF4CDEC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71066"/>
              </p:ext>
            </p:extLst>
          </p:nvPr>
        </p:nvGraphicFramePr>
        <p:xfrm>
          <a:off x="2020432" y="2146815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342">
                  <a:extLst>
                    <a:ext uri="{9D8B030D-6E8A-4147-A177-3AD203B41FA5}">
                      <a16:colId xmlns:a16="http://schemas.microsoft.com/office/drawing/2014/main" val="594405729"/>
                    </a:ext>
                  </a:extLst>
                </a:gridCol>
                <a:gridCol w="6192658">
                  <a:extLst>
                    <a:ext uri="{9D8B030D-6E8A-4147-A177-3AD203B41FA5}">
                      <a16:colId xmlns:a16="http://schemas.microsoft.com/office/drawing/2014/main" val="2673229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Peripheral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Usage in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055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Display temperature, device status, menu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82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Keypad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enters password and selects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Timing delays, periodic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24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 be used for door sensor or ultrasonic expansion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22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Control fan speed or LED brightness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8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Read temperature sensor (LM35)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Send data to PC for monitoring/logging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95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Interface with RTC module or EEPROM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3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4837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53561-59F8-192C-2373-A0557A63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3D84FA0-29D3-905B-D79B-B3090B2E42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2C50A8A-CDB2-C83B-6B69-98D565FCCD3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D4B09-4521-DB1F-7981-F4168C0A3A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68ACE5-0DB4-359B-EA7C-9116BADDA98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8FE79C-89B7-BA6F-0B7D-639937A6D8D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7D774BF-8EC1-4525-1E3E-9C7A6B68070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A70608-4C9A-9EF6-523D-DEA5457C5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68F3A40-0C7B-994F-5AF8-4F93A222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580F84-0A48-3AB6-7713-D3B90CE9D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4BC7CAA-C7EB-A2EA-0EE1-C99F21A9F5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989C195F-6714-1DBB-E9EB-0BB9A065AA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47B7CE1-9A11-1BFF-D562-F3429177CF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16D6CF27-43B1-0E87-4590-921240E56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233" y="363353"/>
            <a:ext cx="48577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System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6F2D8-60A2-B54F-B8C4-521392C71961}"/>
              </a:ext>
            </a:extLst>
          </p:cNvPr>
          <p:cNvSpPr txBox="1"/>
          <p:nvPr/>
        </p:nvSpPr>
        <p:spPr>
          <a:xfrm>
            <a:off x="1348723" y="1313417"/>
            <a:ext cx="971949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dirty="0"/>
              <a:t> User Interface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Menu displayed on LCD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Keypad used for navigation and control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dirty="0"/>
              <a:t>Temperature Monitoring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Temperature read using ADC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Displayed continuously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dirty="0"/>
              <a:t> Device Control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LED ON/OFF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Fan speed control using PWM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dirty="0"/>
              <a:t> Communication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UART sends temperature + device status to PC terminal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dirty="0"/>
              <a:t> Data Storage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Settings saved in EEPROM through I2C</a:t>
            </a:r>
          </a:p>
        </p:txBody>
      </p:sp>
    </p:spTree>
    <p:extLst>
      <p:ext uri="{BB962C8B-B14F-4D97-AF65-F5344CB8AC3E}">
        <p14:creationId xmlns:p14="http://schemas.microsoft.com/office/powerpoint/2010/main" val="4259037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EC04-254E-D64A-D4DF-60EEC6F9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261F585-B19A-40C7-3F87-7906128B20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95EE2D1-C7C2-E160-928B-5640C1F3E7E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9C1D93-E2E2-65B3-7590-BE2D75AB54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EC5005-83EE-C00C-59CE-D05722C587D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9033DB-6BAB-9110-2417-5849FBB2579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67A0AE-FA42-5548-A702-C91A1648A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124BFED-6D88-BA7C-5F6C-CB386B26D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CCA055-D145-ED10-001A-4B1B21E2AB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562A71-D52D-F3EE-1627-9AE96DB3B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AB01C06-FB96-EF98-CB00-A35934FAFC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CBD9568E-3CB8-D7C6-6C75-5DB1CD6003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2E9E523-7FFF-9E59-4B2F-BBB216BEEBE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DDA0FE2E-24CC-15A2-15E2-6DB1F16C1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729" y="701223"/>
            <a:ext cx="52257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Example Scenario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BD063-AB10-E0E5-216E-B2DDDE078C31}"/>
              </a:ext>
            </a:extLst>
          </p:cNvPr>
          <p:cNvSpPr txBox="1"/>
          <p:nvPr/>
        </p:nvSpPr>
        <p:spPr>
          <a:xfrm>
            <a:off x="836041" y="1719433"/>
            <a:ext cx="78706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User powers on system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LCD shows welcome screen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User enters password through keypad</a:t>
            </a:r>
          </a:p>
          <a:p>
            <a:r>
              <a:rPr lang="en-US" sz="2800" dirty="0"/>
              <a:t>User chooses: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Turn Light ON/OFF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Increase Fan Speed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Monitor Temperature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Data is transmitted to PC via UART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User settings are stored through I2C</a:t>
            </a:r>
          </a:p>
        </p:txBody>
      </p:sp>
    </p:spTree>
    <p:extLst>
      <p:ext uri="{BB962C8B-B14F-4D97-AF65-F5344CB8AC3E}">
        <p14:creationId xmlns:p14="http://schemas.microsoft.com/office/powerpoint/2010/main" val="30259010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F453-AA17-7D96-C43C-7FB6F0CA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C8899E3-7F28-F1E8-641F-37DA0F4139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8968E18-4CD9-9CFA-CE80-D91E7930D33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9C9BAC-BB21-E8AA-2DCF-A7634B8DD4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85F14E-A8A8-9DCC-9520-87698A5F9CE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1981E6-7BB4-61FF-EF21-FCB151F41B0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C0E0DF4-A47B-C396-3AE3-741F29ECBF1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8DB787-CB2E-7EE0-CDA0-5194B55AA0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DAF5171-07BC-A534-65D6-DB73C6DE27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3D5492-E230-2C61-8E3B-C62C393DC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0ADB32E-AFF9-02CA-7D79-5ABB15D1F4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6C2FD5CD-4B79-932B-9874-06A56CD3E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0E56544-2E0E-71D1-5C17-BD2796ABD75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B4534103-EDD6-5AE7-143E-4B7EE9E42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8176" y="701223"/>
            <a:ext cx="75648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Submission 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C33C1-4D1C-BB1A-D21E-818BD6F019B9}"/>
              </a:ext>
            </a:extLst>
          </p:cNvPr>
          <p:cNvSpPr txBox="1"/>
          <p:nvPr/>
        </p:nvSpPr>
        <p:spPr>
          <a:xfrm>
            <a:off x="617427" y="1754893"/>
            <a:ext cx="1050658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Students must submit </a:t>
            </a:r>
            <a:r>
              <a:rPr lang="en-US" sz="2800" b="1" dirty="0"/>
              <a:t>one compressed (.zip or .</a:t>
            </a:r>
            <a:r>
              <a:rPr lang="en-US" sz="2800" b="1" dirty="0" err="1"/>
              <a:t>rar</a:t>
            </a:r>
            <a:r>
              <a:rPr lang="en-US" sz="2800" b="1" dirty="0"/>
              <a:t>) file</a:t>
            </a:r>
            <a:r>
              <a:rPr lang="en-US" sz="2800" dirty="0"/>
              <a:t> that contains the following folders: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Code Folder</a:t>
            </a:r>
            <a:br>
              <a:rPr lang="en-US" sz="2800" dirty="0"/>
            </a:br>
            <a:r>
              <a:rPr lang="en-US" sz="2800" dirty="0"/>
              <a:t>This folder must include: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All C source files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Header files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Drivers used in the project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Any configuration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83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3320-2D7D-5975-D9BB-00C06B84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B3D1331-0299-496D-D29B-24730D51D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D00B591-9992-F499-28E8-946FE3274EB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E54349-5437-E061-CF93-E630855DAA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0B00DF-FFA2-4483-071D-E449CF971EE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D7BC66-3B1B-D3F5-9723-2246B236ACA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5F8EDAA-B972-A88E-BA11-1282F88E66E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8BFE1E-8110-026D-D3DE-C9486DB6B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1580A7D-F486-D4D9-45EE-E908D17EE1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9A1EAB3-BA29-F4C7-D70F-24675ABD0E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3B1A77A-EBCA-C723-15DB-B405408948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5AE7B85E-C63E-624C-B84B-A0F12CCF46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106B01C-0057-B0FD-3589-FBD94C91218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0ED0AB-F7D9-A8A8-1D7C-CA560A244006}"/>
              </a:ext>
            </a:extLst>
          </p:cNvPr>
          <p:cNvSpPr txBox="1"/>
          <p:nvPr/>
        </p:nvSpPr>
        <p:spPr>
          <a:xfrm>
            <a:off x="705058" y="1272697"/>
            <a:ext cx="1050658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Proteus Simulation Folder</a:t>
            </a:r>
            <a:br>
              <a:rPr lang="en-US" sz="2800" dirty="0"/>
            </a:br>
            <a:r>
              <a:rPr lang="en-US" sz="2800" dirty="0"/>
              <a:t>This folder must include: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Proteus design file (.</a:t>
            </a:r>
            <a:r>
              <a:rPr lang="en-US" sz="2800" dirty="0" err="1"/>
              <a:t>pdsprj</a:t>
            </a:r>
            <a:r>
              <a:rPr lang="en-US" sz="28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Required library components if used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587E-CE6E-FAC6-2DE7-CBC5A07D7AEC}"/>
              </a:ext>
            </a:extLst>
          </p:cNvPr>
          <p:cNvSpPr txBox="1"/>
          <p:nvPr/>
        </p:nvSpPr>
        <p:spPr>
          <a:xfrm>
            <a:off x="688829" y="3012307"/>
            <a:ext cx="1050658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Project Demo Video Folder</a:t>
            </a:r>
            <a:br>
              <a:rPr lang="en-US" sz="2800" dirty="0"/>
            </a:br>
            <a:r>
              <a:rPr lang="en-US" sz="2800" dirty="0"/>
              <a:t>A short video (max 5 minutes) showing the project running clearly, including: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Full system operation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All required features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Demonstration of </a:t>
            </a:r>
            <a:r>
              <a:rPr lang="en-US" sz="2800" b="1" dirty="0"/>
              <a:t>all cases and conditions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Proof that the project meets the specifications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98137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09E9-B047-F445-194A-B0F1D0E9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5239158-2345-6EAE-2DC7-C718E51F06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BCF7A55-36E0-3639-023A-13427A3A2D8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9D6501-E0DB-C9DC-A38B-5FF1FA4B87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BB5249-196A-B877-0324-254368E16F4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BA8AC8-E304-F338-0027-60D2EF38989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EA66241-5B0D-BAE4-023F-72172C11E6F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E03286-DBC9-924C-CCC1-E2156EDED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4CCEC7-E449-ECB4-6125-8C617080F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EE31D2-B8C7-EFFD-528F-3F9FCEF95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F9D9894-2A0B-0511-5C95-7F3A8E1B2E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660A9111-259E-0403-829D-E1F56FDB59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25B86FB-B4FD-1682-4014-3FF630CBCA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74882F-85AF-0690-C73A-D572867C35DA}"/>
              </a:ext>
            </a:extLst>
          </p:cNvPr>
          <p:cNvSpPr txBox="1"/>
          <p:nvPr/>
        </p:nvSpPr>
        <p:spPr>
          <a:xfrm>
            <a:off x="983075" y="1261645"/>
            <a:ext cx="1050977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Report Document </a:t>
            </a:r>
          </a:p>
          <a:p>
            <a:r>
              <a:rPr lang="en-US" sz="2800" b="1" dirty="0"/>
              <a:t>Report.pdf / Report.docx</a:t>
            </a:r>
            <a:r>
              <a:rPr lang="en-US" sz="2800" dirty="0"/>
              <a:t> (Written in English)</a:t>
            </a:r>
          </a:p>
          <a:p>
            <a:r>
              <a:rPr lang="en-US" sz="2800" dirty="0"/>
              <a:t>The report must include: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Project overview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Hardware and software implementation details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Explanation of peripherals used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System workflow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Notes about any requirement changes</a:t>
            </a:r>
          </a:p>
          <a:p>
            <a:r>
              <a:rPr lang="en-US" sz="2800" dirty="0"/>
              <a:t>⚠️ If any component or feature was replaced, it must be clearly mentioned</a:t>
            </a:r>
            <a:br>
              <a:rPr lang="en-US" sz="2800" dirty="0"/>
            </a:br>
            <a:r>
              <a:rPr lang="en-US" sz="2800" dirty="0"/>
              <a:t>(with justification) — up to </a:t>
            </a:r>
            <a:r>
              <a:rPr lang="en-US" sz="2800" b="1" dirty="0"/>
              <a:t> 5 pages maximum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32213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10273-E447-E994-145C-484937FF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75A6891-749D-465A-300B-18796101CF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5316A94-FF57-EC60-4C6A-3C63ADD6B13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8E7E2D-991A-7CDB-6442-284CB19B4D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0D2374-5F27-F701-3327-944C6A33C0D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A4B700-32BA-FAEA-7B80-9201B3109829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D2A53E1-AF9C-A03B-2097-EBC88175363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91BEB00-AC44-8081-BC83-03215A09F2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8AD1C33-AC56-32BF-1B1C-496977879D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52170B1-5F36-81D8-EE9B-A5C6720A0B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DB39E03-09C5-AA47-CADC-E323BB116A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5F99B01-3DD4-4948-4ECF-F10DA49E87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5D158C6-DD93-38B5-B3C8-E0D868E76C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09D81B-AC9B-C42A-575B-9CA51FA56508}"/>
              </a:ext>
            </a:extLst>
          </p:cNvPr>
          <p:cNvSpPr txBox="1"/>
          <p:nvPr/>
        </p:nvSpPr>
        <p:spPr>
          <a:xfrm>
            <a:off x="983075" y="1697929"/>
            <a:ext cx="105097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/>
              <a:t>Team Requirements</a:t>
            </a:r>
            <a:endParaRPr lang="ar-EG" sz="2800" b="1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/>
              <a:t>Team size: </a:t>
            </a:r>
            <a:r>
              <a:rPr lang="en-US" sz="2800" b="1"/>
              <a:t>from 1 to 3 members</a:t>
            </a:r>
            <a:endParaRPr lang="ar-EG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CA074-6339-342F-E7B6-1394618C444C}"/>
              </a:ext>
            </a:extLst>
          </p:cNvPr>
          <p:cNvSpPr txBox="1"/>
          <p:nvPr/>
        </p:nvSpPr>
        <p:spPr>
          <a:xfrm>
            <a:off x="992756" y="3088321"/>
            <a:ext cx="105097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Deadline</a:t>
            </a:r>
            <a:endParaRPr lang="ar-EG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Submission deadline: </a:t>
            </a:r>
            <a:r>
              <a:rPr lang="en-US" sz="2800" b="1" dirty="0"/>
              <a:t>within 2 weeks</a:t>
            </a:r>
            <a:r>
              <a:rPr lang="ar-EG" sz="2800" b="1" dirty="0"/>
              <a:t> </a:t>
            </a:r>
            <a:r>
              <a:rPr lang="en-US" sz="2800" b="1" dirty="0"/>
              <a:t> </a:t>
            </a:r>
            <a:r>
              <a:rPr lang="en-US" sz="2800" dirty="0"/>
              <a:t>(From Jun16 Till Jun31)</a:t>
            </a:r>
            <a:endParaRPr lang="ar-EG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8D61A-6DD8-01A1-8B82-0BCD4C0BC007}"/>
              </a:ext>
            </a:extLst>
          </p:cNvPr>
          <p:cNvSpPr txBox="1"/>
          <p:nvPr/>
        </p:nvSpPr>
        <p:spPr>
          <a:xfrm>
            <a:off x="983075" y="4582808"/>
            <a:ext cx="105097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Discussion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An </a:t>
            </a:r>
            <a:r>
              <a:rPr lang="en-US" sz="2800" b="1" dirty="0"/>
              <a:t>offline discussion</a:t>
            </a:r>
            <a:r>
              <a:rPr lang="en-US" sz="2800" dirty="0"/>
              <a:t> will be held (date will be announced later)</a:t>
            </a:r>
          </a:p>
        </p:txBody>
      </p:sp>
    </p:spTree>
    <p:extLst>
      <p:ext uri="{BB962C8B-B14F-4D97-AF65-F5344CB8AC3E}">
        <p14:creationId xmlns:p14="http://schemas.microsoft.com/office/powerpoint/2010/main" val="94866606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F3A3-AB0F-1D2A-1E91-52638A97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47EE617-9F7A-01F6-C0B8-7F85AC0D7E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4CF2C32-2AF5-9348-B20E-F79C585EEED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6EF2AD-F5FC-6B6B-2844-F2C1D4ED30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812AE0-295E-5E18-700B-514CE5E5AAD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273F37-BCAA-2BB8-8A81-E8B747B44AC1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4FC706-0DEA-FCC9-07DC-AA8BA899550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1A99A62-3C8F-C27D-646A-4A3B06A89F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AEADB92-C14E-A784-D89C-AECDA0779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80DD79-78C9-17D0-D68A-D61519F97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5DD0771-B8E9-D97C-E056-53B68CF30E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4F6299B-EDBA-D749-921E-4C5AB9863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19EC23D-06DD-415A-21D2-1E6C5F068F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329AF940-2335-AEE5-B39B-0D72B3B48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5562" y="410945"/>
            <a:ext cx="33970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800" b="1" dirty="0">
                <a:solidFill>
                  <a:srgbClr val="004467"/>
                </a:solidFill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868B0-4199-0D15-D8D3-FFA89F7020D2}"/>
              </a:ext>
            </a:extLst>
          </p:cNvPr>
          <p:cNvSpPr txBox="1"/>
          <p:nvPr/>
        </p:nvSpPr>
        <p:spPr>
          <a:xfrm>
            <a:off x="1233849" y="1517853"/>
            <a:ext cx="99254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This project is a complete embedded system that demonstrates strong understanding of: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Digital I/O interfacing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Keypad scanning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LCD communication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ADC sensor reading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PWM motor/LED control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UART serial communication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I2C external module interfacing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Timer-based scheduling</a:t>
            </a:r>
          </a:p>
        </p:txBody>
      </p:sp>
    </p:spTree>
    <p:extLst>
      <p:ext uri="{BB962C8B-B14F-4D97-AF65-F5344CB8AC3E}">
        <p14:creationId xmlns:p14="http://schemas.microsoft.com/office/powerpoint/2010/main" val="34000460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603825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1290</Words>
  <Application>Microsoft Office PowerPoint</Application>
  <PresentationFormat>Widescreen</PresentationFormat>
  <Paragraphs>238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PowerPoint Presentation</vt:lpstr>
      <vt:lpstr>        Smart Home Control Panel System  A complete embedded system that allows the user to control home devices such as lights and fan speed using a keypad interface, while monitoring temperature and displaying all information on an LCD screen. The system also communicates with a PC through UART and stores user settings using I2C peripherals.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فاطمه محمود فولي علام</cp:lastModifiedBy>
  <cp:revision>425</cp:revision>
  <dcterms:created xsi:type="dcterms:W3CDTF">2025-01-30T15:09:40Z</dcterms:created>
  <dcterms:modified xsi:type="dcterms:W3CDTF">2026-07-15T21:31:21Z</dcterms:modified>
</cp:coreProperties>
</file>