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73" r:id="rId2"/>
    <p:sldId id="257" r:id="rId3"/>
    <p:sldId id="330" r:id="rId4"/>
    <p:sldId id="277" r:id="rId5"/>
    <p:sldId id="282" r:id="rId6"/>
    <p:sldId id="335" r:id="rId7"/>
    <p:sldId id="288" r:id="rId8"/>
    <p:sldId id="336" r:id="rId9"/>
    <p:sldId id="333" r:id="rId10"/>
    <p:sldId id="334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7" r:id="rId19"/>
    <p:sldId id="346" r:id="rId20"/>
    <p:sldId id="348" r:id="rId21"/>
    <p:sldId id="337" r:id="rId22"/>
    <p:sldId id="350" r:id="rId23"/>
    <p:sldId id="351" r:id="rId24"/>
    <p:sldId id="352" r:id="rId25"/>
    <p:sldId id="353" r:id="rId26"/>
    <p:sldId id="349" r:id="rId27"/>
    <p:sldId id="355" r:id="rId28"/>
    <p:sldId id="356" r:id="rId29"/>
    <p:sldId id="357" r:id="rId30"/>
    <p:sldId id="358" r:id="rId31"/>
    <p:sldId id="354" r:id="rId32"/>
    <p:sldId id="338" r:id="rId33"/>
    <p:sldId id="331" r:id="rId34"/>
    <p:sldId id="30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E92D716-710A-4691-A3F3-88D5A62E1F3E}">
          <p14:sldIdLst>
            <p14:sldId id="273"/>
            <p14:sldId id="257"/>
            <p14:sldId id="330"/>
            <p14:sldId id="277"/>
            <p14:sldId id="282"/>
            <p14:sldId id="335"/>
            <p14:sldId id="288"/>
            <p14:sldId id="336"/>
            <p14:sldId id="333"/>
            <p14:sldId id="334"/>
            <p14:sldId id="339"/>
            <p14:sldId id="340"/>
            <p14:sldId id="341"/>
            <p14:sldId id="342"/>
            <p14:sldId id="343"/>
            <p14:sldId id="344"/>
            <p14:sldId id="345"/>
            <p14:sldId id="347"/>
            <p14:sldId id="346"/>
            <p14:sldId id="348"/>
            <p14:sldId id="337"/>
            <p14:sldId id="350"/>
            <p14:sldId id="351"/>
            <p14:sldId id="352"/>
            <p14:sldId id="353"/>
            <p14:sldId id="349"/>
            <p14:sldId id="355"/>
            <p14:sldId id="356"/>
            <p14:sldId id="357"/>
            <p14:sldId id="358"/>
            <p14:sldId id="354"/>
            <p14:sldId id="338"/>
            <p14:sldId id="331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67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43DB84-F5CE-E38C-7BAA-4B41D8C85017}" v="956" dt="2025-02-22T14:21:27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5" autoAdjust="0"/>
    <p:restoredTop sz="94660"/>
  </p:normalViewPr>
  <p:slideViewPr>
    <p:cSldViewPr snapToGrid="0">
      <p:cViewPr varScale="1">
        <p:scale>
          <a:sx n="87" d="100"/>
          <a:sy n="87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0F177-2B9D-42C7-87F0-306C299C9B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869DC-B0CD-43F1-9694-171E0AFE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21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00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1337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C01-35A5-A7BA-6B63-DE074A90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1A8A-5179-B565-DCB0-5E6CE5CD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254BC-0604-F3B8-30D4-015B4B86A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424A9-35C2-1217-E4BD-4182684C9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5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14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004D0-8C0C-A97A-CEC3-A80BC2D1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41CD8-B693-69D7-7F00-28C7F5781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04687-E0D9-C13D-5E6D-690856058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B4841-EA2C-812D-E846-99E6B691F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3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26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DB830-11B7-E8B4-5BF0-8383D874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1838C-84F4-B5EA-B6D8-EB43A2D3C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B5FD8-4BB0-EDB4-8C4B-04F1A54C2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91A04-E86C-F590-068E-F120D824D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8F069-0B28-A5BF-E8B5-6A86D9723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7C420-B299-13D7-70F5-BD9A8CA67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D3B8C-6153-0D8B-B6EC-65FE58B31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2332F-8D29-47AD-533E-2FC6DBB2F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97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2A912-72E6-43E5-A88B-745B59E7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88E72-4F97-1CCD-4F36-ED5360D7B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5ADED-24BC-B5F1-6911-2212FBB77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0B74F-0C92-37CE-E215-9BD35F496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5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80BD6-83BB-94FF-BA9C-75B6BBEC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A2F0B-DFBE-A677-C6EA-0E457EF61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EDE5F-C563-D434-03E6-F0F638273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0D2FB-22D3-034E-79FD-93D71452F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50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8F87-74EC-4E86-C832-62CA9FB1A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6C986-F719-E308-138D-2D0167D0E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37A88-B6FB-6D48-27D5-8C2418C57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29C61-2BA4-5A11-3997-62FFA282E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98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ED41F-FCA1-7596-8870-30D0C7BE1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E98A9-6F5A-700A-AA36-C909B2A75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B75AD-22E8-5DF6-431C-DBF32007D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58EBB-94B5-ECA1-C7A5-2A69D534A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865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DE04E-EDCE-AB91-FC4F-456CD2BA8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153AE-467A-438E-9F33-A531573DA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26189-4312-8155-FCFC-ABD8EB99A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A3958-F4DB-69B7-DA05-F247ACDB7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96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F4B87-D36D-A36B-4381-7EE7CB207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DA9B6-3768-EB07-C23F-B3195704E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E15BE-0C25-90B5-CF67-6637D39AF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603C3-5299-1A0C-E043-638E8B96E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33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5D96F-FF30-1443-5F2B-3909942F5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5726DB-64BF-DB57-0E4A-6C756D3D5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6C18F-ABB7-95A5-4EEB-B27314D47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C6B00-DF93-56A8-F132-67BB9BDDC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341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29D01-C036-D1FE-5148-14C8528C1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E4DAF-720C-4226-1FDB-CF2A84A08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49316-DD45-276A-4F80-F1642AD72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FEC54-EFEB-D034-EE45-0012300A9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248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7FB90-0F98-2701-DF0D-2B71442A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0D5A7-3C1D-02D1-C3CB-F1CED65F7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DAE18-14AB-F213-9346-E0E1D6563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19363-5C7C-4130-ADEC-BBAADCF38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312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A0689-A140-FEA7-387F-3B215E6D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3AD24-5C4E-6D88-5F39-035EB6E46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CAEDD-D633-0093-6F81-1AB15AD8E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4EBE8-0917-4925-4BCF-8BA8E58C3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480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0D5D9-9B9D-4A5F-8695-50E5919CB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91F35-2AE0-706B-560E-E8D85826B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48171-52D9-5ED8-B1AE-094B93C20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352A8-2135-9FAB-35F8-2F3290600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281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BEFF-A9A2-CD8C-0FDF-1B552C413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B9FBA-FC90-B007-34E2-F467A583E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ADCD9-D320-491D-30D3-99369D451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9F37C-E8B4-2902-966D-770A18FA3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762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B53C4-C8BB-8200-0256-45B0765F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3116B-8616-78BF-7662-313B1D632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140F8-E65C-4113-6562-69BCBD2AF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C86BD-B98F-4696-9ECB-98FA222C5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72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F0391-6350-1BDD-4650-3686DC4B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140E0-526C-96C6-E5BD-00CFCEE66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7780D-DDA2-59B0-1664-E35FBF791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3E913-C96C-84CC-AACF-4AE1281CE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889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865C5-FA8A-C006-0C91-693E7A79D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0DFD4-D6F5-CB9E-EAE0-61EEA7D96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B95D2-42A4-B10B-05F8-DA8E3BA1C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3E609-A39F-0D18-0832-6A8DFA6EC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238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0B851-B55B-1EAD-22EC-AE13F7EEC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84AED-D38A-4145-AF32-827F9D103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FBE5B-BF98-919B-B5B6-8AF00DBE5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6F329-8A7D-DA04-B99D-EF9D17D67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900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2C4A3-4EAA-F3D5-52DC-D46F4A437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09FD2-E29A-E1E2-543D-C593FC7AD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CAA9E-7872-2D7F-D591-A07D52943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AEE5E-E850-9888-E4F6-726E9C6C9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161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55985-6810-1EFE-AFA0-EF9E687F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BAB00-B730-050F-D18A-2548B930D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FF130-28FB-FCAB-D148-EC18EDCCE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0C5AD-1AC4-45FA-393E-CEF44933A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180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2A99E-3CD6-3B5D-C973-3529980A6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04C4F-8AC0-FC62-0DB9-E54159D57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44424-925F-297A-A1EB-E4B491B12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F7813-C8F2-ED7D-9BAF-76A5A119A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534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75926-0D8E-BFB2-2733-CA02613AD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8E108-C7EA-37DD-885F-CDED3AB19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6B966-E385-D059-10E3-5F087DCA3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B56A9-0E6A-128C-661C-5760D519C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4871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FD86-378D-10E2-C10E-1B4573A1B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C856E-B80E-CFED-8414-23441ECDD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3D20E-4A60-A1B3-033A-D9185A2A0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87AC8-9416-7FF4-440E-F069937A0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392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8A756-244E-1EFC-B0A0-309FDD9C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92F8B-177D-B050-9622-8F54E5AD3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2D915-EBAC-659A-9260-AB3EDDD22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5D529-2368-9EC2-9905-63A4C7C9A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356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3C001-079B-CAA5-D1FD-1ED4A803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5E2C4-D739-FA16-5181-58811BD42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0F9F8-75C7-AE17-B480-11A454CA3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8D321-F767-0885-3BB0-0B8CAE5B7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108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63B3A-7750-4EAF-458A-C274A04F8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34D6D-7382-45D7-4DEB-1EBAD50A3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3990C-0C6D-C5D1-7BC7-E148BC479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C7773-DB1D-6B43-5653-2CEBB29C6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176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3C51-E67A-E307-3684-CCD370E49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591B4-77A1-EA2F-D932-D4B9033BF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6472-CAEC-0451-F547-77598C21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7257E-4C9A-4F08-D290-F6C428C6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30C7-AEA7-1282-BEFB-BDC876B1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6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BD4C-EE8B-4714-2F18-7056F8DC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CD86A-C000-1B16-42A4-D4976B3DF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75E1-4ADC-F64F-B1D5-D61848B4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74475-F41E-832B-7CA1-07CADED2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86643-2AA1-07B5-0FF2-8CB82B30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7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A9AB-940D-697B-FA9F-1BE22F96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4DAF6-520C-8652-337D-45768CEE2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3FB35-DDCE-7511-E07A-2BB46929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2ABD6-44AD-9E46-A878-AEF77ABD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0184D-4CF3-4DB7-90C2-B69729C7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4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BF87-4A82-0A2D-0780-2C7167F4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0D27-3FAA-4689-FE18-6344AC6E9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6019B-79F5-9C73-AE8C-E9A744E84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EE599-958A-BA34-2931-B53D164F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4CED4-34D7-A09F-CD5A-F9D1442F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D933A-9F42-9A43-A341-B4BC9761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0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517F-CFDA-A29D-7065-12AA7CC0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367E8-8B91-B0D5-0CFE-5340C305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924A7-91C4-2035-FFDE-E8E34E6F0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C078D-4AFB-3CA1-8F08-36597D1A7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980E9-E512-90B1-97F3-0248F8CEC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BA597-4DBA-6FAF-9969-BBD6DD60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9DF46-62E4-07B7-587F-E6A96A6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DA6A0-3010-C17B-FB0D-D39EAF94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0301-4EBB-BD37-8535-BCE604F4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8025E-CB15-4764-8988-1EFAD8C2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46302-DC90-D96B-FCAA-442A229D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9A314-BE68-E8F3-D888-90D6E034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4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59510-A45A-F5F2-CDAD-D406B971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A0DF2-0584-DCF7-87D9-B7FC724F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FFBD8-113F-E70E-89C7-ED2FC0F3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0BF14-CAD3-AD26-745C-A209518C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A7189-987C-85D3-A576-066ED13CA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3E3D3-254B-4913-9704-379A9DA51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BFABC-A84A-7B99-0619-7893E003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93591-DD9F-0929-45AF-A8376932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3B44C-7FB3-3DE9-451D-54F0C28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1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4C003-5FCC-56E8-6ACE-22198478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10D09-97F0-FA30-7572-70F5B6B22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30E28-6318-22BE-F3E3-19FE9D0DD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85BE1-1D87-E057-082A-4FA06EBF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1B4FA-396E-2089-0F46-3BD03F6D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4948F-F0C9-5284-CC49-28D42734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1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1EC2-606C-4C0A-88E6-62004BAB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C3B4C-E305-5466-CCDF-A1B36063A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62CB-56C8-A8B7-DAAA-E450DBCD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99343-77EA-492D-FDAB-4D70CCBA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F9BEE-C120-3C2C-E31A-83805D0F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8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9A90FD-410C-EAD0-BE31-F7011AE1B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0FB1D-DE09-B814-7BF9-87A631619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4F45B-A051-E4BE-6E25-10C26EC3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4EE3-DB19-49CB-FCE9-B190DDFE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A551-6844-C9B5-A679-C48EDA79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5591F-3911-4435-88E1-A6AAFCD8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DAE15-093E-8DDF-A159-FC1AD1630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25935-4CFA-37F8-D79B-D7BB2DD3D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6029A-0DB0-4EA6-8941-FEFA542D9F9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3C06-5270-1E97-C1C8-188ABB021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E7160-38D4-5A90-B98C-361576A31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52D6653-D6E2-7C41-6BDB-E7E22A306552}"/>
              </a:ext>
            </a:extLst>
          </p:cNvPr>
          <p:cNvSpPr/>
          <p:nvPr/>
        </p:nvSpPr>
        <p:spPr>
          <a:xfrm>
            <a:off x="7715500" y="1136474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76777E-B106-311D-5AFE-158298226B6B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050BCF-F3CC-2D10-AE60-55B5775FA22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1DEFA4F-D3EA-4661-F8D4-FAAB65D16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807F7C-4637-0A9C-ACA1-C6F417C35D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9E59B9-5424-41C3-4E1B-79F4E1C8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CC9453A-7E4C-ADAB-7DB6-41596DA31C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760" y="6000549"/>
            <a:ext cx="2272479" cy="961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48F23-22F3-02B2-3845-38DEE7F1D7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74" y1="51944" x2="32037" y2="55926"/>
                        <a14:foregroundMark x1="35648" y1="55463" x2="34537" y2="56389"/>
                        <a14:foregroundMark x1="34537" y1="56389" x2="34537" y2="56389"/>
                        <a14:foregroundMark x1="36389" y1="54444" x2="35000" y2="56574"/>
                        <a14:foregroundMark x1="33056" y1="49815" x2="28519" y2="55833"/>
                        <a14:foregroundMark x1="30833" y1="49259" x2="35463" y2="57593"/>
                        <a14:foregroundMark x1="35463" y1="57593" x2="35463" y2="57593"/>
                        <a14:foregroundMark x1="29352" y1="50185" x2="27963" y2="56574"/>
                        <a14:foregroundMark x1="26389" y1="50370" x2="30648" y2="59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159" y="-680640"/>
            <a:ext cx="2905680" cy="290568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6BEE0B0-433B-36A1-5B99-255920D0EAAD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408656-3F4F-6164-1857-9A716F403AB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FF4A340-5F14-926E-557C-5F2935B910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CC57082-8FED-3276-8FEE-20DA35BA7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A437975-3946-77D8-2BBB-CB0769151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BD4B62A-F6A9-3ED1-22F6-9CFC29B54E25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Content Placeholder 55">
            <a:extLst>
              <a:ext uri="{FF2B5EF4-FFF2-40B4-BE49-F238E27FC236}">
                <a16:creationId xmlns:a16="http://schemas.microsoft.com/office/drawing/2014/main" id="{85317F2A-EE10-BE72-AC7B-9E60470F8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0378" y="2272334"/>
            <a:ext cx="8371244" cy="2313332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04467"/>
                </a:solidFill>
              </a:rPr>
              <a:t>Embedded AVR Workshop</a:t>
            </a:r>
          </a:p>
          <a:p>
            <a:pPr marL="0" indent="0" algn="ctr">
              <a:buNone/>
            </a:pPr>
            <a:r>
              <a:rPr lang="en-US" sz="5000" b="1" dirty="0">
                <a:solidFill>
                  <a:srgbClr val="004467"/>
                </a:solidFill>
              </a:rPr>
              <a:t>Session</a:t>
            </a:r>
          </a:p>
          <a:p>
            <a:pPr marL="0" indent="0" algn="ctr">
              <a:buNone/>
            </a:pPr>
            <a:r>
              <a:rPr lang="en-US" sz="6500" b="1" dirty="0">
                <a:solidFill>
                  <a:srgbClr val="004467"/>
                </a:solidFill>
              </a:rPr>
              <a:t> 2</a:t>
            </a:r>
          </a:p>
          <a:p>
            <a:pPr marL="0" indent="0" algn="ctr">
              <a:buNone/>
            </a:pPr>
            <a:r>
              <a:rPr lang="en-US" sz="6500" b="1" dirty="0">
                <a:solidFill>
                  <a:srgbClr val="004467"/>
                </a:solidFill>
              </a:rPr>
              <a:t>C Programming</a:t>
            </a:r>
          </a:p>
        </p:txBody>
      </p:sp>
    </p:spTree>
    <p:extLst>
      <p:ext uri="{BB962C8B-B14F-4D97-AF65-F5344CB8AC3E}">
        <p14:creationId xmlns:p14="http://schemas.microsoft.com/office/powerpoint/2010/main" val="195204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10463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617933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descr="A white sign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27" y="207226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"/>
          <p:cNvGrpSpPr/>
          <p:nvPr/>
        </p:nvGrpSpPr>
        <p:grpSpPr>
          <a:xfrm rot="10800000" flipH="1">
            <a:off x="10580003" y="345441"/>
            <a:ext cx="1329559" cy="4025209"/>
            <a:chOff x="10607605" y="3602621"/>
            <a:chExt cx="1329559" cy="3009868"/>
          </a:xfrm>
        </p:grpSpPr>
        <p:cxnSp>
          <p:nvCxnSpPr>
            <p:cNvPr id="114" name="Google Shape;114;p2"/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"/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2"/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2"/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2"/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502052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 txBox="1"/>
          <p:nvPr/>
        </p:nvSpPr>
        <p:spPr>
          <a:xfrm>
            <a:off x="5039360" y="1088383"/>
            <a:ext cx="212220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Hello!</a:t>
            </a:r>
            <a:endParaRPr dirty="0"/>
          </a:p>
        </p:txBody>
      </p:sp>
      <p:sp>
        <p:nvSpPr>
          <p:cNvPr id="124" name="Google Shape;124;p2"/>
          <p:cNvSpPr txBox="1"/>
          <p:nvPr/>
        </p:nvSpPr>
        <p:spPr>
          <a:xfrm>
            <a:off x="1799305" y="2254797"/>
            <a:ext cx="8780698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Instructor: Abd-El Wadoud Ahmad (MTI, CS)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abdelwadoud299@gmail.com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Instructor: Marwan Alaa</a:t>
            </a:r>
          </a:p>
          <a:p>
            <a:pPr lvl="0"/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marwanalaamohammed@gmail.com.</a:t>
            </a:r>
            <a:endParaRPr lang="en-US" sz="32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19255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617933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descr="A white sign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27" y="207226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"/>
          <p:cNvGrpSpPr/>
          <p:nvPr/>
        </p:nvGrpSpPr>
        <p:grpSpPr>
          <a:xfrm rot="10800000" flipH="1">
            <a:off x="10580003" y="345441"/>
            <a:ext cx="1329559" cy="4025209"/>
            <a:chOff x="10607605" y="3602621"/>
            <a:chExt cx="1329559" cy="3009868"/>
          </a:xfrm>
        </p:grpSpPr>
        <p:cxnSp>
          <p:nvCxnSpPr>
            <p:cNvPr id="114" name="Google Shape;114;p2"/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"/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2"/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2"/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2"/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502052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CF4AE31-220F-CE78-AE26-AD91DE06A2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3325" y="1356313"/>
            <a:ext cx="4065349" cy="414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000">
              <a:srgbClr val="4153BA"/>
            </a:gs>
            <a:gs pos="15000">
              <a:srgbClr val="0294E0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F58C8-158D-4417-6B36-45E854A9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18A1FF-B45B-97A9-1617-98B66DA42100}"/>
              </a:ext>
            </a:extLst>
          </p:cNvPr>
          <p:cNvSpPr/>
          <p:nvPr/>
        </p:nvSpPr>
        <p:spPr>
          <a:xfrm>
            <a:off x="-128722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FF322A-76ED-AB07-FB47-31E26A0B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004BB70-7137-DF22-4BEA-7C4285A366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19A1306-EA48-C7EC-74A7-56142D8D80D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612AEF-4AF4-8C68-8952-C44BAF92039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289DE0-F0B0-4C52-0454-2F11677A8D6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1948F9-41EC-FBCE-91D6-462F0E3A7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4C0BA6-D5F4-AC9A-B4FB-3640AD9AFE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73540C9-5422-861C-5463-AC31193581B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7B8FD0-4C3E-45FC-5238-8062A11D0B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87FE2CD-F945-8BED-7DF8-E93F84E81542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8B82CB9C-F23B-4D77-4B41-1E555C6A1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02052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76ECED-3833-8839-3527-E350286BB8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EAECFE17-3A5D-33D9-CF6B-12EF3DE6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1" y="1287468"/>
            <a:ext cx="2720161" cy="112235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Content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96CEDAB3-9B8B-1435-3769-336FC11B1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67" y="2423503"/>
            <a:ext cx="10515600" cy="394592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 Introduction</a:t>
            </a:r>
          </a:p>
          <a:p>
            <a:r>
              <a:rPr lang="en-US" dirty="0">
                <a:solidFill>
                  <a:schemeClr val="bg2"/>
                </a:solidFill>
              </a:rPr>
              <a:t>Breaking “Hello World”</a:t>
            </a:r>
          </a:p>
          <a:p>
            <a:r>
              <a:rPr lang="en-US" dirty="0">
                <a:solidFill>
                  <a:schemeClr val="bg2"/>
                </a:solidFill>
              </a:rPr>
              <a:t>Data Types &amp; Operators</a:t>
            </a:r>
          </a:p>
          <a:p>
            <a:r>
              <a:rPr lang="en-US" dirty="0">
                <a:solidFill>
                  <a:schemeClr val="bg2"/>
                </a:solidFill>
              </a:rPr>
              <a:t>If &amp; Switch </a:t>
            </a:r>
            <a:r>
              <a:rPr lang="en-GB" dirty="0">
                <a:solidFill>
                  <a:schemeClr val="bg2"/>
                </a:solidFill>
              </a:rPr>
              <a:t>Statements 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For &amp; While Loops</a:t>
            </a:r>
          </a:p>
          <a:p>
            <a:r>
              <a:rPr lang="en-US" dirty="0">
                <a:solidFill>
                  <a:schemeClr val="bg2"/>
                </a:solidFill>
              </a:rPr>
              <a:t>Bitwise Operations</a:t>
            </a:r>
          </a:p>
          <a:p>
            <a:r>
              <a:rPr lang="en-US" dirty="0">
                <a:solidFill>
                  <a:schemeClr val="bg2"/>
                </a:solidFill>
              </a:rPr>
              <a:t>Git Vs GitHub</a:t>
            </a:r>
          </a:p>
        </p:txBody>
      </p:sp>
    </p:spTree>
    <p:extLst>
      <p:ext uri="{BB962C8B-B14F-4D97-AF65-F5344CB8AC3E}">
        <p14:creationId xmlns:p14="http://schemas.microsoft.com/office/powerpoint/2010/main" val="336705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7862" y="2766218"/>
            <a:ext cx="537627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C How to Program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GB" sz="3100" dirty="0">
                <a:solidFill>
                  <a:schemeClr val="bg2"/>
                </a:solidFill>
              </a:rPr>
              <a:t>Quick History 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sz="2200" dirty="0">
                <a:solidFill>
                  <a:schemeClr val="bg2"/>
                </a:solidFill>
              </a:rPr>
              <a:t>Mother of all Programming </a:t>
            </a:r>
            <a:r>
              <a:rPr lang="en-GB" sz="2200" dirty="0">
                <a:solidFill>
                  <a:schemeClr val="bg2"/>
                </a:solidFill>
              </a:rPr>
              <a:t>Languages</a:t>
            </a:r>
            <a:endParaRPr lang="en-US" sz="2200" dirty="0">
              <a:solidFill>
                <a:schemeClr val="bg2"/>
              </a:solidFill>
            </a:endParaRP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01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5F092-050F-7333-490F-817A394F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B652D6CC-FBE4-B5E2-6601-FF984C136B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ED596C1-D7AD-4235-3E98-7727C311998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A610DF-865F-4CCE-8EB0-C511B1EE90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106102-C8BD-2E3B-87BE-A9C115E1C4C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76F93C-A994-9787-CEC9-588D71958C5A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91A29B7-1799-34EF-FE95-2FBBE7BCF02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AC62A40-3BA6-7966-A450-D7A8F6FC12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E22E8EC-0E38-9697-D9BF-E1457BE44D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1299E0F-D49D-3DCE-EEC9-EF2B1CE0CA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C6F14273-963D-1C9B-67DF-05FD8705FC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BFB13456-CC8B-323F-B227-7795BE6F2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What’s Programming?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FDC4C640-5399-EB58-D2AD-B0DBF1B272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6D7FFE4-BEC9-C31E-2CD5-E13DF3CC9A7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0BD71F5-C748-7F75-F8D3-05D1025B8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8" y="2610393"/>
            <a:ext cx="10515600" cy="3076053"/>
          </a:xfrm>
        </p:spPr>
        <p:txBody>
          <a:bodyPr/>
          <a:lstStyle/>
          <a:p>
            <a:r>
              <a:rPr lang="en-GB" dirty="0"/>
              <a:t>Dictionary: the process or activity of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writing</a:t>
            </a:r>
            <a:r>
              <a:rPr lang="en-GB" dirty="0"/>
              <a:t> computer programs.</a:t>
            </a:r>
          </a:p>
          <a:p>
            <a:r>
              <a:rPr lang="en-GB" dirty="0"/>
              <a:t>Coursera: refers to the act of using different languages to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communicate</a:t>
            </a:r>
            <a:r>
              <a:rPr lang="en-GB" dirty="0"/>
              <a:t> with and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instruct</a:t>
            </a:r>
            <a:r>
              <a:rPr lang="en-GB" dirty="0"/>
              <a:t> computers</a:t>
            </a:r>
          </a:p>
          <a:p>
            <a:r>
              <a:rPr lang="en-GB" dirty="0"/>
              <a:t>W3School: is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telling</a:t>
            </a:r>
            <a:r>
              <a:rPr lang="en-GB" dirty="0"/>
              <a:t> a computer what to do.</a:t>
            </a:r>
          </a:p>
        </p:txBody>
      </p:sp>
    </p:spTree>
    <p:extLst>
      <p:ext uri="{BB962C8B-B14F-4D97-AF65-F5344CB8AC3E}">
        <p14:creationId xmlns:p14="http://schemas.microsoft.com/office/powerpoint/2010/main" val="108418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53" name="AutoShape 3"/>
          <p:cNvSpPr/>
          <p:nvPr/>
        </p:nvSpPr>
        <p:spPr>
          <a:xfrm rot="16200000" flipV="1">
            <a:off x="2201022" y="4567094"/>
            <a:ext cx="1373071" cy="0"/>
          </a:xfrm>
          <a:prstGeom prst="line">
            <a:avLst/>
          </a:prstGeom>
          <a:ln w="47625" cap="rnd">
            <a:solidFill>
              <a:srgbClr val="000000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GB" sz="1688"/>
          </a:p>
        </p:txBody>
      </p:sp>
      <p:sp>
        <p:nvSpPr>
          <p:cNvPr id="54" name="AutoShape 6"/>
          <p:cNvSpPr/>
          <p:nvPr/>
        </p:nvSpPr>
        <p:spPr>
          <a:xfrm rot="16200000" flipV="1">
            <a:off x="5428673" y="4563978"/>
            <a:ext cx="1373073" cy="6231"/>
          </a:xfrm>
          <a:prstGeom prst="line">
            <a:avLst/>
          </a:prstGeom>
          <a:ln w="47625" cap="rnd">
            <a:solidFill>
              <a:srgbClr val="000000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GB" sz="1688"/>
          </a:p>
        </p:txBody>
      </p:sp>
      <p:sp>
        <p:nvSpPr>
          <p:cNvPr id="55" name="AutoShape 9"/>
          <p:cNvSpPr/>
          <p:nvPr/>
        </p:nvSpPr>
        <p:spPr>
          <a:xfrm rot="16200000" flipV="1">
            <a:off x="8659359" y="4563901"/>
            <a:ext cx="1373230" cy="6230"/>
          </a:xfrm>
          <a:prstGeom prst="line">
            <a:avLst/>
          </a:prstGeom>
          <a:ln w="47625" cap="rnd">
            <a:solidFill>
              <a:srgbClr val="000000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GB" sz="1688"/>
          </a:p>
        </p:txBody>
      </p:sp>
      <p:sp>
        <p:nvSpPr>
          <p:cNvPr id="56" name="AutoShape 14"/>
          <p:cNvSpPr/>
          <p:nvPr/>
        </p:nvSpPr>
        <p:spPr>
          <a:xfrm rot="5399999" flipV="1">
            <a:off x="3834567" y="3234509"/>
            <a:ext cx="1292102" cy="0"/>
          </a:xfrm>
          <a:prstGeom prst="line">
            <a:avLst/>
          </a:prstGeom>
          <a:ln w="47625" cap="rnd">
            <a:solidFill>
              <a:srgbClr val="000000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GB" sz="1688"/>
          </a:p>
        </p:txBody>
      </p:sp>
      <p:sp>
        <p:nvSpPr>
          <p:cNvPr id="57" name="AutoShape 17"/>
          <p:cNvSpPr/>
          <p:nvPr/>
        </p:nvSpPr>
        <p:spPr>
          <a:xfrm rot="5399999" flipV="1">
            <a:off x="7068452" y="3231238"/>
            <a:ext cx="1292096" cy="6231"/>
          </a:xfrm>
          <a:prstGeom prst="line">
            <a:avLst/>
          </a:prstGeom>
          <a:ln w="47625" cap="rnd">
            <a:solidFill>
              <a:srgbClr val="000000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GB" sz="1688"/>
          </a:p>
        </p:txBody>
      </p:sp>
      <p:sp>
        <p:nvSpPr>
          <p:cNvPr id="59" name="AutoShape 2"/>
          <p:cNvSpPr/>
          <p:nvPr/>
        </p:nvSpPr>
        <p:spPr>
          <a:xfrm>
            <a:off x="1828750" y="3880560"/>
            <a:ext cx="8534501" cy="0"/>
          </a:xfrm>
          <a:prstGeom prst="line">
            <a:avLst/>
          </a:prstGeom>
          <a:ln w="47625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B" sz="1688"/>
          </a:p>
        </p:txBody>
      </p:sp>
      <p:sp>
        <p:nvSpPr>
          <p:cNvPr id="60" name="TextBox 4"/>
          <p:cNvSpPr txBox="1"/>
          <p:nvPr/>
        </p:nvSpPr>
        <p:spPr>
          <a:xfrm>
            <a:off x="1828750" y="5410750"/>
            <a:ext cx="2072971" cy="31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4"/>
              </a:lnSpc>
            </a:pPr>
            <a:r>
              <a:rPr lang="en-US" sz="2160" b="1" spc="15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1883</a:t>
            </a:r>
          </a:p>
        </p:txBody>
      </p:sp>
      <p:sp>
        <p:nvSpPr>
          <p:cNvPr id="61" name="TextBox 5"/>
          <p:cNvSpPr txBox="1"/>
          <p:nvPr/>
        </p:nvSpPr>
        <p:spPr>
          <a:xfrm>
            <a:off x="1908086" y="5762000"/>
            <a:ext cx="1914300" cy="68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"/>
              </a:lnSpc>
            </a:pPr>
            <a:r>
              <a:rPr lang="en-GB" sz="1313" b="1" spc="92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Algorithm for the Analytical Engine</a:t>
            </a:r>
          </a:p>
          <a:p>
            <a:pPr algn="ctr">
              <a:lnSpc>
                <a:spcPts val="1903"/>
              </a:lnSpc>
            </a:pPr>
            <a:r>
              <a:rPr lang="en-GB" sz="1313" spc="92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-Ada Lovelace</a:t>
            </a:r>
            <a:endParaRPr lang="en-US" sz="1313" spc="92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62" name="TextBox 7"/>
          <p:cNvSpPr txBox="1"/>
          <p:nvPr/>
        </p:nvSpPr>
        <p:spPr>
          <a:xfrm>
            <a:off x="5059515" y="5410750"/>
            <a:ext cx="2072971" cy="31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4"/>
              </a:lnSpc>
            </a:pPr>
            <a:r>
              <a:rPr lang="en-US" sz="2160" b="1" spc="15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1972</a:t>
            </a:r>
          </a:p>
        </p:txBody>
      </p:sp>
      <p:sp>
        <p:nvSpPr>
          <p:cNvPr id="63" name="TextBox 8"/>
          <p:cNvSpPr txBox="1"/>
          <p:nvPr/>
        </p:nvSpPr>
        <p:spPr>
          <a:xfrm>
            <a:off x="5138851" y="5762000"/>
            <a:ext cx="1914300" cy="449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"/>
              </a:lnSpc>
            </a:pPr>
            <a:r>
              <a:rPr lang="en-US" sz="1313" b="1" spc="92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</a:p>
          <a:p>
            <a:pPr algn="ctr">
              <a:lnSpc>
                <a:spcPts val="1903"/>
              </a:lnSpc>
            </a:pPr>
            <a:r>
              <a:rPr lang="en-US" sz="1313" spc="92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-Dennis Ritchie</a:t>
            </a:r>
          </a:p>
        </p:txBody>
      </p:sp>
      <p:sp>
        <p:nvSpPr>
          <p:cNvPr id="64" name="TextBox 10"/>
          <p:cNvSpPr txBox="1"/>
          <p:nvPr/>
        </p:nvSpPr>
        <p:spPr>
          <a:xfrm>
            <a:off x="8290279" y="5410750"/>
            <a:ext cx="2072971" cy="31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4"/>
              </a:lnSpc>
            </a:pPr>
            <a:r>
              <a:rPr lang="en-US" sz="2160" b="1" spc="15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2006</a:t>
            </a:r>
          </a:p>
        </p:txBody>
      </p:sp>
      <p:sp>
        <p:nvSpPr>
          <p:cNvPr id="65" name="TextBox 11"/>
          <p:cNvSpPr txBox="1"/>
          <p:nvPr/>
        </p:nvSpPr>
        <p:spPr>
          <a:xfrm>
            <a:off x="8369615" y="5762000"/>
            <a:ext cx="1914300" cy="449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"/>
              </a:lnSpc>
            </a:pPr>
            <a:r>
              <a:rPr lang="en-US" sz="1313" b="1" spc="92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Rust</a:t>
            </a:r>
          </a:p>
          <a:p>
            <a:pPr algn="ctr">
              <a:lnSpc>
                <a:spcPts val="1903"/>
              </a:lnSpc>
            </a:pPr>
            <a:r>
              <a:rPr lang="en-US" sz="1313" spc="92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-Graydon Hoare</a:t>
            </a:r>
          </a:p>
        </p:txBody>
      </p:sp>
      <p:sp>
        <p:nvSpPr>
          <p:cNvPr id="66" name="TextBox 12"/>
          <p:cNvSpPr txBox="1"/>
          <p:nvPr/>
        </p:nvSpPr>
        <p:spPr>
          <a:xfrm>
            <a:off x="3444134" y="1685894"/>
            <a:ext cx="2072971" cy="31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4"/>
              </a:lnSpc>
            </a:pPr>
            <a:r>
              <a:rPr lang="en-US" sz="2160" b="1" spc="15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1949</a:t>
            </a:r>
          </a:p>
        </p:txBody>
      </p:sp>
      <p:sp>
        <p:nvSpPr>
          <p:cNvPr id="67" name="TextBox 13"/>
          <p:cNvSpPr txBox="1"/>
          <p:nvPr/>
        </p:nvSpPr>
        <p:spPr>
          <a:xfrm>
            <a:off x="3523469" y="2035209"/>
            <a:ext cx="1914300" cy="449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"/>
              </a:lnSpc>
            </a:pPr>
            <a:r>
              <a:rPr lang="en-US" sz="1313" b="1" spc="92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Assembly Language</a:t>
            </a:r>
          </a:p>
          <a:p>
            <a:pPr algn="ctr">
              <a:lnSpc>
                <a:spcPts val="1903"/>
              </a:lnSpc>
            </a:pPr>
            <a:r>
              <a:rPr lang="en-US" sz="1313" spc="92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-Kathleen Booth</a:t>
            </a:r>
          </a:p>
        </p:txBody>
      </p:sp>
      <p:sp>
        <p:nvSpPr>
          <p:cNvPr id="68" name="TextBox 15"/>
          <p:cNvSpPr txBox="1"/>
          <p:nvPr/>
        </p:nvSpPr>
        <p:spPr>
          <a:xfrm>
            <a:off x="6674898" y="1685894"/>
            <a:ext cx="2072971" cy="31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4"/>
              </a:lnSpc>
            </a:pPr>
            <a:r>
              <a:rPr lang="en-US" sz="2160" b="1" spc="15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1991</a:t>
            </a:r>
          </a:p>
        </p:txBody>
      </p:sp>
      <p:sp>
        <p:nvSpPr>
          <p:cNvPr id="69" name="TextBox 16"/>
          <p:cNvSpPr txBox="1"/>
          <p:nvPr/>
        </p:nvSpPr>
        <p:spPr>
          <a:xfrm>
            <a:off x="6754233" y="2035209"/>
            <a:ext cx="1914300" cy="449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"/>
              </a:lnSpc>
            </a:pPr>
            <a:r>
              <a:rPr lang="en-US" sz="1313" b="1" spc="92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Python</a:t>
            </a:r>
          </a:p>
          <a:p>
            <a:pPr algn="ctr">
              <a:lnSpc>
                <a:spcPts val="1903"/>
              </a:lnSpc>
            </a:pPr>
            <a:r>
              <a:rPr lang="en-US" sz="1313" spc="92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-Guido van Rossum</a:t>
            </a:r>
          </a:p>
        </p:txBody>
      </p:sp>
      <p:sp>
        <p:nvSpPr>
          <p:cNvPr id="70" name="TextBox 18"/>
          <p:cNvSpPr txBox="1"/>
          <p:nvPr/>
        </p:nvSpPr>
        <p:spPr>
          <a:xfrm>
            <a:off x="2544108" y="911136"/>
            <a:ext cx="7135971" cy="626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4000" b="1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History of Programming</a:t>
            </a:r>
          </a:p>
        </p:txBody>
      </p:sp>
    </p:spTree>
    <p:extLst>
      <p:ext uri="{BB962C8B-B14F-4D97-AF65-F5344CB8AC3E}">
        <p14:creationId xmlns:p14="http://schemas.microsoft.com/office/powerpoint/2010/main" val="357299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C2BDE-739D-4294-1479-9E8E4124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775FF331-F5C7-C555-BAA0-E6714E3222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E90B825-CE64-87CD-8BF9-602E60F0836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24BB33-3A70-970E-A10E-D140C8C016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D0680D-B851-C6AA-3730-EB57DB1EA48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E4B79D0-3C91-E4FE-4D59-F90AF78227F9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74C11D8-AE62-2A57-8621-6C8D9464908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7FEDF7-4887-4635-94F7-29EE4BF7A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03CD48C-806B-86CA-3197-8B8558F86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7F58E16-590E-693F-8FA1-EF60EE4DEC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C8FAD22-62A5-CC2A-9AD3-E85F78CD00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B1DB6047-9408-5786-5D68-81C44448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So why C?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B9AE9ADB-1BCD-B03E-FB85-816CE73A27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9F63983-5938-B363-B01C-CFF25FB68D3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E7882CA-7E3B-12C9-DA85-3FB904F5D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8" y="1959263"/>
            <a:ext cx="10515600" cy="3076053"/>
          </a:xfrm>
        </p:spPr>
        <p:txBody>
          <a:bodyPr/>
          <a:lstStyle/>
          <a:p>
            <a:r>
              <a:rPr lang="en-GB" dirty="0"/>
              <a:t>General-Purpose Programming Language (GPL)</a:t>
            </a:r>
            <a:br>
              <a:rPr lang="en-GB" dirty="0"/>
            </a:b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Not</a:t>
            </a:r>
            <a:r>
              <a:rPr lang="en-GB" dirty="0"/>
              <a:t> Domain-Specific Programming Language (DSL)</a:t>
            </a:r>
          </a:p>
          <a:p>
            <a:r>
              <a:rPr lang="en-GB" dirty="0"/>
              <a:t>Imperative Procedural Language (Programming Paradigm)</a:t>
            </a:r>
            <a:br>
              <a:rPr lang="en-GB" dirty="0"/>
            </a:b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Not</a:t>
            </a:r>
            <a:r>
              <a:rPr lang="en-GB" dirty="0"/>
              <a:t> Declarative Functional </a:t>
            </a:r>
          </a:p>
          <a:p>
            <a:r>
              <a:rPr lang="en-GB" dirty="0"/>
              <a:t>Statically Typed</a:t>
            </a:r>
            <a:br>
              <a:rPr lang="en-GB" dirty="0"/>
            </a:b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Not</a:t>
            </a:r>
            <a:r>
              <a:rPr lang="en-GB" dirty="0"/>
              <a:t> Dynamically Typed</a:t>
            </a:r>
          </a:p>
          <a:p>
            <a:endParaRPr lang="en-GB" b="1" dirty="0"/>
          </a:p>
          <a:p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F5CB3B-B04B-FC2C-38C4-86521FE2FE3E}"/>
              </a:ext>
            </a:extLst>
          </p:cNvPr>
          <p:cNvSpPr txBox="1"/>
          <p:nvPr/>
        </p:nvSpPr>
        <p:spPr>
          <a:xfrm>
            <a:off x="1383592" y="4792913"/>
            <a:ext cx="8742330" cy="1077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GB" sz="3200" b="1" dirty="0"/>
              <a:t>Efficiency, Direct Hardware Interaction</a:t>
            </a:r>
          </a:p>
          <a:p>
            <a:pPr algn="ctr"/>
            <a:r>
              <a:rPr lang="en-GB" sz="3200" b="1" dirty="0"/>
              <a:t>Low-level Programming, Real-time Operations</a:t>
            </a:r>
            <a:endParaRPr lang="en-GB" sz="32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34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3FD8-4CE9-9582-2B6C-0EC5ADF3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B5280BE-A38E-B661-B4DC-4E94C4283CFA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3C5616-33ED-781E-7CEF-EDE0573028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0F0A4D-D55A-E8DC-4B36-9020A8A9C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FA595B65-8662-5CDB-4C32-87B62F8669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0A6C53-B5A0-CB0C-5B67-CC3F068757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D9A6F33-97AA-26A6-D006-33214E3365AD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D67090-F377-C009-803C-03640835BDC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936B929-8191-60E6-8083-C4D2BE3E6D87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834AB9C-32B5-6D55-0163-F12BA7D316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2A33B00-9CB4-D6A3-6906-D39DE064ED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F8C8676-A09F-79F4-4B9D-BEE49F11FC1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1CEA8C-CF9F-3518-CAA4-6428D7E387BA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84569C0-61F3-0111-4942-E0FE99AD29D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DD78B553-9724-B3C4-44FB-9B5E6375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7862" y="2766218"/>
            <a:ext cx="537627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</a:rPr>
              <a:t>printf</a:t>
            </a:r>
            <a:r>
              <a:rPr lang="en-US" b="1" dirty="0">
                <a:solidFill>
                  <a:schemeClr val="bg2"/>
                </a:solidFill>
              </a:rPr>
              <a:t>(“Hello World”);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sz="3100" dirty="0">
                <a:solidFill>
                  <a:schemeClr val="bg2"/>
                </a:solidFill>
              </a:rPr>
              <a:t>Basic Programming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sz="2200" dirty="0">
                <a:solidFill>
                  <a:schemeClr val="bg2"/>
                </a:solidFill>
              </a:rPr>
              <a:t>Every Programmer’s First Program</a:t>
            </a: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975A5CAA-5BD3-EB53-6BDC-6EDB060A6A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77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61FAA-0141-54BC-4343-A2D92B11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84949721-A328-D2CD-89B7-C97D1EFCBB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4AAA192-5146-613D-B7F1-D217B4ED1E7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489E13-F724-B9B8-D9D0-F5F37BA73C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074557-83E3-CE0E-A5CA-0AB5385CECB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8E839F-057E-FA76-6118-1CFD6341862B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6EC1489-2622-740D-A6E1-F19CB829E20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6922D64-43A6-0313-FD4C-A42F771E22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F2E9F48-0653-8C6D-61C3-0937F70B73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ADB7EA2-3DFE-CFB7-98D9-7A5C8A6EA5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B7CAAB5-439D-0871-9A13-9029D180C3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D4C9797D-4AF8-0D79-8043-5E2DFEC2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Printing “Hello World”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1CFB1FF3-0DEC-EBD3-960A-CEF37A2F1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AAAA332-9BDD-7148-5512-F1DD4635175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9E6B4E-F872-11C1-1A8E-4FE6438C4F0E}"/>
              </a:ext>
            </a:extLst>
          </p:cNvPr>
          <p:cNvSpPr txBox="1">
            <a:spLocks/>
          </p:cNvSpPr>
          <p:nvPr/>
        </p:nvSpPr>
        <p:spPr>
          <a:xfrm>
            <a:off x="891377" y="1837232"/>
            <a:ext cx="5892315" cy="403187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GB" sz="3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GB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3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GB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GB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3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GB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GB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3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GB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3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GB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C7F47-3C30-8E6F-4D10-7CD57209A4DF}"/>
              </a:ext>
            </a:extLst>
          </p:cNvPr>
          <p:cNvSpPr txBox="1"/>
          <p:nvPr/>
        </p:nvSpPr>
        <p:spPr>
          <a:xfrm>
            <a:off x="7010087" y="2084439"/>
            <a:ext cx="1952779" cy="3087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0000400000000000000" pitchFamily="2" charset="2"/>
              </a:rPr>
              <a:t>&lt;-- </a:t>
            </a: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endParaRPr lang="en-GB" sz="2800" b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EE2209-C290-DD81-652F-9FE766247D38}"/>
              </a:ext>
            </a:extLst>
          </p:cNvPr>
          <p:cNvSpPr txBox="1"/>
          <p:nvPr/>
        </p:nvSpPr>
        <p:spPr>
          <a:xfrm>
            <a:off x="7010087" y="3544429"/>
            <a:ext cx="3071675" cy="3087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0000400000000000000" pitchFamily="2" charset="2"/>
              </a:rPr>
              <a:t>&lt;-- </a:t>
            </a: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function</a:t>
            </a:r>
            <a:endParaRPr lang="en-GB" sz="2800" b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C5D677-FAA1-2285-DEDC-E26E9E2B16EE}"/>
              </a:ext>
            </a:extLst>
          </p:cNvPr>
          <p:cNvSpPr txBox="1"/>
          <p:nvPr/>
        </p:nvSpPr>
        <p:spPr>
          <a:xfrm>
            <a:off x="7010086" y="4537587"/>
            <a:ext cx="2473754" cy="3087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0000400000000000000" pitchFamily="2" charset="2"/>
              </a:rPr>
              <a:t>&lt;-- </a:t>
            </a: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endParaRPr lang="en-GB" sz="2800" b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01116F-3604-78CB-DD27-F1687F8891CE}"/>
              </a:ext>
            </a:extLst>
          </p:cNvPr>
          <p:cNvSpPr txBox="1"/>
          <p:nvPr/>
        </p:nvSpPr>
        <p:spPr>
          <a:xfrm>
            <a:off x="7010085" y="5111798"/>
            <a:ext cx="2969083" cy="3087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0000400000000000000" pitchFamily="2" charset="2"/>
              </a:rPr>
              <a:t>&lt;-- </a:t>
            </a: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Exit Program</a:t>
            </a:r>
            <a:endParaRPr lang="en-GB" sz="2800" b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62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E6C45-2379-8512-59E9-5D824357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A0FE3CD-04E2-23D3-AD7C-8E620E232DB7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964C9-6072-DF44-0DDF-2EB0793E3F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B8D51B-6AD3-7F14-47EA-B7DACFD17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743D5B3A-2D26-6F99-CFDE-64573C39FA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14FC42-E426-DCF6-A028-F314FD8C74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569154E-1377-96A6-F9D0-E21A0D777F95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5E2A6C0-804B-3262-31EB-7291CF616CB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93C5BEE-0B6E-1AC5-2248-6636294E9617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5EF5D53-7A06-E950-D428-74F0E30AD8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283813C-1A3D-B2DA-C1CC-B7CA9FB5AB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E37F84A-8111-3E99-104A-C69D3420074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E868F-1E9B-7EA4-DEF1-B2F8565FE8B1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EE2F2BC1-2C6E-4E56-A05F-D3BAD6D0E8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7B2D39B3-C748-FCC0-3532-7FA8A65A8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7862" y="2766218"/>
            <a:ext cx="537627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Data Types &amp; Operators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GB" sz="3100" dirty="0">
                <a:solidFill>
                  <a:schemeClr val="bg2"/>
                </a:solidFill>
              </a:rPr>
              <a:t>Calculating</a:t>
            </a:r>
            <a:r>
              <a:rPr lang="en-US" sz="3100" dirty="0">
                <a:solidFill>
                  <a:schemeClr val="bg2"/>
                </a:solidFill>
              </a:rPr>
              <a:t> Programming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sz="2200" dirty="0">
                <a:solidFill>
                  <a:schemeClr val="bg2"/>
                </a:solidFill>
              </a:rPr>
              <a:t>Hey </a:t>
            </a:r>
            <a:r>
              <a:rPr lang="en-US" sz="2200" dirty="0" err="1">
                <a:solidFill>
                  <a:schemeClr val="bg2"/>
                </a:solidFill>
              </a:rPr>
              <a:t>wanna</a:t>
            </a:r>
            <a:r>
              <a:rPr lang="en-US" sz="2200" dirty="0">
                <a:solidFill>
                  <a:schemeClr val="bg2"/>
                </a:solidFill>
              </a:rPr>
              <a:t> build your OWN calculator instead?</a:t>
            </a: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E2116004-76B6-C1BA-6BB7-DE68110F6F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06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3BB9C-47E3-8379-54EF-08C1436C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F9067A84-1A70-0642-6E4A-B29F371FE5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BFE0991-F9FD-7A83-83AF-092EB90A2D2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426A7B-4F92-A971-E327-B1623F2740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BB6328-EFC7-472F-B27D-C4B6E155BE7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72523F-1C16-9D09-277B-2C31D8B65EDC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4C62513-10BB-A953-813D-E8828C3B0F98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744CCC6-6B39-7308-15DA-A3337CFCAD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DD872AD-91F7-A95E-C88E-F5E8680A2F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41CC8E3-71AB-EDDB-5245-D12D049CCC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CDF6C59-D2DA-DF8B-C580-743FBA48F4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580B3EFA-1EFC-0F22-8EB6-7708DA014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Data Types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27E8081C-5635-492C-A760-A4B8A4DB8D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CB60581-EAB7-1B60-5A5A-F1917DAB23D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45A7441C-C601-57DE-B3DC-9899C0791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969883"/>
              </p:ext>
            </p:extLst>
          </p:nvPr>
        </p:nvGraphicFramePr>
        <p:xfrm>
          <a:off x="838200" y="1825625"/>
          <a:ext cx="10515600" cy="390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2095542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9489201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300520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96044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37274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Format Specifier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639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 or 4 bytes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Stores whole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%d or %</a:t>
                      </a:r>
                      <a:r>
                        <a:rPr lang="en-GB" dirty="0" err="1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endParaRPr lang="en-GB" dirty="0">
                        <a:solidFill>
                          <a:srgbClr val="004467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864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Stores fractional numbers. Sufficient for storing 6 decimal 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%f or %F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3.2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69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Stores fractional numbers. Sufficient for storing 15 decimal 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%</a:t>
                      </a:r>
                      <a:r>
                        <a:rPr lang="en-GB" dirty="0" err="1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lf</a:t>
                      </a:r>
                      <a:endParaRPr lang="en-GB" dirty="0">
                        <a:solidFill>
                          <a:srgbClr val="004467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3.22222222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686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Stores a single character, following ASCII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%c or %s (string)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’w’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48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058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0A8FC-B340-41AA-6B87-2649DC5EC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4AE42A5-7C9C-46F3-8B5C-ACD2DC065B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306BB82-BBB0-8688-1B0F-6DBAF95C9E5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1034B3-9610-98E0-647B-12D3DB51F5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34B493-727F-81FC-AA85-E6A02D78B17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F69ED6-5A53-DDC3-2877-87F1BD6F00E4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6B2F4F2-5FF1-6978-8FC9-FB151137FC69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78E8492-7F92-4D54-4384-7AF218DE4C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BFBEDA0-755F-3645-2DDA-44F2BF3CF6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B60F741-E134-5E03-2D74-88ADB4E69B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7596760-EACD-5255-7F0E-749B0C661C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4D0D40AE-20FB-915B-06F3-787FB79C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Extended Types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90168A0A-1AB2-FEF6-2969-DCD05CCAE9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2415A84-3DBF-4E80-4D9E-152F52F1E09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70FE54E8-2B73-C46B-C45F-2B8E9748AF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169331"/>
              </p:ext>
            </p:extLst>
          </p:nvPr>
        </p:nvGraphicFramePr>
        <p:xfrm>
          <a:off x="838200" y="1825625"/>
          <a:ext cx="10515600" cy="37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5896187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398221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778657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51838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Extend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Format Specifier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93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 or 4 bytes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-32768 to 32767 (2bytes)</a:t>
                      </a:r>
                    </a:p>
                    <a:p>
                      <a:pPr algn="ctr"/>
                      <a:r>
                        <a:rPr lang="en-GB" sz="1400" dirty="0"/>
                        <a:t>Or</a:t>
                      </a:r>
                    </a:p>
                    <a:p>
                      <a:pPr algn="ctr"/>
                      <a:r>
                        <a:rPr lang="en-GB" sz="1400" dirty="0"/>
                        <a:t>-2,147,483,648 to 2,147,483,647 (4bytes)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%d or %</a:t>
                      </a:r>
                      <a:r>
                        <a:rPr lang="en-GB" dirty="0" err="1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endParaRPr lang="en-GB" dirty="0">
                        <a:solidFill>
                          <a:srgbClr val="004467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968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unsigned 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 or 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dirty="0"/>
                        <a:t>0 to 65,535 (2 bytes)</a:t>
                      </a:r>
                      <a:endParaRPr lang="en-GB" sz="1400" dirty="0"/>
                    </a:p>
                    <a:p>
                      <a:pPr algn="ctr"/>
                      <a:r>
                        <a:rPr lang="en-GB" sz="1400" dirty="0"/>
                        <a:t>Or</a:t>
                      </a:r>
                    </a:p>
                    <a:p>
                      <a:pPr algn="ctr"/>
                      <a:r>
                        <a:rPr lang="pl-PL" sz="1400" dirty="0"/>
                        <a:t>0 to 4,294,967,295 (4bytes)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%u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562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short 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-32,768 to 32,767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%</a:t>
                      </a:r>
                      <a:r>
                        <a:rPr lang="en-GB" dirty="0" err="1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hd</a:t>
                      </a:r>
                      <a:endParaRPr lang="en-GB" dirty="0">
                        <a:solidFill>
                          <a:srgbClr val="004467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48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long 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 or 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dirty="0"/>
                        <a:t>-2,147,483,648 to 2,147,483,647 (4 bytes)</a:t>
                      </a:r>
                      <a:endParaRPr lang="en-GB" sz="1400" dirty="0"/>
                    </a:p>
                    <a:p>
                      <a:pPr algn="ctr"/>
                      <a:r>
                        <a:rPr lang="en-GB" sz="1400" dirty="0"/>
                        <a:t>Or</a:t>
                      </a:r>
                    </a:p>
                    <a:p>
                      <a:pPr algn="ctr"/>
                      <a:r>
                        <a:rPr lang="pl-PL" sz="1400" dirty="0"/>
                        <a:t>-9,223,372,036,854,775,808 to 9,223,372,036,854,775,807 (8 bytes)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%</a:t>
                      </a:r>
                      <a:r>
                        <a:rPr lang="en-GB" dirty="0" err="1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ld</a:t>
                      </a:r>
                      <a:endParaRPr lang="en-GB" dirty="0">
                        <a:solidFill>
                          <a:srgbClr val="004467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243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702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81937-9D43-B14D-3DEA-D7C4478FE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EDF6D34D-34DE-379D-D77E-9AFCFD04A0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570FE6E-81CB-B2A0-0008-ABF36EDC0A2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8DB41-8DBB-F597-E007-7689C011C7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5922FB-B162-AC04-4FC9-FAE85898FCB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73077F-23C8-73A8-6845-F738BA072E28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8E906CC-8623-D3B8-2B83-20AFB084A969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D52B749-A282-C955-C396-B2C58A147E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64D626B-62B5-42D9-25CB-020CED223E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6423CCF-D1C3-8EDF-532B-3ED1C72A14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BFC1E1B-E50B-FFB7-C851-9DEFABC83C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5BDC13BB-E1FD-2F37-6C9B-385A5F8F0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The Cure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stdint.h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&gt;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D6426A2B-D7A1-F13C-D1A8-C1540A1F05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16AED113-9CD4-A3C3-40F8-C7FF3A6E15E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3BBD741-1E77-31E9-4BD3-D23B781D52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946901"/>
              </p:ext>
            </p:extLst>
          </p:nvPr>
        </p:nvGraphicFramePr>
        <p:xfrm>
          <a:off x="838201" y="2601408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23735850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0319682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38551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540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uint8_t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0 .. 255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910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int8_t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-128 .. 127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70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uint16_t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0.. 65535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725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004467"/>
                          </a:solidFill>
                          <a:latin typeface="Consolas" panose="020B0609020204030204" pitchFamily="49" charset="0"/>
                        </a:rPr>
                        <a:t>uint32_t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 bytes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0 .. </a:t>
                      </a:r>
                      <a:r>
                        <a:rPr lang="pl-PL" sz="1800" dirty="0"/>
                        <a:t>4,294,967,295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01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293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F6CEF-2FDA-7C60-FA23-645DB100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773A9B7-99AD-FB84-ED6F-E04C690D80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E72854A-61B9-70B1-F4ED-188B1BEEE15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49DA11-7842-715F-BBB8-9855E9F694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1A7D7A1-7514-568F-75E5-A4A8070C8DC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4C4A333-187A-146D-B2A4-CD2FD2043C81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716732A-E5EE-10B3-F9E2-8DFF1A11B8D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932839A-C7BC-0E1F-5836-0E6803DA9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C794D3-C287-459B-C52A-3C228EC959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019586-55B1-73BE-6795-38FB7E6BBB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A81B996-27EC-9696-390C-860F56D93A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FEA4FA4E-092D-794B-A4BA-833D5B64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690" y="982431"/>
            <a:ext cx="6668760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Declaration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BEA596F3-BE67-00D0-1191-C5E237F8C4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288321F-59E7-7A53-52D7-C05D4A5A75E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AB6BF8-C7FE-C60F-1E6B-929E3E39EF6D}"/>
              </a:ext>
            </a:extLst>
          </p:cNvPr>
          <p:cNvSpPr txBox="1"/>
          <p:nvPr/>
        </p:nvSpPr>
        <p:spPr>
          <a:xfrm>
            <a:off x="2795070" y="2135844"/>
            <a:ext cx="6096000" cy="3338478"/>
          </a:xfrm>
          <a:prstGeom prst="rect">
            <a:avLst/>
          </a:prstGeom>
          <a:solidFill>
            <a:schemeClr val="dk1"/>
          </a:solidFill>
          <a:ln w="19050" cap="flat" cmpd="sng" algn="ctr">
            <a:solidFill>
              <a:schemeClr val="dk1">
                <a:shade val="15000"/>
              </a:schemeClr>
            </a:solidFill>
            <a:prstDash val="solid"/>
            <a:miter lim="800000"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stdint.h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value 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pi 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3.14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grade 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counter 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timer_value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XL 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18446744073709551615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647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9FF8F-2840-242B-9E77-F1A752C15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AD9807B-84A4-3230-DB6E-7E2F700788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BD49E5A-7010-01CE-37E4-7D75AABA0E2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5D11FC-6F75-82A7-8A1E-03CF8F74C2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148C8D5-E68B-9CE3-5A30-110C21EC6B1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375C7A-3E2B-AADE-4407-8CB90AA4C8D8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46BD946-DF87-1CFC-3A73-35513B78A9D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78F9AE6-A038-92E6-4643-8854566A20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38E1260-2689-A724-43EA-B57417C932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EA3DD5-26F6-2E1D-6982-813DE177C5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C278883-22A9-16E1-58F5-A9F1A67DF1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A01BE014-DA03-7F05-09C1-174C9E5E9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Operators: </a:t>
            </a:r>
            <a:r>
              <a:rPr lang="en-GB" b="1" dirty="0"/>
              <a:t>Arithmetic 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1145EB62-60F5-8D07-4DD5-BC3146F55E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CC91900-E45B-CFA6-2EBC-5BBE6A608D6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16F3D16D-B9D7-F679-6702-300D6C75A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832805"/>
              </p:ext>
            </p:extLst>
          </p:nvPr>
        </p:nvGraphicFramePr>
        <p:xfrm>
          <a:off x="2152650" y="2169754"/>
          <a:ext cx="78867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5738470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125228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71130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014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 + 3 =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87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39 – 23 = 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532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 * 10 =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601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 / 10 =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300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16 %  15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12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Increment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100++ = 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533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Decrement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68-- = 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49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567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960C-2D57-8CF2-AA35-80720761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D2DFC0-77D9-7EAC-0A84-8053DFE0B4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187929A-5BB8-9414-81D5-B82DBE00E51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13D27E-278A-609B-5A3F-EFE1AD68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BF9210-AA00-8650-7CE5-30D2283EC0F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04A8F9D-25A4-35F1-A88A-574D4445A114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53A4C0C-29A5-6226-EFD3-6C809426F36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DA82BD7-0E13-FB81-E021-1F3888DFA7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67AEC14-DBC7-5818-7A44-85DEE0E94B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920BDDA-A967-E522-54EA-0F9AE20A92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A68D442-BA0C-1FCF-D7B4-0A25C36FAD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933EE5EC-7DE5-F6FB-61EC-5A8F14BFD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Operators: </a:t>
            </a:r>
            <a:r>
              <a:rPr lang="en-GB" b="1" dirty="0"/>
              <a:t>Comparison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23A4E3BF-F586-B13D-0C85-92EDEF766C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990F1FE-23C2-6471-5D52-3AC05A6D70B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4B3C3910-A7AB-45C3-42CF-D8BE314910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7533991"/>
              </p:ext>
            </p:extLst>
          </p:nvPr>
        </p:nvGraphicFramePr>
        <p:xfrm>
          <a:off x="2152650" y="2169754"/>
          <a:ext cx="78867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5738470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125228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71130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014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 ==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87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 !=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532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Greater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 &gt;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601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Less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 &lt;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300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Equal or Great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 &gt;=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12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Equal or Less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 &lt;=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533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01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3AE1-77A1-96E6-7B43-C726DB49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F31F85AB-A25E-9EC0-C4FF-164A79BC48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307AA95-5BDD-21C6-D183-FC1940FD4F8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DD99E8-4471-C7A6-4600-1BB7E5C2C5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35403C-BEB3-3CD6-07AE-8EA7C575B49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71053E-51AA-01D4-8BB7-AAC6FA75A946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2B775C6-5ECC-FB13-6F91-1A4BB2562C6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77FA784-1D2B-DFA4-64DB-E6424FD90F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E8F440E-17CB-DE73-313C-42727774C4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E052DE-1F9F-27F2-1422-BC5E57EE71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39D9D5B-831A-3356-C5FB-3E19F12D8A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AF97F0B6-7F84-4072-9EFD-04122B75C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Operators: </a:t>
            </a:r>
            <a:r>
              <a:rPr lang="en-GB" b="1" dirty="0"/>
              <a:t>Logical 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F9CD2D3D-83FD-7F01-7E6C-0E61F07E01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0BD1495-BD75-4C11-6719-EB04F8C6148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307C44A6-B9F9-C89E-8193-3B7A2605F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025238"/>
              </p:ext>
            </p:extLst>
          </p:nvPr>
        </p:nvGraphicFramePr>
        <p:xfrm>
          <a:off x="2152650" y="2876278"/>
          <a:ext cx="7886700" cy="1502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5738470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125228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71130037"/>
                    </a:ext>
                  </a:extLst>
                </a:gridCol>
              </a:tblGrid>
              <a:tr h="390129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014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&lt; 5 &amp;&amp;  x &lt;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87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 &lt; 5 || x &lt;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532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!(x &lt; 5 &amp;&amp; x &lt; 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601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103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5DD28-6469-A542-511F-487454BBF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2F1F0CA-92AE-DA76-5D44-37E2424041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A07A12-791E-D514-1B18-2982E801CDC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F1B264-1B1C-ACB3-3D5C-4DEC474F8C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3F280F-44C9-3948-D51A-2697445024F4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C00DB7C-C72B-37EE-72E2-5D48CBEA1C77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0CAF919-E60B-7DF7-5D29-9274F8A5C4A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F8DBD84-A2D0-F18F-5A1E-5C980E9FAC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65C45AE-E727-3D00-31AF-186E000394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254689-8D8E-0BDE-F3B6-1DE5B35E42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556B827-6E87-7B3B-3C58-A19410CA81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D061860B-1B02-468E-327A-365F0638F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Operators: </a:t>
            </a:r>
            <a:r>
              <a:rPr lang="en-GB" b="1" dirty="0"/>
              <a:t>Assignment 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082312D6-27BF-A1CC-0B53-266604C570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FAF2AFD-C7DF-A3DC-40A8-960058E9EAC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0722732-920F-5B01-1439-F20E590D9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assign a </a:t>
            </a:r>
            <a:r>
              <a:rPr lang="en-GB" dirty="0">
                <a:solidFill>
                  <a:srgbClr val="004467"/>
                </a:solidFill>
              </a:rPr>
              <a:t>value</a:t>
            </a:r>
            <a:r>
              <a:rPr lang="en-GB" dirty="0"/>
              <a:t> to any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variable</a:t>
            </a:r>
            <a:r>
              <a:rPr lang="en-GB" dirty="0"/>
              <a:t>, we use equal </a:t>
            </a:r>
            <a:r>
              <a:rPr lang="en-GB" dirty="0">
                <a:latin typeface="Consolas" panose="020B0609020204030204" pitchFamily="49" charset="0"/>
              </a:rPr>
              <a:t>‘=‘</a:t>
            </a:r>
            <a:r>
              <a:rPr lang="en-GB" dirty="0"/>
              <a:t> </a:t>
            </a:r>
          </a:p>
          <a:p>
            <a:r>
              <a:rPr lang="en-GB" dirty="0"/>
              <a:t>By combining Equal with any operator from Arithmetic or Logical we get assignment operators with properties of other operator</a:t>
            </a:r>
          </a:p>
          <a:p>
            <a:pPr marL="0" indent="0" algn="ctr">
              <a:buNone/>
            </a:pPr>
            <a:br>
              <a:rPr lang="en-GB" dirty="0"/>
            </a:br>
            <a:r>
              <a:rPr lang="en-GB" dirty="0"/>
              <a:t>i.e.  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x /= 3</a:t>
            </a:r>
            <a:r>
              <a:rPr lang="en-GB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dirty="0"/>
              <a:t>is the same as  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x = x / 3</a:t>
            </a:r>
            <a:br>
              <a:rPr lang="en-GB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</a:br>
            <a:endParaRPr lang="en-GB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r>
              <a:rPr lang="en-GB" dirty="0"/>
              <a:t>Basically, a shorter way of writing Assignments</a:t>
            </a:r>
          </a:p>
        </p:txBody>
      </p:sp>
    </p:spTree>
    <p:extLst>
      <p:ext uri="{BB962C8B-B14F-4D97-AF65-F5344CB8AC3E}">
        <p14:creationId xmlns:p14="http://schemas.microsoft.com/office/powerpoint/2010/main" val="191318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04D08-EE0D-22FD-8511-8299D150F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3F8C98E1-08BE-B3DC-0929-82285AF5BC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5AA6E1A-2324-1ABB-D058-E4F1D25BB61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9575CF-CCB2-EB41-AF6B-1FB234C106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A8C214-7956-2717-431B-8032B1EF25D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294F1C-07A7-AFFB-9EEF-E323B36F5138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43702E7-3812-9841-976F-8C0955BFB0A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C8AA2A-8E47-FCB7-0FCE-6AAA6DDB5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9D5750-7AE9-BE1F-16EB-06D19BE909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35AF845-4D26-E8DC-1A65-1BBC7D699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DC5F4EF8-4F7D-6122-3C57-9BB3103AB2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3DBDEC6C-82A3-F8AE-9ACB-6086AEA8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07" y="711268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Operators</a:t>
            </a:r>
            <a:r>
              <a:rPr lang="en-GB" b="1" dirty="0"/>
              <a:t> in practice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994916B8-A957-A5C9-03F1-612D57F8BF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E234936-D066-28E6-C08A-4E03AFF1977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D4B911B-1C9D-B677-3455-F05CE0AC506F}"/>
              </a:ext>
            </a:extLst>
          </p:cNvPr>
          <p:cNvSpPr txBox="1"/>
          <p:nvPr/>
        </p:nvSpPr>
        <p:spPr>
          <a:xfrm>
            <a:off x="1499106" y="1714703"/>
            <a:ext cx="5121915" cy="44012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fr-F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fr-F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%%</a:t>
            </a:r>
            <a:r>
              <a:rPr lang="fr-F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fr-FR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fr-F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 &gt; y =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fr-FR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fr-F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 &amp;&amp; y =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fr-FR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fr-F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pPr>
              <a:buNone/>
            </a:pP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D284A-3A55-4AAF-76CF-C5DCAE7DE045}"/>
              </a:ext>
            </a:extLst>
          </p:cNvPr>
          <p:cNvSpPr txBox="1"/>
          <p:nvPr/>
        </p:nvSpPr>
        <p:spPr>
          <a:xfrm>
            <a:off x="7452794" y="3315140"/>
            <a:ext cx="1883849" cy="1200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sz="2400" dirty="0">
                <a:solidFill>
                  <a:srgbClr val="C586C0"/>
                </a:solidFill>
                <a:latin typeface="Consolas" panose="020B0609020204030204" pitchFamily="49" charset="0"/>
              </a:rPr>
              <a:t>x % y = 7</a:t>
            </a:r>
          </a:p>
          <a:p>
            <a:r>
              <a:rPr lang="es-ES" sz="2400" dirty="0">
                <a:solidFill>
                  <a:srgbClr val="C586C0"/>
                </a:solidFill>
                <a:latin typeface="Consolas" panose="020B0609020204030204" pitchFamily="49" charset="0"/>
              </a:rPr>
              <a:t>x &gt; y = 0</a:t>
            </a:r>
          </a:p>
          <a:p>
            <a:r>
              <a:rPr lang="es-ES" sz="2400" dirty="0">
                <a:solidFill>
                  <a:srgbClr val="C586C0"/>
                </a:solidFill>
                <a:latin typeface="Consolas" panose="020B0609020204030204" pitchFamily="49" charset="0"/>
              </a:rPr>
              <a:t>x &amp;&amp; y = 1</a:t>
            </a:r>
            <a:endParaRPr lang="en-GB" sz="2400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29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D178E-E0F4-DD9E-8006-DA5A30058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B6B425-50E7-EFF9-4842-7AC4736C2FE1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BB26F8-B19C-ADFF-6BBD-836551B559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2FEE07-651E-4667-B2B1-83C0AC6E6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09A9E552-E0EF-31A3-A170-909733B60F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45AA27-E863-FB2E-C92E-023F6D4EAF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0A0EEBF-C235-F646-427D-326BA2DD984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360C75D-5121-0B77-5D60-7739BCA3AF9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A2A94BF-893C-AD90-76EC-59AEC36AF047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ED7EDDD-DC4E-9209-E466-E44277E9AD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F149A9-0BF1-40DF-188E-45EF5BF5E0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3895066-B84A-0F91-9EB9-2EFB5D6919F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6C5F6-A717-C10B-AA55-DC988D523348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01FA0B1A-1E1F-32C1-BACC-B0E318AA0AA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8CC0B5A4-3F19-D588-0423-9CB70C278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7862" y="2766218"/>
            <a:ext cx="537627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Conditionals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sz="3100" dirty="0">
                <a:solidFill>
                  <a:schemeClr val="bg2"/>
                </a:solidFill>
              </a:rPr>
              <a:t>Control Flow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sz="2200" dirty="0">
                <a:solidFill>
                  <a:schemeClr val="bg2"/>
                </a:solidFill>
              </a:rPr>
              <a:t>If you do then good, else then bad</a:t>
            </a: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D70D9093-FAE9-878A-DC73-DA7988C146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76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1F049-8984-10F4-862E-8079B5828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15CC204-2796-8FF0-4084-EAD10D83E8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641EE80-E2DA-C46F-DDB8-EB5D1166D5E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B4AB4A-4514-6754-363C-62583A4C0E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2FE5B6-25E6-6BD3-8C42-8FA5E378FF2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ABBBEA-301B-F7FE-87E6-99A8B8C3CDCC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4A52A55-7CBD-01BF-2BC5-683CEC69517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FDB1AE4-BFBA-D646-BE45-B39F7CBB76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D77E430-6EA1-F734-D018-0FAF594FD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6C23D3-19D0-EF5F-4CAE-3B3C8EDAD4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A09F654-BAA1-2CB9-2F4B-8B63FCE015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065A1DA1-F7EF-716E-D9CC-025B8EB2B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If Statement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FA03241E-BFFD-A89B-9D12-53453DC9EC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67D7AAA-BCC0-3C96-6C62-FE153175765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9ED77BF-F79A-C376-D915-8D31FB65E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427" y="2771946"/>
            <a:ext cx="10978545" cy="2397095"/>
          </a:xfrm>
        </p:spPr>
        <p:txBody>
          <a:bodyPr>
            <a:normAutofit/>
          </a:bodyPr>
          <a:lstStyle/>
          <a:p>
            <a:r>
              <a:rPr lang="en-GB" sz="2400" dirty="0"/>
              <a:t>Use </a:t>
            </a:r>
            <a:r>
              <a:rPr lang="en-GB" sz="2400" dirty="0">
                <a:solidFill>
                  <a:srgbClr val="004467"/>
                </a:solidFill>
                <a:latin typeface="Consolas" panose="020B0609020204030204" pitchFamily="49" charset="0"/>
              </a:rPr>
              <a:t>if</a:t>
            </a:r>
            <a:r>
              <a:rPr lang="en-GB" sz="2400" dirty="0"/>
              <a:t> to specify a block of code to be executed, if a specified condition is true</a:t>
            </a:r>
          </a:p>
          <a:p>
            <a:r>
              <a:rPr lang="en-GB" sz="2400" dirty="0"/>
              <a:t>Use </a:t>
            </a:r>
            <a:r>
              <a:rPr lang="en-GB" sz="2400" dirty="0">
                <a:solidFill>
                  <a:srgbClr val="004467"/>
                </a:solidFill>
                <a:latin typeface="Consolas" panose="020B0609020204030204" pitchFamily="49" charset="0"/>
              </a:rPr>
              <a:t>else</a:t>
            </a:r>
            <a:r>
              <a:rPr lang="en-GB" sz="2400" dirty="0"/>
              <a:t> to specify a block of code to be executed, if the same condition is false</a:t>
            </a:r>
          </a:p>
          <a:p>
            <a:r>
              <a:rPr lang="en-GB" sz="2400" dirty="0"/>
              <a:t>Use </a:t>
            </a:r>
            <a:r>
              <a:rPr lang="en-GB" sz="2400" dirty="0">
                <a:solidFill>
                  <a:srgbClr val="004467"/>
                </a:solidFill>
                <a:latin typeface="Consolas" panose="020B0609020204030204" pitchFamily="49" charset="0"/>
              </a:rPr>
              <a:t>else if</a:t>
            </a:r>
            <a:r>
              <a:rPr lang="en-GB" sz="2400" dirty="0"/>
              <a:t> to specify a new condition to test, if the first condition is false</a:t>
            </a:r>
          </a:p>
          <a:p>
            <a:r>
              <a:rPr lang="en-GB" sz="2400" dirty="0"/>
              <a:t>Use </a:t>
            </a:r>
            <a:r>
              <a:rPr lang="en-GB" sz="2400" dirty="0">
                <a:solidFill>
                  <a:srgbClr val="004467"/>
                </a:solidFill>
                <a:latin typeface="Consolas" panose="020B0609020204030204" pitchFamily="49" charset="0"/>
              </a:rPr>
              <a:t>switch</a:t>
            </a:r>
            <a:r>
              <a:rPr lang="en-GB" sz="2400" dirty="0"/>
              <a:t> to specify many alternative blocks of code to be executed</a:t>
            </a:r>
          </a:p>
        </p:txBody>
      </p:sp>
    </p:spTree>
    <p:extLst>
      <p:ext uri="{BB962C8B-B14F-4D97-AF65-F5344CB8AC3E}">
        <p14:creationId xmlns:p14="http://schemas.microsoft.com/office/powerpoint/2010/main" val="143527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7DA7-CAA6-82B6-7033-D612B51E3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33F2146-4798-B59A-AB58-E9888E1A7F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B672BFE-3C06-3EE1-A8EE-087CE9DF074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38488B-637A-6F63-CB9E-A6D409E0BA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79FE62-E6AB-3F0F-6199-E7D35D56B72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EBCFBF-958F-5666-38F3-7BA61027A706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AED1775-3D75-B025-0B68-9AA59FABA8B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1BD22F9-C609-553F-AEE0-0391E03FC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143A98F-FF94-5DB0-FEBA-2663AD7581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AFCA76-011B-5530-F17A-3D1C23A367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1C148-0DF6-4BAE-2935-BB06A4661B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04165143-1ADD-332C-7D7D-D4E0B699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What if we </a:t>
            </a:r>
            <a:r>
              <a:rPr lang="en-GB" b="1" dirty="0"/>
              <a:t>demonstrate?</a:t>
            </a:r>
            <a:endParaRPr lang="en-US" b="1" dirty="0"/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535AF4E2-A2FC-3CEC-66CF-E91E6E8A72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AF5C403-1232-4D8B-1321-046E2B47791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62CEF5-216E-EC9C-7568-25F652233FF1}"/>
              </a:ext>
            </a:extLst>
          </p:cNvPr>
          <p:cNvSpPr txBox="1"/>
          <p:nvPr/>
        </p:nvSpPr>
        <p:spPr>
          <a:xfrm>
            <a:off x="1414466" y="1660909"/>
            <a:ext cx="8680581" cy="41549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GB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 school student.</a:t>
            </a:r>
            <a:r>
              <a:rPr lang="en-GB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GB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 university student.</a:t>
            </a:r>
            <a:r>
              <a:rPr lang="en-GB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GB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 graduate.</a:t>
            </a:r>
            <a:r>
              <a:rPr lang="en-GB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7715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FB4A9-B658-75C2-8377-F1F2C7A2F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89F8740D-7077-1F0C-9795-C276552514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20E8ABA-B17D-CE99-2F05-5C80DAA2BB5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D12021-3753-58C0-A19B-8BB321AAE8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E97E6C-ECAB-05B3-FCD5-E6F2A9B1183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368E04-3E91-97DB-B3CC-B2F6F88D3305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83FC9DF-B113-B0DC-A9C8-6B86F30AA429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AE520FD-EE05-A9E5-A124-BD8D8A76AB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0206185-24AA-0B6B-7959-C427FDA8B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0C6A7F9-87F4-EB18-ADE5-957F58A45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27F64A7-A7A3-4F87-7AAA-D51A652CA7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D287DAB-D570-BD2F-66C0-783C5FBA0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Nested If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8CEE45FF-E0EA-3A1B-5021-5EA126961A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D2BC23A-6256-5F7A-2BC7-36ECE2D3295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9C9526-E2B7-F294-B293-DBB6A1331363}"/>
              </a:ext>
            </a:extLst>
          </p:cNvPr>
          <p:cNvSpPr txBox="1"/>
          <p:nvPr/>
        </p:nvSpPr>
        <p:spPr>
          <a:xfrm>
            <a:off x="5477705" y="1719433"/>
            <a:ext cx="6096000" cy="4093428"/>
          </a:xfrm>
          <a:prstGeom prst="rect">
            <a:avLst/>
          </a:prstGeom>
          <a:solidFill>
            <a:schemeClr val="dk1"/>
          </a:solidFill>
          <a:ln w="19050" cap="flat" cmpd="sng" algn="ctr">
            <a:solidFill>
              <a:schemeClr val="dk1">
                <a:shade val="15000"/>
              </a:schemeClr>
            </a:solidFill>
            <a:prstDash val="solid"/>
            <a:miter lim="800000"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 child.</a:t>
            </a:r>
            <a:r>
              <a:rPr lang="en-GB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GB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GB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 teenager.</a:t>
            </a:r>
            <a:r>
              <a:rPr lang="en-GB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GB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GB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an adult.</a:t>
            </a:r>
            <a:r>
              <a:rPr lang="en-GB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GB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5CC0E9-F0B4-2F43-EE08-94318BABBF80}"/>
              </a:ext>
            </a:extLst>
          </p:cNvPr>
          <p:cNvSpPr txBox="1"/>
          <p:nvPr/>
        </p:nvSpPr>
        <p:spPr>
          <a:xfrm>
            <a:off x="983075" y="1994954"/>
            <a:ext cx="4120600" cy="30469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You can also place an if statement inside another if. This is called a </a:t>
            </a:r>
            <a:r>
              <a:rPr lang="en-GB" sz="2400" b="1" dirty="0"/>
              <a:t>nested if</a:t>
            </a:r>
            <a:r>
              <a:rPr lang="en-GB" sz="2400" dirty="0"/>
              <a:t> statement.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 nested if lets you check for a condition only if another condition is already true</a:t>
            </a:r>
          </a:p>
        </p:txBody>
      </p:sp>
    </p:spTree>
    <p:extLst>
      <p:ext uri="{BB962C8B-B14F-4D97-AF65-F5344CB8AC3E}">
        <p14:creationId xmlns:p14="http://schemas.microsoft.com/office/powerpoint/2010/main" val="156207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9F071-2A84-1E1B-9882-2FE8DC3EC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CE4A9B9-DF59-F3EC-0A81-A32E7330B1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E2AD525-157B-AFEB-263B-B2BFC23BEA1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D29B2F-CA61-04A0-051A-58ADFD841E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4F20FC-D306-3E94-3F0D-7988A98420F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337FDE-1E3F-9502-3A36-8A55B53F945D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C60E348-E369-CA04-59CA-84BF3D5B51D9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7AF8851-B2AC-668C-D44D-A9C398CD78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857D429-15A9-0486-8EDE-8F99552F84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FC0955-EC8D-09A0-6CDF-C15EB90AD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8445E14-0A45-07CD-A24C-39C4BBFDD2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28153804-A78C-CED4-A2F9-1036E0093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How does Switch work?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C1BF3271-D436-268D-65A3-7376E5C4E7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C91BEAD-667D-1E99-90A3-6194BD7C79A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3CAC53-D095-D025-E8D0-307FD020A2D2}"/>
              </a:ext>
            </a:extLst>
          </p:cNvPr>
          <p:cNvSpPr txBox="1"/>
          <p:nvPr/>
        </p:nvSpPr>
        <p:spPr>
          <a:xfrm>
            <a:off x="937268" y="1965253"/>
            <a:ext cx="6096000" cy="3693319"/>
          </a:xfrm>
          <a:prstGeom prst="rect">
            <a:avLst/>
          </a:prstGeom>
          <a:solidFill>
            <a:schemeClr val="dk1"/>
          </a:solidFill>
          <a:ln w="19050" cap="flat" cmpd="sng" algn="ctr">
            <a:solidFill>
              <a:schemeClr val="dk1">
                <a:shade val="15000"/>
              </a:schemeClr>
            </a:solidFill>
            <a:prstDash val="solid"/>
            <a:miter lim="800000"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"Monday"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"Tuesday"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"Wednesday"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"Invalid day"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61499-4FFC-D4CA-B346-85D8E32EF6B7}"/>
              </a:ext>
            </a:extLst>
          </p:cNvPr>
          <p:cNvSpPr txBox="1"/>
          <p:nvPr/>
        </p:nvSpPr>
        <p:spPr>
          <a:xfrm>
            <a:off x="7219670" y="2072974"/>
            <a:ext cx="4394027" cy="34778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 value of the expression is compared with the values of each </a:t>
            </a:r>
            <a:r>
              <a:rPr lang="en-GB" sz="2000" dirty="0">
                <a:solidFill>
                  <a:srgbClr val="004467"/>
                </a:solidFill>
              </a:rPr>
              <a:t>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If there is a </a:t>
            </a:r>
            <a:r>
              <a:rPr lang="en-GB" sz="2000" dirty="0">
                <a:solidFill>
                  <a:srgbClr val="004467"/>
                </a:solidFill>
              </a:rPr>
              <a:t>match</a:t>
            </a:r>
            <a:r>
              <a:rPr lang="en-GB" sz="2000" dirty="0"/>
              <a:t>, the associated block of code is </a:t>
            </a:r>
            <a:r>
              <a:rPr lang="en-GB" sz="2000" dirty="0">
                <a:solidFill>
                  <a:srgbClr val="004467"/>
                </a:solidFill>
              </a:rPr>
              <a:t>executed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 </a:t>
            </a:r>
            <a:r>
              <a:rPr lang="en-GB" sz="2000" dirty="0">
                <a:solidFill>
                  <a:srgbClr val="004467"/>
                </a:solidFill>
              </a:rPr>
              <a:t>break</a:t>
            </a:r>
            <a:r>
              <a:rPr lang="en-GB" sz="2000" dirty="0"/>
              <a:t> statement breaks </a:t>
            </a:r>
            <a:r>
              <a:rPr lang="en-GB" sz="2000" dirty="0">
                <a:solidFill>
                  <a:srgbClr val="004467"/>
                </a:solidFill>
              </a:rPr>
              <a:t>out</a:t>
            </a:r>
            <a:r>
              <a:rPr lang="en-GB" sz="2000" dirty="0"/>
              <a:t> of the </a:t>
            </a:r>
            <a:r>
              <a:rPr lang="en-GB" sz="2000" dirty="0">
                <a:solidFill>
                  <a:srgbClr val="004467"/>
                </a:solidFill>
              </a:rPr>
              <a:t>switch</a:t>
            </a:r>
            <a:r>
              <a:rPr lang="en-GB" sz="2000" dirty="0"/>
              <a:t> block and stops the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 </a:t>
            </a:r>
            <a:r>
              <a:rPr lang="en-GB" sz="2000" dirty="0">
                <a:solidFill>
                  <a:srgbClr val="004467"/>
                </a:solidFill>
              </a:rPr>
              <a:t>default</a:t>
            </a:r>
            <a:r>
              <a:rPr lang="en-GB" sz="2000" dirty="0"/>
              <a:t> statement is </a:t>
            </a:r>
            <a:r>
              <a:rPr lang="en-GB" sz="2000" dirty="0">
                <a:solidFill>
                  <a:srgbClr val="004467"/>
                </a:solidFill>
              </a:rPr>
              <a:t>optional</a:t>
            </a:r>
            <a:r>
              <a:rPr lang="en-GB" sz="2000" dirty="0"/>
              <a:t>, and specifies some code to run if there is </a:t>
            </a:r>
            <a:r>
              <a:rPr lang="en-GB" sz="2000" dirty="0">
                <a:solidFill>
                  <a:srgbClr val="004467"/>
                </a:solidFill>
              </a:rPr>
              <a:t>no case match</a:t>
            </a:r>
          </a:p>
        </p:txBody>
      </p:sp>
    </p:spTree>
    <p:extLst>
      <p:ext uri="{BB962C8B-B14F-4D97-AF65-F5344CB8AC3E}">
        <p14:creationId xmlns:p14="http://schemas.microsoft.com/office/powerpoint/2010/main" val="393123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C3C60-B50C-3B63-BD07-316D0B8F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5C5621F-E729-22C9-2A09-20FA646C27EA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4663B7-7488-2DAE-7967-F221200816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CCB65C-A999-64A4-12E2-1C2A259F5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31C5EB2-865B-95B7-DA3A-0D9A4892C5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FC5D5A-848C-38CF-25FF-D6EDA45BAF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C83034C-C166-A639-F951-69CBBDC9AA2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F607079-53BA-C95F-A192-FFAB1B9867CD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0C84BAD-DFC2-DC43-FDCC-673C6EB68208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B59ED17-6BAE-97C4-6BF0-E555120B83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14238E-827C-4800-8D2D-51057ABC5C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8270516-1DAE-155D-4773-48551AC4C73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8E90AC-AA81-63D9-5DA2-8F3204E3E85F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2D81AC86-DE37-1C31-F827-22E898EAB4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E5984F64-4150-2F61-CB02-C6AD09F1C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7862" y="2766218"/>
            <a:ext cx="537627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Loops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sz="3100" dirty="0" err="1">
                <a:solidFill>
                  <a:schemeClr val="bg2"/>
                </a:solidFill>
              </a:rPr>
              <a:t>Loops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sz="2200" dirty="0" err="1">
                <a:solidFill>
                  <a:schemeClr val="bg2"/>
                </a:solidFill>
              </a:rPr>
              <a:t>Loops</a:t>
            </a:r>
            <a:endParaRPr lang="en-US" sz="2200" dirty="0">
              <a:solidFill>
                <a:schemeClr val="bg2"/>
              </a:solidFill>
            </a:endParaRP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A1377873-EB9B-7DFF-8D54-299CBB6B4F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845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EDDCB-D180-E17D-8812-9873EEE45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4F68A2C7-B304-F106-FD01-3E46847AD3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B55D2EA-0E1A-304D-AD47-7B77A98289A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BBA8CD-797D-28E8-B8C8-CF532CF7A4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940F52-4889-D1A3-6DC1-23AB62C5C6C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B0E6A7A-70C6-B215-84E4-F4CB90EB36A3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A7FD2EB-62C7-1926-6971-A753B251457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C6465B-4C45-3B5D-18DB-9723B612E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49F029B-0D94-5C5E-A670-0481EFAF83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8B9A25B-A477-F375-9B8B-10161442BA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8E3F527-7DA2-5672-5827-A3B3DA6A3C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3ABC4613-A72D-38C8-DF63-C2D800E9C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What is a loop?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81DFD1D-6353-516C-F979-1479B49019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D3C6401-9451-FC5C-5C23-282F8BC5A4E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7B5D94-B430-55E5-FBAE-1C04E7C5434F}"/>
              </a:ext>
            </a:extLst>
          </p:cNvPr>
          <p:cNvSpPr txBox="1"/>
          <p:nvPr/>
        </p:nvSpPr>
        <p:spPr>
          <a:xfrm>
            <a:off x="2989006" y="2831315"/>
            <a:ext cx="184731" cy="28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>
              <a:lnSpc>
                <a:spcPts val="1425"/>
              </a:lnSpc>
              <a:buNone/>
            </a:pPr>
            <a:endParaRPr lang="en-GB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A53C87-87BC-C60B-28FD-8A37A8614A7A}"/>
              </a:ext>
            </a:extLst>
          </p:cNvPr>
          <p:cNvSpPr txBox="1"/>
          <p:nvPr/>
        </p:nvSpPr>
        <p:spPr>
          <a:xfrm>
            <a:off x="1702826" y="2247719"/>
            <a:ext cx="8103862" cy="27602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dirty="0"/>
              <a:t>Loops can execute a block of code </a:t>
            </a:r>
            <a:r>
              <a:rPr lang="en-GB" sz="3200" dirty="0">
                <a:solidFill>
                  <a:srgbClr val="004467"/>
                </a:solidFill>
              </a:rPr>
              <a:t>as long as</a:t>
            </a:r>
            <a:r>
              <a:rPr lang="en-GB" sz="3200" dirty="0"/>
              <a:t> a specified condition is </a:t>
            </a:r>
            <a:r>
              <a:rPr lang="en-GB" sz="3200" dirty="0">
                <a:solidFill>
                  <a:srgbClr val="004467"/>
                </a:solidFill>
              </a:rPr>
              <a:t>true</a:t>
            </a:r>
            <a:r>
              <a:rPr lang="en-GB" sz="32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dirty="0"/>
              <a:t>Loops are handy because they </a:t>
            </a:r>
            <a:r>
              <a:rPr lang="en-GB" sz="3200" dirty="0">
                <a:solidFill>
                  <a:srgbClr val="004467"/>
                </a:solidFill>
              </a:rPr>
              <a:t>save time</a:t>
            </a:r>
            <a:r>
              <a:rPr lang="en-GB" sz="3200" dirty="0"/>
              <a:t>, reduce errors, and they make code more readable.</a:t>
            </a:r>
          </a:p>
          <a:p>
            <a:pPr marL="342900" indent="-342900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02800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BB2E-C4D1-DB04-7825-97F858B30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C6E2899-42C8-3C4A-5030-383D6CD316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28C42B7-2E0D-CB6B-D549-5919926AB63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12ECE3-69B5-75CE-3D9B-32168857F3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6DE04A-9615-FD80-EA16-ECE39C7BEE3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6A1F483-9C5A-B939-3F3A-75C8668E478A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821EC47-D7C8-BCD0-C435-0C2A8457CE4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D0FF105-1966-46A8-004B-6B700A98E0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516CA8-B05B-A5C2-674E-2B544C2A6A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B22E82-EC07-E552-35C3-285FDB6F58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D2E9E44-BE8C-F7EE-1608-DB76EDE38F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94634B2E-A3B3-F3BC-D328-B3D16621D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While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FB2FE787-AA12-921F-0974-6618ABC986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D1EF807-4EAE-D1A3-A5A6-BE5C06D2579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42EC11-5B7C-AD40-249C-9C65B7A51568}"/>
              </a:ext>
            </a:extLst>
          </p:cNvPr>
          <p:cNvSpPr txBox="1"/>
          <p:nvPr/>
        </p:nvSpPr>
        <p:spPr>
          <a:xfrm>
            <a:off x="2989006" y="2831315"/>
            <a:ext cx="184731" cy="28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>
              <a:lnSpc>
                <a:spcPts val="1425"/>
              </a:lnSpc>
              <a:buNone/>
            </a:pPr>
            <a:endParaRPr lang="en-GB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D559F5-614F-BF47-3C60-245AC8851449}"/>
              </a:ext>
            </a:extLst>
          </p:cNvPr>
          <p:cNvSpPr txBox="1"/>
          <p:nvPr/>
        </p:nvSpPr>
        <p:spPr>
          <a:xfrm>
            <a:off x="1499106" y="2171532"/>
            <a:ext cx="9065341" cy="1754326"/>
          </a:xfrm>
          <a:prstGeom prst="rect">
            <a:avLst/>
          </a:prstGeom>
          <a:solidFill>
            <a:schemeClr val="dk1"/>
          </a:solidFill>
          <a:ln w="19050" cap="flat" cmpd="sng" algn="ctr">
            <a:solidFill>
              <a:schemeClr val="dk1">
                <a:shade val="15000"/>
              </a:schemeClr>
            </a:solidFill>
            <a:prstDash val="solid"/>
            <a:miter lim="800000"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"Hello, World!</a:t>
            </a:r>
            <a:r>
              <a:rPr lang="en-GB" sz="3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GB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4D680E-AD1E-357D-2298-7A331F928D0C}"/>
              </a:ext>
            </a:extLst>
          </p:cNvPr>
          <p:cNvSpPr txBox="1"/>
          <p:nvPr/>
        </p:nvSpPr>
        <p:spPr>
          <a:xfrm>
            <a:off x="2016838" y="4585641"/>
            <a:ext cx="7649676" cy="1077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The while loop repeats a block of code as long as a specified condition is true</a:t>
            </a:r>
          </a:p>
        </p:txBody>
      </p:sp>
    </p:spTree>
    <p:extLst>
      <p:ext uri="{BB962C8B-B14F-4D97-AF65-F5344CB8AC3E}">
        <p14:creationId xmlns:p14="http://schemas.microsoft.com/office/powerpoint/2010/main" val="1313220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99C61-21A5-6F1B-E6F4-BD55E5FB8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79208E68-27CA-E0E0-F1A1-7E5838EED1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9129CD-D1F5-99C1-AC32-966B56396E04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5D3991-8818-433D-F521-5F193F763A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7CC1BB-3921-1EF7-E399-4A5C70C43F9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082019-3D35-AA79-A1DC-F05BC9FD1B99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351FFFB-F0DD-8F2A-0451-D657FE5805D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B0A5617-2610-40BD-3AD2-E50AF99925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3ED4C80-8305-745D-B6E5-5B0246DF8B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A137D01-F185-62AE-FE75-1130D93C50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2D8F6D0-7082-B398-32FE-830A3DDD91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6DA7106B-64A4-3416-C720-49FD4436A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Do While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546ABF17-CD63-ECC9-6BDD-55C51F1B87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0E31AF94-97EA-7EB2-B93A-CDA88DDF759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AD291C-71AD-F4EA-C6AC-9899718B6268}"/>
              </a:ext>
            </a:extLst>
          </p:cNvPr>
          <p:cNvSpPr txBox="1"/>
          <p:nvPr/>
        </p:nvSpPr>
        <p:spPr>
          <a:xfrm>
            <a:off x="2989006" y="2831315"/>
            <a:ext cx="184731" cy="28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>
              <a:lnSpc>
                <a:spcPts val="1425"/>
              </a:lnSpc>
              <a:buNone/>
            </a:pPr>
            <a:endParaRPr lang="en-GB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3FC892-D603-8451-4082-D742DD9185FC}"/>
              </a:ext>
            </a:extLst>
          </p:cNvPr>
          <p:cNvSpPr txBox="1"/>
          <p:nvPr/>
        </p:nvSpPr>
        <p:spPr>
          <a:xfrm>
            <a:off x="1929919" y="4298447"/>
            <a:ext cx="7649676" cy="20621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This loop will execute the code block once, before checking if the condition is true, then it will repeat the loop as long as the condition is true.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0D9E47-872B-8415-DB13-188C20AB4DC2}"/>
              </a:ext>
            </a:extLst>
          </p:cNvPr>
          <p:cNvSpPr txBox="1"/>
          <p:nvPr/>
        </p:nvSpPr>
        <p:spPr>
          <a:xfrm>
            <a:off x="1444958" y="2104359"/>
            <a:ext cx="8854527" cy="1754326"/>
          </a:xfrm>
          <a:prstGeom prst="rect">
            <a:avLst/>
          </a:prstGeom>
          <a:solidFill>
            <a:schemeClr val="dk1"/>
          </a:solidFill>
          <a:ln w="19050" cap="flat" cmpd="sng" algn="ctr">
            <a:solidFill>
              <a:schemeClr val="dk1">
                <a:shade val="15000"/>
              </a:schemeClr>
            </a:solidFill>
            <a:prstDash val="solid"/>
            <a:miter lim="800000"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"Hello, World!</a:t>
            </a:r>
            <a:r>
              <a:rPr lang="en-GB" sz="3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GB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GB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52457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3C067-0B18-B784-00F2-50A0B14B7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B128F80B-A391-C3B3-BA4C-EAEFC9EEC2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4B47A52-ED60-7E1A-97E9-CD4B06E8663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482FE3-078C-3067-7770-4A0400D3C0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1DFB71-A122-0E0C-7F9F-CAB52236F5F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2163B9-39D0-E8A9-792C-F9B1C8486A06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EC4E4A0-1CF9-F671-0873-82000D25E6DD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188238E-41D3-F466-7A5E-E9DA9F4CDE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EF1BC6B-469D-6A21-BE77-D8A228C639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3AE884-40AE-2B96-BF09-A8A5EC622F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9699A4A-323B-2AD9-01ED-6FB46EEA95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BC9B18D4-35B0-16FC-6993-2AB923F93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For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1BC2B1C4-51CC-0CF4-9961-F0ECF19DAA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69D3872-B48B-4273-EC34-04298F643FE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C56548-3E6A-2E69-4AED-6B49FBBBACEE}"/>
              </a:ext>
            </a:extLst>
          </p:cNvPr>
          <p:cNvSpPr txBox="1"/>
          <p:nvPr/>
        </p:nvSpPr>
        <p:spPr>
          <a:xfrm>
            <a:off x="2989006" y="2831315"/>
            <a:ext cx="184731" cy="28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>
              <a:lnSpc>
                <a:spcPts val="1425"/>
              </a:lnSpc>
              <a:buNone/>
            </a:pPr>
            <a:endParaRPr lang="en-GB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E313F9-8047-1E63-DDAB-845BA0D19A43}"/>
              </a:ext>
            </a:extLst>
          </p:cNvPr>
          <p:cNvSpPr txBox="1"/>
          <p:nvPr/>
        </p:nvSpPr>
        <p:spPr>
          <a:xfrm>
            <a:off x="2047383" y="4298447"/>
            <a:ext cx="7649676" cy="1569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When you know exactly how many times you want to loop through a block of code, use the For loop instead of a while loop: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E860FE-AC89-E46C-1BA1-7C66B728251F}"/>
              </a:ext>
            </a:extLst>
          </p:cNvPr>
          <p:cNvSpPr txBox="1"/>
          <p:nvPr/>
        </p:nvSpPr>
        <p:spPr>
          <a:xfrm>
            <a:off x="1593866" y="2209604"/>
            <a:ext cx="9004267" cy="1754326"/>
          </a:xfrm>
          <a:prstGeom prst="rect">
            <a:avLst/>
          </a:prstGeom>
          <a:solidFill>
            <a:schemeClr val="dk1"/>
          </a:solidFill>
          <a:ln w="19050" cap="flat" cmpd="sng" algn="ctr">
            <a:solidFill>
              <a:schemeClr val="dk1">
                <a:shade val="15000"/>
              </a:schemeClr>
            </a:solidFill>
            <a:prstDash val="solid"/>
            <a:miter lim="800000"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nn-NO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n-NO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"Hello, World!</a:t>
            </a:r>
            <a:r>
              <a:rPr lang="nn-NO" sz="3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nn-NO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nn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1996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16B06-8E4A-0C37-135E-B61EE675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1F63FAF-72A1-066A-B4A5-063D6FE2EF97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58A8A9-B682-00A5-F9D5-E6831E0BC5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3D2813-EDEE-313D-E61B-2DAAA7486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3EA17978-3F32-756D-3875-016FF63DA5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3DE9C9-A8A7-618F-0B7F-0632D488B0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3E029CD-92AD-3D88-D859-6179D84D1960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926F1C-BF3F-6C7E-59EF-08B3CA1EB36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6FCED86-97EA-D472-648E-5FEDB5EE4C1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C9CF004-5AA8-727A-B221-AC6EAE077C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1771F4F-8CC1-30A1-1565-6DA14EACBA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C68CF75-E408-2A17-6935-A1844D6528F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DE2E3F-BB62-121A-E4C0-1EA098B61627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51AE7A3F-11EC-F62F-37FB-69A39DE6F9F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AEAD66F4-C97A-8902-9A9F-05A9B7E7F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7862" y="2766218"/>
            <a:ext cx="537627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GitHub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sz="3100" dirty="0">
                <a:solidFill>
                  <a:schemeClr val="bg2"/>
                </a:solidFill>
              </a:rPr>
              <a:t>Version Control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sz="2200" dirty="0">
                <a:solidFill>
                  <a:schemeClr val="bg2"/>
                </a:solidFill>
              </a:rPr>
              <a:t>Managing Your Projects</a:t>
            </a: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D2A06EF9-DD13-35E2-D4C7-E06D92DBA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08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C3FF7-7BD5-2027-4811-230902B0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4D0BBCFC-E67C-F1A7-B723-0F4681ABCE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D58FC80-3BBA-50F6-57E5-2A798AAC014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00F344-95A5-F1DE-3177-CD8DEFBECC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4DCE45-0FF9-C805-5EE6-59593357AE9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5AEA68-DAB5-D6E7-9DB3-0EFB0FFCA07B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584929D-E7CA-1E4F-6EB3-09B75D32D06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D57EBD-2496-40C7-D8A2-F2C87C7A8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EF3E646-1DCB-567A-3BAF-285D8C6C6D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FCC02D-01C1-BB2F-B00F-43157DB8BD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E59987E-A6DA-5502-BE7F-56E048232E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F5833460-EDF6-9A50-E262-4F20803C0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What’s Version Control?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240E1942-E1E0-0316-526A-97A675FB1C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8FEFB0E-0F5F-7F1B-FFA4-04D6869659A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9D45BBE-E91B-53F1-7CA7-D350CCE5E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8" y="1959263"/>
            <a:ext cx="10515600" cy="3076053"/>
          </a:xfrm>
        </p:spPr>
        <p:txBody>
          <a:bodyPr/>
          <a:lstStyle/>
          <a:p>
            <a:r>
              <a:rPr lang="en-GB" dirty="0"/>
              <a:t>the task of keeping a software system consisting of many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versions</a:t>
            </a:r>
            <a:r>
              <a:rPr lang="en-GB" dirty="0"/>
              <a:t> and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configurations</a:t>
            </a:r>
            <a:r>
              <a:rPr lang="en-GB" dirty="0"/>
              <a:t> well organized</a:t>
            </a:r>
          </a:p>
          <a:p>
            <a:r>
              <a:rPr lang="en-GB" dirty="0"/>
              <a:t>Version control systems help developers keep a complete code history by tracking changes</a:t>
            </a:r>
          </a:p>
          <a:p>
            <a:r>
              <a:rPr lang="en-GB" dirty="0"/>
              <a:t>Examples: Git, Subversion, Mercurial</a:t>
            </a:r>
          </a:p>
        </p:txBody>
      </p:sp>
    </p:spTree>
    <p:extLst>
      <p:ext uri="{BB962C8B-B14F-4D97-AF65-F5344CB8AC3E}">
        <p14:creationId xmlns:p14="http://schemas.microsoft.com/office/powerpoint/2010/main" val="26426053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0CE01-E808-E2DC-84C4-30421459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171DE66A-6BF1-466B-5058-6908EC3A04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A16CB4A-E578-502F-E12E-6E14358BE82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2EB152-2365-9D06-68A6-3FB6DF876E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4C4A82-F0FC-6D14-6F88-B7A9E0F544C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DEAA3FF-C3B9-CE67-A104-FD8AA54D6504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B0A6F02-FE38-448B-819D-70027DC1D05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2B75E8A-503A-BBD5-E1BF-1DF8CCA7F6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429E79-5CAB-7B8F-2BE2-61F4D29E6F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F5FB069-0F25-AE3F-B088-3708D47243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2D082E7-916B-7EA6-AB4A-B9CBDA3D38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B32DA0ED-A9CE-D1C8-52A0-1B517A9C3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610" y="1008742"/>
            <a:ext cx="6158294" cy="6558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Git Vs GitHub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2B74A671-61AE-0E7B-1A98-4A36FD39CB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5ED5A297-9716-F12D-9CD5-3815B0071AA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4E214E8-A9F6-C2DD-BC51-5829770B0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8" y="1959263"/>
            <a:ext cx="10515600" cy="3076053"/>
          </a:xfrm>
        </p:spPr>
        <p:txBody>
          <a:bodyPr/>
          <a:lstStyle/>
          <a:p>
            <a:r>
              <a:rPr lang="en-GB" dirty="0"/>
              <a:t>the task of keeping a software system consisting of many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versions</a:t>
            </a:r>
            <a:r>
              <a:rPr lang="en-GB" dirty="0"/>
              <a:t> and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configurations</a:t>
            </a:r>
            <a:r>
              <a:rPr lang="en-GB" dirty="0"/>
              <a:t> well organized</a:t>
            </a:r>
          </a:p>
          <a:p>
            <a:r>
              <a:rPr lang="en-GB" dirty="0"/>
              <a:t>Version control systems help developers keep a complete code history by tracking changes</a:t>
            </a:r>
          </a:p>
          <a:p>
            <a:r>
              <a:rPr lang="en-GB" dirty="0"/>
              <a:t>Examples: Git, Subversion, Mercurial</a:t>
            </a:r>
          </a:p>
        </p:txBody>
      </p:sp>
    </p:spTree>
    <p:extLst>
      <p:ext uri="{BB962C8B-B14F-4D97-AF65-F5344CB8AC3E}">
        <p14:creationId xmlns:p14="http://schemas.microsoft.com/office/powerpoint/2010/main" val="2457922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/>
        </p:nvSpPr>
        <p:spPr>
          <a:xfrm>
            <a:off x="3697130" y="1505752"/>
            <a:ext cx="46402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20" name="Title 14">
            <a:extLst>
              <a:ext uri="{FF2B5EF4-FFF2-40B4-BE49-F238E27FC236}">
                <a16:creationId xmlns:a16="http://schemas.microsoft.com/office/drawing/2014/main" id="{5B74792E-961E-0D4F-4546-DC2409F89C56}"/>
              </a:ext>
            </a:extLst>
          </p:cNvPr>
          <p:cNvSpPr txBox="1">
            <a:spLocks/>
          </p:cNvSpPr>
          <p:nvPr/>
        </p:nvSpPr>
        <p:spPr>
          <a:xfrm>
            <a:off x="3405904" y="3046969"/>
            <a:ext cx="52226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 dirty="0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056038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square" rtlCol="0">
        <a:spAutoFit/>
      </a:bodyPr>
      <a:lstStyle>
        <a:defPPr algn="l">
          <a:lnSpc>
            <a:spcPts val="1425"/>
          </a:lnSpc>
          <a:buNone/>
          <a:defRPr b="0" dirty="0" smtClean="0">
            <a:solidFill>
              <a:srgbClr val="C586C0"/>
            </a:solidFill>
            <a:effectLst/>
            <a:latin typeface="Consolas" panose="020B0609020204030204" pitchFamily="49" charset="0"/>
          </a:defRPr>
        </a:defPPr>
      </a:lstStyle>
      <a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2020</TotalTime>
  <Words>1039</Words>
  <Application>Microsoft Office PowerPoint</Application>
  <PresentationFormat>Widescreen</PresentationFormat>
  <Paragraphs>340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Aptos</vt:lpstr>
      <vt:lpstr>Aptos Display</vt:lpstr>
      <vt:lpstr>Archivo Black</vt:lpstr>
      <vt:lpstr>Arial</vt:lpstr>
      <vt:lpstr>Consolas</vt:lpstr>
      <vt:lpstr>Helvetica World</vt:lpstr>
      <vt:lpstr>Helvetica World Bold</vt:lpstr>
      <vt:lpstr>Wingdings</vt:lpstr>
      <vt:lpstr>Office Theme</vt:lpstr>
      <vt:lpstr>PowerPoint Presentation</vt:lpstr>
      <vt:lpstr>PowerPoint Presentation</vt:lpstr>
      <vt:lpstr>PowerPoint Presentation</vt:lpstr>
      <vt:lpstr>Content</vt:lpstr>
      <vt:lpstr>C How to Program Quick History  Mother of all Programming Languages</vt:lpstr>
      <vt:lpstr>What’s Programming?</vt:lpstr>
      <vt:lpstr>PowerPoint Presentation</vt:lpstr>
      <vt:lpstr>So why C?</vt:lpstr>
      <vt:lpstr>printf(“Hello World”);  Basic Programming Every Programmer’s First Program</vt:lpstr>
      <vt:lpstr>Printing “Hello World”</vt:lpstr>
      <vt:lpstr>Data Types &amp; Operators Calculating Programming Hey wanna build your OWN calculator instead?</vt:lpstr>
      <vt:lpstr>Data Types</vt:lpstr>
      <vt:lpstr>Extended Types</vt:lpstr>
      <vt:lpstr>The Cure &lt;stdint.h&gt;</vt:lpstr>
      <vt:lpstr>Declaration </vt:lpstr>
      <vt:lpstr>Operators: Arithmetic </vt:lpstr>
      <vt:lpstr>Operators: Comparison</vt:lpstr>
      <vt:lpstr>Operators: Logical </vt:lpstr>
      <vt:lpstr>Operators: Assignment </vt:lpstr>
      <vt:lpstr>Operators in practice</vt:lpstr>
      <vt:lpstr>Conditionals Control Flow If you do then good, else then bad</vt:lpstr>
      <vt:lpstr>If Statement</vt:lpstr>
      <vt:lpstr>What if we demonstrate?</vt:lpstr>
      <vt:lpstr>Nested If</vt:lpstr>
      <vt:lpstr>How does Switch work?</vt:lpstr>
      <vt:lpstr>Loops  Loops Loops</vt:lpstr>
      <vt:lpstr>What is a loop?</vt:lpstr>
      <vt:lpstr>While</vt:lpstr>
      <vt:lpstr>Do While</vt:lpstr>
      <vt:lpstr>For</vt:lpstr>
      <vt:lpstr>GitHub  Version Control Managing Your Projects</vt:lpstr>
      <vt:lpstr>What’s Version Control?</vt:lpstr>
      <vt:lpstr>Git Vs GitHub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 Ezzat</dc:creator>
  <cp:lastModifiedBy>yousef khaled</cp:lastModifiedBy>
  <cp:revision>421</cp:revision>
  <dcterms:created xsi:type="dcterms:W3CDTF">2025-01-30T15:09:40Z</dcterms:created>
  <dcterms:modified xsi:type="dcterms:W3CDTF">2026-03-03T15:27:51Z</dcterms:modified>
</cp:coreProperties>
</file>