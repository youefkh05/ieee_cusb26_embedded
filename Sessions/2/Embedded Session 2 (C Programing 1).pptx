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73" r:id="rId2"/>
    <p:sldId id="257" r:id="rId3"/>
    <p:sldId id="330" r:id="rId4"/>
    <p:sldId id="277" r:id="rId5"/>
    <p:sldId id="282" r:id="rId6"/>
    <p:sldId id="335" r:id="rId7"/>
    <p:sldId id="288" r:id="rId8"/>
    <p:sldId id="336" r:id="rId9"/>
    <p:sldId id="333" r:id="rId10"/>
    <p:sldId id="334" r:id="rId11"/>
    <p:sldId id="339" r:id="rId12"/>
    <p:sldId id="359" r:id="rId13"/>
    <p:sldId id="340" r:id="rId14"/>
    <p:sldId id="341" r:id="rId15"/>
    <p:sldId id="342" r:id="rId16"/>
    <p:sldId id="343" r:id="rId17"/>
    <p:sldId id="360" r:id="rId18"/>
    <p:sldId id="376" r:id="rId19"/>
    <p:sldId id="375" r:id="rId20"/>
    <p:sldId id="377" r:id="rId21"/>
    <p:sldId id="378" r:id="rId22"/>
    <p:sldId id="344" r:id="rId23"/>
    <p:sldId id="345" r:id="rId24"/>
    <p:sldId id="347" r:id="rId25"/>
    <p:sldId id="346" r:id="rId26"/>
    <p:sldId id="348" r:id="rId27"/>
    <p:sldId id="337" r:id="rId28"/>
    <p:sldId id="350" r:id="rId29"/>
    <p:sldId id="351" r:id="rId30"/>
    <p:sldId id="352" r:id="rId31"/>
    <p:sldId id="353" r:id="rId32"/>
    <p:sldId id="349" r:id="rId33"/>
    <p:sldId id="355" r:id="rId34"/>
    <p:sldId id="356" r:id="rId35"/>
    <p:sldId id="357" r:id="rId36"/>
    <p:sldId id="358" r:id="rId37"/>
    <p:sldId id="361" r:id="rId38"/>
    <p:sldId id="362" r:id="rId39"/>
    <p:sldId id="363" r:id="rId40"/>
    <p:sldId id="364" r:id="rId41"/>
    <p:sldId id="365" r:id="rId42"/>
    <p:sldId id="366" r:id="rId43"/>
    <p:sldId id="367" r:id="rId44"/>
    <p:sldId id="368" r:id="rId45"/>
    <p:sldId id="369" r:id="rId46"/>
    <p:sldId id="370" r:id="rId47"/>
    <p:sldId id="354" r:id="rId48"/>
    <p:sldId id="338" r:id="rId49"/>
    <p:sldId id="331" r:id="rId50"/>
    <p:sldId id="372" r:id="rId51"/>
    <p:sldId id="373" r:id="rId52"/>
    <p:sldId id="371" r:id="rId53"/>
    <p:sldId id="374" r:id="rId54"/>
    <p:sldId id="307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E92D716-710A-4691-A3F3-88D5A62E1F3E}">
          <p14:sldIdLst>
            <p14:sldId id="273"/>
            <p14:sldId id="257"/>
            <p14:sldId id="330"/>
            <p14:sldId id="277"/>
            <p14:sldId id="282"/>
            <p14:sldId id="335"/>
            <p14:sldId id="288"/>
            <p14:sldId id="336"/>
            <p14:sldId id="333"/>
            <p14:sldId id="334"/>
            <p14:sldId id="339"/>
            <p14:sldId id="359"/>
            <p14:sldId id="340"/>
            <p14:sldId id="341"/>
            <p14:sldId id="342"/>
            <p14:sldId id="343"/>
            <p14:sldId id="360"/>
            <p14:sldId id="376"/>
            <p14:sldId id="375"/>
            <p14:sldId id="377"/>
            <p14:sldId id="378"/>
            <p14:sldId id="344"/>
            <p14:sldId id="345"/>
            <p14:sldId id="347"/>
            <p14:sldId id="346"/>
            <p14:sldId id="348"/>
            <p14:sldId id="337"/>
            <p14:sldId id="350"/>
            <p14:sldId id="351"/>
            <p14:sldId id="352"/>
            <p14:sldId id="353"/>
            <p14:sldId id="349"/>
            <p14:sldId id="355"/>
            <p14:sldId id="356"/>
            <p14:sldId id="357"/>
            <p14:sldId id="358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54"/>
            <p14:sldId id="338"/>
            <p14:sldId id="331"/>
            <p14:sldId id="372"/>
            <p14:sldId id="373"/>
            <p14:sldId id="371"/>
            <p14:sldId id="374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51B5"/>
    <a:srgbClr val="0044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43DB84-F5CE-E38C-7BAA-4B41D8C85017}" v="956" dt="2025-02-22T14:21:27.6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15" autoAdjust="0"/>
    <p:restoredTop sz="94660"/>
  </p:normalViewPr>
  <p:slideViewPr>
    <p:cSldViewPr snapToGrid="0">
      <p:cViewPr varScale="1">
        <p:scale>
          <a:sx n="93" d="100"/>
          <a:sy n="93" d="100"/>
        </p:scale>
        <p:origin x="86" y="14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0F177-2B9D-42C7-87F0-306C299C9BFE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869DC-B0CD-43F1-9694-171E0AFED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1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00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13376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DC01-35A5-A7BA-6B63-DE074A90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61A8A-5179-B565-DCB0-5E6CE5CDA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54BC-0604-F3B8-30D4-015B4B86A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424A9-35C2-1217-E4BD-4182684C9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58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714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004D0-8C0C-A97A-CEC3-A80BC2D1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41CD8-B693-69D7-7F00-28C7F5781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304687-E0D9-C13D-5E6D-690856058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4841-EA2C-812D-E846-99E6B691F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32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261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DB830-11B7-E8B4-5BF0-8383D8746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81838C-84F4-B5EA-B6D8-EB43A2D3C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7B5FD8-4BB0-EDB4-8C4B-04F1A54C2D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91A04-E86C-F590-068E-F120D824D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F069-0B28-A5BF-E8B5-6A86D9723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7C420-B299-13D7-70F5-BD9A8CA67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6D3B8C-6153-0D8B-B6EC-65FE58B3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2332F-8D29-47AD-533E-2FC6DBB2FF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974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2A912-72E6-43E5-A88B-745B59E7A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688E72-4F97-1CCD-4F36-ED5360D7B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5ADED-24BC-B5F1-6911-2212FBB77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0B74F-0C92-37CE-E215-9BD35F4968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35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80BD6-83BB-94FF-BA9C-75B6BBEC2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2A2F0B-DFBE-A677-C6EA-0E457EF61C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EDE5F-C563-D434-03E6-F0F638273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0D2FB-22D3-034E-79FD-93D71452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3506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E683F-3552-6E1C-7AA0-1300D881D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D5A796-650A-E036-0782-F49D404CC3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F5B649-5B46-75C4-0BE6-89184DEFE3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1B005-020F-6501-7F86-F284F742C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860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18F87-74EC-4E86-C832-62CA9FB1A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6C986-F719-E308-138D-2D0167D0E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37A88-B6FB-6D48-27D5-8C2418C571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29C61-2BA4-5A11-3997-62FFA282E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8981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ED41F-FCA1-7596-8870-30D0C7BE1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BE98A9-6F5A-700A-AA36-C909B2A75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B75AD-22E8-5DF6-431C-DBF32007DB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58EBB-94B5-ECA1-C7A5-2A69D534A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5865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DE04E-EDCE-AB91-FC4F-456CD2BA8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E153AE-467A-438E-9F33-A531573DA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026189-4312-8155-FCFC-ABD8EB99A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A3958-F4DB-69B7-DA05-F247ACDB7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4963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F4B87-D36D-A36B-4381-7EE7CB207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1DA9B6-3768-EB07-C23F-B3195704E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E15BE-0C25-90B5-CF67-6637D39AF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603C3-5299-1A0C-E043-638E8B96E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3331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E1C7B-53B7-2D9E-8F3D-A4A3958C3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D455F-567A-DAAC-4183-B5E0879BA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001129-4426-0A59-6D27-F0BF181CF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B9B3D-9D0A-82D3-1E12-20E30CAD0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253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629ED-7262-04CF-AC3A-BDEF2F8C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2B01A8-4F8C-11C7-3023-177EED8D1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2D4E2-B251-760E-B59D-C2126C0EB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1D7425-CD22-3B14-F0A7-5C660450B2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5168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7BB6B-A559-CC70-893C-70DC96C06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C75AA6-95E8-26B3-8088-3D28E8AE4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5E405-7E67-6D98-ECEA-7729549805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664A44-9CCF-ADE2-2ABD-7D9721506B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1109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24850-B853-A468-7BD3-26B9E769D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23B2-9344-C62C-B693-9046000B6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E5B90B-AB7A-5D04-7C5D-6646A5BD2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5FFDA-0C61-53C9-137F-A13D51DDC8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6224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9AAEB-1901-0F9C-3FFB-BFE851121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76EE0-EBC3-B91E-5EE7-C692EE97E9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4029A9-2409-87DD-B614-601ACBCA3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0D597-7F2C-4B69-19A1-081235004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3980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D96F-FF30-1443-5F2B-3909942F5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5726DB-64BF-DB57-0E4A-6C756D3D5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6C18F-ABB7-95A5-4EEB-B27314D47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C6B00-DF93-56A8-F132-67BB9BDDC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9341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29D01-C036-D1FE-5148-14C8528C1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0E4DAF-720C-4226-1FDB-CF2A84A08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B49316-DD45-276A-4F80-F1642AD724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FEC54-EFEB-D034-EE45-0012300A9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8248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7FB90-0F98-2701-DF0D-2B71442A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D0D5A7-3C1D-02D1-C3CB-F1CED65F73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DAE18-14AB-F213-9346-E0E1D6563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19363-5C7C-4130-ADEC-BBAADCF38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7312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A0689-A140-FEA7-387F-3B215E6DF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73AD24-5C4E-6D88-5F39-035EB6E46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ACAEDD-D633-0093-6F81-1AB15AD8E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4EBE8-0917-4925-4BCF-8BA8E58C37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5480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0D5D9-9B9D-4A5F-8695-50E5919CB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91F35-2AE0-706B-560E-E8D85826B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048171-52D9-5ED8-B1AE-094B93C20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352A8-2135-9FAB-35F8-2F32906005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281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DBEFF-A9A2-CD8C-0FDF-1B552C413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B9FBA-FC90-B007-34E2-F467A583E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ADCD9-D320-491D-30D3-99369D451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9F37C-E8B4-2902-966D-770A18FA3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8762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53C4-C8BB-8200-0256-45B0765F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3116B-8616-78BF-7662-313B1D632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140F8-E65C-4113-6562-69BCBD2AF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C86BD-B98F-4696-9ECB-98FA222C5E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272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F0391-6350-1BDD-4650-3686DC4B9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40E0-526C-96C6-E5BD-00CFCEE66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7780D-DDA2-59B0-1664-E35FBF791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3E913-C96C-84CC-AACF-4AE1281CEF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2889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865C5-FA8A-C006-0C91-693E7A79D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0DFD4-D6F5-CB9E-EAE0-61EEA7D96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3B95D2-42A4-B10B-05F8-DA8E3BA1C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3E609-A39F-0D18-0832-6A8DFA6ECA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238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0B851-B55B-1EAD-22EC-AE13F7EEC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E84AED-D38A-4145-AF32-827F9D103E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FBE5B-BF98-919B-B5B6-8AF00DBE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6F329-8A7D-DA04-B99D-EF9D17D67E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900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2C4A3-4EAA-F3D5-52DC-D46F4A437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709FD2-E29A-E1E2-543D-C593FC7AD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CAA9E-7872-2D7F-D591-A07D52943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EE5E-E850-9888-E4F6-726E9C6C90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1611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55985-6810-1EFE-AFA0-EF9E687F9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9BAB00-B730-050F-D18A-2548B930D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FF130-28FB-FCAB-D148-EC18EDCCE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0C5AD-1AC4-45FA-393E-CEF44933A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4180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2A99E-3CD6-3B5D-C973-3529980A6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04C4F-8AC0-FC62-0DB9-E54159D57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44424-925F-297A-A1EB-E4B491B12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CF7813-C8F2-ED7D-9BAF-76A5A119A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15345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75926-0D8E-BFB2-2733-CA02613A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8E108-C7EA-37DD-885F-CDED3AB19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6B966-E385-D059-10E3-5F087DCA3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B56A9-0E6A-128C-661C-5760D519C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4871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7FD86-378D-10E2-C10E-1B4573A1B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C856E-B80E-CFED-8414-23441ECDD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53D20E-4A60-A1B3-033A-D9185A2A0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7AC8-9416-7FF4-440E-F069937A0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5392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ABA95-3284-1A78-4B56-FBB01C384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D98251-A0EA-A65C-DE55-12EB485BC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FC6D8-FDDD-3091-181F-CE829612B0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38863-B5AC-B50E-6D67-3893FD638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80704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E5E13-8977-1B9D-FD8C-536823BA8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9FB17-1B2F-20B7-4E46-4A898FC02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A68012-982A-2C19-97E7-F3588DB53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044A2-76F9-D7B4-D41C-ECD3BBB05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3402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F9264-352E-636F-301F-AEAEE19E8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034E5F-E8C8-B614-5A1C-49B5A94BD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678D8D-516B-13E1-D677-E74F45BB98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8E9C6-7BD0-E48A-41D3-26871ECC1B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5333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6E8E1-F90E-9676-4D8D-4DB6C7DE5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B8D8D0-6B0A-75B3-BD48-BABF4A554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CC580-19C2-1DC9-E5C5-54456A663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8EB803-0DC3-4521-F823-02701513F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991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8F75A-A365-293C-A34D-52887689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5B6B2F-21BC-FA70-CDEC-0A7256334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C2E5D6-671C-CA77-7C43-C5ED3FEED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AE598-8343-DFFF-4F52-0276D7F867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9962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CD092-26A2-06B6-555A-9B2C7563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64E77-D64F-986C-997F-9087CA010F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F0E75-4540-497C-AF56-F4DF02BA2E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081B6-5D04-CD20-64C8-D46BC159E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4432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7E174-E75B-D542-DF13-C86A4CBF6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D57C-AC3F-56F5-51E3-78FB44738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ED52-73DA-E50F-AAD2-33A0229B44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95E49-96E8-86DD-82DB-8A260D3E8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58813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B3549-C283-13C9-2B82-45DB067C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6CA76F-42C2-DB5D-431E-E857F4128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4151FF-FCF5-40B1-BFA6-F8E1AF951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E1D04-FD0C-CE0B-64BD-71B38B863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25424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01A8-BC83-7FD3-05E5-D35197079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0C44D7-5ABE-7829-9B87-C16F50142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3F80A-BC3C-7F4D-F229-BC38671CA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F068C-022D-A995-7EDD-AE8F9EF0D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9896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DE507-7A9F-EEB9-3A06-6A6BA2F0A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008DC-6587-41C7-6C5C-B61E2AF0D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951EB-AA5A-FF6D-E5FF-AF082B2B3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99C784-3AA3-ECDC-DFFE-7D60EA014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62111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8A756-244E-1EFC-B0A0-309FDD9C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392F8B-177D-B050-9622-8F54E5AD3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2D915-EBAC-659A-9260-AB3EDDD22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5D529-2368-9EC2-9905-63A4C7C9A4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73566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3C001-079B-CAA5-D1FD-1ED4A803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45E2C4-D739-FA16-5181-58811BD42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0F9F8-75C7-AE17-B480-11A454CA3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8D321-F767-0885-3BB0-0B8CAE5B7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1088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63B3A-7750-4EAF-458A-C274A04F8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34D6D-7382-45D7-4DEB-1EBAD50A36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3990C-0C6D-C5D1-7BC7-E148BC479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C7773-DB1D-6B43-5653-2CEBB29C6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51762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52FFE-259A-375E-B2DD-565815767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A3522-16EC-F064-CB6F-C306853FB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36F6A-012B-8867-B78C-E896CC722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7E94A-C411-4843-6514-9F3F182BF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561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74AB2-697D-4810-9AD7-6B53739A3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F7A1E9-3D76-F57A-9476-9FE7D9E3C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FCD9D-DEBD-7DB1-7D5D-516EDF697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8F778-EFD6-49D9-0B0D-3077FFE13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4315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8BF1F-7346-0901-28D6-649AD5C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7814F5-45C9-7DB7-FE59-D3C62F083B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4D9A71-778D-004D-CE0C-BD4E762C9A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C468-59C8-88E3-AA74-4B80DC4524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32565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1CB98-7071-EFAE-11A3-FCCBC8BB3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E31B2-D8C7-87E6-6A39-FFDF1FA925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210E-4359-0FDF-2754-C35F9F567A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E23691-725A-90F6-5320-B1D44E8408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81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02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03C51-E67A-E307-3684-CCD370E49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91B4-77A1-EA2F-D932-D4B9033BF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6472-CAEC-0451-F547-77598C21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7257E-4C9A-4F08-D290-F6C428C60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30C7-AEA7-1282-BEFB-BDC876B1D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6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FBD4C-EE8B-4714-2F18-7056F8DC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D86A-C000-1B16-42A4-D4976B3DF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975E1-4ADC-F64F-B1D5-D61848B4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4475-F41E-832B-7CA1-07CADED2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86643-2AA1-07B5-0FF2-8CB82B30D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7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A9AB-940D-697B-FA9F-1BE22F96B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4DAF6-520C-8652-337D-45768CE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3FB35-DDCE-7511-E07A-2BB46929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ABD6-44AD-9E46-A878-AEF77ABD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0184D-4CF3-4DB7-90C2-B69729C7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4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0BF87-4A82-0A2D-0780-2C7167F4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0D27-3FAA-4689-FE18-6344AC6E90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6019B-79F5-9C73-AE8C-E9A744E84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EE599-958A-BA34-2931-B53D164F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4CED4-34D7-A09F-CD5A-F9D1442F0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D933A-9F42-9A43-A341-B4BC9761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304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517F-CFDA-A29D-7065-12AA7C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367E8-8B91-B0D5-0CFE-5340C305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924A7-91C4-2035-FFDE-E8E34E6F0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7C078D-4AFB-3CA1-8F08-36597D1A7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1980E9-E512-90B1-97F3-0248F8CEC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BA597-4DBA-6FAF-9969-BBD6DD60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9DF46-62E4-07B7-587F-E6A96A6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1DA6A0-3010-C17B-FB0D-D39EAF946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80301-4EBB-BD37-8535-BCE604F4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B8025E-CB15-4764-8988-1EFAD8C29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B46302-DC90-D96B-FCAA-442A229D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9A314-BE68-E8F3-D888-90D6E034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4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759510-A45A-F5F2-CDAD-D406B9718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EA0DF2-0584-DCF7-87D9-B7FC724F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FFBD8-113F-E70E-89C7-ED2FC0F3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0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0BF14-CAD3-AD26-745C-A209518C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7189-987C-85D3-A576-066ED13CA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3E3D3-254B-4913-9704-379A9DA51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BFABC-A84A-7B99-0619-7893E0037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3591-DD9F-0929-45AF-A83769326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3B44C-7FB3-3DE9-451D-54F0C283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1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4C003-5FCC-56E8-6ACE-221984780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A10D09-97F0-FA30-7572-70F5B6B22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30E28-6318-22BE-F3E3-19FE9D0DD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5BE1-1D87-E057-082A-4FA06EBF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1B4FA-396E-2089-0F46-3BD03F6D6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4948F-F0C9-5284-CC49-28D42734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21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1EC2-606C-4C0A-88E6-62004BAB9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C3B4C-E305-5466-CCDF-A1B36063A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662CB-56C8-A8B7-DAAA-E450DBCD6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99343-77EA-492D-FDAB-4D70CCBAA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F9BEE-C120-3C2C-E31A-83805D0F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85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A90FD-410C-EAD0-BE31-F7011AE1BE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0FB1D-DE09-B814-7BF9-87A631619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4F45B-A051-E4BE-6E25-10C26EC3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84EE3-DB19-49CB-FCE9-B190DDFE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7A551-6844-C9B5-A679-C48EDA79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663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5591F-3911-4435-88E1-A6AAFCD88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DAE15-093E-8DDF-A159-FC1AD1630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25935-4CFA-37F8-D79B-D7BB2DD3D9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86029A-0DB0-4EA6-8941-FEFA542D9F9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13C06-5270-1E97-C1C8-188ABB021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E7160-38D4-5A90-B98C-361576A31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52D6653-D6E2-7C41-6BDB-E7E22A306552}"/>
              </a:ext>
            </a:extLst>
          </p:cNvPr>
          <p:cNvSpPr/>
          <p:nvPr/>
        </p:nvSpPr>
        <p:spPr>
          <a:xfrm>
            <a:off x="7715500" y="1136474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76777E-B106-311D-5AFE-158298226B6B}"/>
              </a:ext>
            </a:extLst>
          </p:cNvPr>
          <p:cNvGrpSpPr/>
          <p:nvPr/>
        </p:nvGrpSpPr>
        <p:grpSpPr>
          <a:xfrm>
            <a:off x="10111739" y="3700042"/>
            <a:ext cx="1947465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050BCF-F3CC-2D10-AE60-55B5775FA2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1DEFA4F-D3EA-4661-F8D4-FAAB65D16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807F7C-4637-0A9C-ACA1-C6F417C35D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9E59B9-5424-41C3-4E1B-79F4E1C83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CC9453A-7E4C-ADAB-7DB6-41596DA31C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760" y="6000549"/>
            <a:ext cx="2272479" cy="961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948F23-22F3-02B2-3845-38DEE7F1D7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159" y="-680640"/>
            <a:ext cx="2905680" cy="290568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36BEE0B0-433B-36A1-5B99-255920D0EAAD}"/>
              </a:ext>
            </a:extLst>
          </p:cNvPr>
          <p:cNvGrpSpPr/>
          <p:nvPr/>
        </p:nvGrpSpPr>
        <p:grpSpPr>
          <a:xfrm flipH="1">
            <a:off x="148034" y="3700042"/>
            <a:ext cx="2272479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F408656-3F4F-6164-1857-9A716F403A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FF4A340-5F14-926E-557C-5F2935B910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CC57082-8FED-3276-8FEE-20DA35BA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A437975-3946-77D8-2BBB-CB0769151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BD4B62A-F6A9-3ED1-22F6-9CFC29B54E25}"/>
              </a:ext>
            </a:extLst>
          </p:cNvPr>
          <p:cNvSpPr/>
          <p:nvPr/>
        </p:nvSpPr>
        <p:spPr>
          <a:xfrm rot="10800000">
            <a:off x="-26419" y="1136473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Content Placeholder 55">
            <a:extLst>
              <a:ext uri="{FF2B5EF4-FFF2-40B4-BE49-F238E27FC236}">
                <a16:creationId xmlns:a16="http://schemas.microsoft.com/office/drawing/2014/main" id="{85317F2A-EE10-BE72-AC7B-9E60470F8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0378" y="2272334"/>
            <a:ext cx="8371244" cy="23133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Embedded AVR Workshop</a:t>
            </a:r>
          </a:p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Session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 2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C Programming</a:t>
            </a:r>
          </a:p>
        </p:txBody>
      </p:sp>
    </p:spTree>
    <p:extLst>
      <p:ext uri="{BB962C8B-B14F-4D97-AF65-F5344CB8AC3E}">
        <p14:creationId xmlns:p14="http://schemas.microsoft.com/office/powerpoint/2010/main" val="1952044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10463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"/>
          <p:cNvSpPr txBox="1"/>
          <p:nvPr/>
        </p:nvSpPr>
        <p:spPr>
          <a:xfrm>
            <a:off x="5039360" y="1088383"/>
            <a:ext cx="21222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Hello!</a:t>
            </a:r>
            <a:endParaRPr dirty="0"/>
          </a:p>
        </p:txBody>
      </p:sp>
      <p:sp>
        <p:nvSpPr>
          <p:cNvPr id="124" name="Google Shape;124;p2"/>
          <p:cNvSpPr txBox="1"/>
          <p:nvPr/>
        </p:nvSpPr>
        <p:spPr>
          <a:xfrm>
            <a:off x="1799305" y="2254797"/>
            <a:ext cx="8780698" cy="255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Abd-El Wadoud Ahmad (MTI, CS)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abdelwadoud299@gmail.com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3200" b="1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Marwan Alaa</a:t>
            </a:r>
          </a:p>
          <a:p>
            <a:pPr lvl="0"/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marwan3laaosman@gmail.com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19255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 Code Placed Here</a:t>
            </a:r>
            <a:endParaRPr sz="4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7131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6000">
              <a:srgbClr val="4153BA"/>
            </a:gs>
            <a:gs pos="15000">
              <a:srgbClr val="0294E0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F58C8-158D-4417-6B36-45E854A9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A18A1FF-B45B-97A9-1617-98B66DA42100}"/>
              </a:ext>
            </a:extLst>
          </p:cNvPr>
          <p:cNvSpPr/>
          <p:nvPr/>
        </p:nvSpPr>
        <p:spPr>
          <a:xfrm>
            <a:off x="-128722" y="0"/>
            <a:ext cx="12419576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FF322A-76ED-AB07-FB47-31E26A0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004BB70-7137-DF22-4BEA-7C4285A36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19A1306-EA48-C7EC-74A7-56142D8D80D1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612AEF-4AF4-8C68-8952-C44BAF9203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A289DE0-F0B0-4C52-0454-2F11677A8D6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1948F9-41EC-FBCE-91D6-462F0E3A77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4C0BA6-D5F4-AC9A-B4FB-3640AD9AFE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73540C9-5422-861C-5463-AC31193581B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7B8FD0-4C3E-45FC-5238-8062A11D0B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87FE2CD-F945-8BED-7DF8-E93F84E8154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B82CB9C-F23B-4D77-4B41-1E555C6A1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276ECED-3833-8839-3527-E350286BB8B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24" name="Title 23">
            <a:extLst>
              <a:ext uri="{FF2B5EF4-FFF2-40B4-BE49-F238E27FC236}">
                <a16:creationId xmlns:a16="http://schemas.microsoft.com/office/drawing/2014/main" id="{EAECFE17-3A5D-33D9-CF6B-12EF3DE6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11" y="1287468"/>
            <a:ext cx="2720161" cy="112235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Content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96CEDAB3-9B8B-1435-3769-336FC11B1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467" y="2423503"/>
            <a:ext cx="10515600" cy="3945929"/>
          </a:xfrm>
        </p:spPr>
        <p:txBody>
          <a:bodyPr numCol="2">
            <a:norm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C Introduction</a:t>
            </a:r>
          </a:p>
          <a:p>
            <a:r>
              <a:rPr lang="en-US" dirty="0">
                <a:solidFill>
                  <a:schemeClr val="bg2"/>
                </a:solidFill>
              </a:rPr>
              <a:t>Breaking “Hello World”</a:t>
            </a:r>
          </a:p>
          <a:p>
            <a:r>
              <a:rPr lang="en-US" dirty="0">
                <a:solidFill>
                  <a:schemeClr val="bg2"/>
                </a:solidFill>
              </a:rPr>
              <a:t>Data Types &amp; Operators</a:t>
            </a:r>
          </a:p>
          <a:p>
            <a:r>
              <a:rPr lang="en-US" dirty="0">
                <a:solidFill>
                  <a:schemeClr val="bg2"/>
                </a:solidFill>
              </a:rPr>
              <a:t>Memory</a:t>
            </a:r>
          </a:p>
          <a:p>
            <a:endParaRPr lang="en-US" dirty="0">
              <a:solidFill>
                <a:schemeClr val="bg2"/>
              </a:solidFill>
            </a:endParaRPr>
          </a:p>
          <a:p>
            <a:endParaRPr lang="en-US" dirty="0">
              <a:solidFill>
                <a:schemeClr val="bg2"/>
              </a:solidFill>
            </a:endParaRPr>
          </a:p>
          <a:p>
            <a:endParaRPr lang="en-US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If &amp; Switch </a:t>
            </a:r>
            <a:r>
              <a:rPr lang="en-GB" dirty="0">
                <a:solidFill>
                  <a:schemeClr val="bg2"/>
                </a:solidFill>
              </a:rPr>
              <a:t>Statements </a:t>
            </a:r>
            <a:endParaRPr lang="en-US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For &amp; While Loops</a:t>
            </a:r>
          </a:p>
          <a:p>
            <a:r>
              <a:rPr lang="en-US" dirty="0">
                <a:solidFill>
                  <a:schemeClr val="bg2"/>
                </a:solidFill>
              </a:rPr>
              <a:t>Bitwise Operations</a:t>
            </a:r>
          </a:p>
          <a:p>
            <a:r>
              <a:rPr lang="en-US" dirty="0">
                <a:solidFill>
                  <a:schemeClr val="bg2"/>
                </a:solidFill>
              </a:rPr>
              <a:t>Git &amp; GitHub</a:t>
            </a:r>
          </a:p>
        </p:txBody>
      </p:sp>
    </p:spTree>
    <p:extLst>
      <p:ext uri="{BB962C8B-B14F-4D97-AF65-F5344CB8AC3E}">
        <p14:creationId xmlns:p14="http://schemas.microsoft.com/office/powerpoint/2010/main" val="336705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C How to Program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GB" sz="3100" dirty="0">
                <a:solidFill>
                  <a:schemeClr val="bg2"/>
                </a:solidFill>
              </a:rPr>
              <a:t>Quick History 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Mother of all Programming </a:t>
            </a:r>
            <a:r>
              <a:rPr lang="en-GB" sz="2200" dirty="0">
                <a:solidFill>
                  <a:schemeClr val="bg2"/>
                </a:solidFill>
              </a:rPr>
              <a:t>Languages</a:t>
            </a:r>
            <a:endParaRPr lang="en-US" sz="2200" dirty="0">
              <a:solidFill>
                <a:schemeClr val="bg2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01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F092-050F-7333-490F-817A394F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652D6CC-FBE4-B5E2-6601-FF984C136B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4ED596C1-D7AD-4235-3E98-7727C311998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A610DF-865F-4CCE-8EB0-C511B1EE90F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E106102-C8BD-2E3B-87BE-A9C115E1C4C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376F93C-A994-9787-CEC9-588D71958C5A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91A29B7-1799-34EF-FE95-2FBBE7BCF02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AC62A40-3BA6-7966-A450-D7A8F6FC12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E22E8EC-0E38-9697-D9BF-E1457BE44D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1299E0F-D49D-3DCE-EEC9-EF2B1CE0CA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6F14273-963D-1C9B-67DF-05FD8705FCC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BFB13456-CC8B-323F-B227-7795BE6F2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What’s Programming?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DC4C640-5399-EB58-D2AD-B0DBF1B272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6D7FFE4-BEC9-C31E-2CD5-E13DF3CC9A7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0BD71F5-C748-7F75-F8D3-05D1025B86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2610393"/>
            <a:ext cx="10515600" cy="3076053"/>
          </a:xfrm>
        </p:spPr>
        <p:txBody>
          <a:bodyPr/>
          <a:lstStyle/>
          <a:p>
            <a:r>
              <a:rPr lang="en-GB" dirty="0"/>
              <a:t>Dictionary: the process or activity of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writing</a:t>
            </a:r>
            <a:r>
              <a:rPr lang="en-GB" dirty="0"/>
              <a:t> computer programs.</a:t>
            </a:r>
          </a:p>
          <a:p>
            <a:r>
              <a:rPr lang="en-GB" dirty="0"/>
              <a:t>Coursera: refers to the act of using different languages to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communicate</a:t>
            </a:r>
            <a:r>
              <a:rPr lang="en-GB" dirty="0"/>
              <a:t> with and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instruct</a:t>
            </a:r>
            <a:r>
              <a:rPr lang="en-GB" dirty="0"/>
              <a:t> computers</a:t>
            </a:r>
          </a:p>
          <a:p>
            <a:r>
              <a:rPr lang="en-GB" dirty="0"/>
              <a:t>W3School: is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telling</a:t>
            </a:r>
            <a:r>
              <a:rPr lang="en-GB" dirty="0"/>
              <a:t> a computer what to do.</a:t>
            </a:r>
          </a:p>
        </p:txBody>
      </p:sp>
    </p:spTree>
    <p:extLst>
      <p:ext uri="{BB962C8B-B14F-4D97-AF65-F5344CB8AC3E}">
        <p14:creationId xmlns:p14="http://schemas.microsoft.com/office/powerpoint/2010/main" val="108418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53" name="AutoShape 3"/>
          <p:cNvSpPr/>
          <p:nvPr/>
        </p:nvSpPr>
        <p:spPr>
          <a:xfrm rot="16200000" flipV="1">
            <a:off x="2201022" y="4567094"/>
            <a:ext cx="1373071" cy="0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4" name="AutoShape 6"/>
          <p:cNvSpPr/>
          <p:nvPr/>
        </p:nvSpPr>
        <p:spPr>
          <a:xfrm rot="16200000" flipV="1">
            <a:off x="5428673" y="4563978"/>
            <a:ext cx="1373073" cy="6231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5" name="AutoShape 9"/>
          <p:cNvSpPr/>
          <p:nvPr/>
        </p:nvSpPr>
        <p:spPr>
          <a:xfrm rot="16200000" flipV="1">
            <a:off x="8659359" y="4563901"/>
            <a:ext cx="1373230" cy="6230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6" name="AutoShape 14"/>
          <p:cNvSpPr/>
          <p:nvPr/>
        </p:nvSpPr>
        <p:spPr>
          <a:xfrm rot="5399999" flipV="1">
            <a:off x="3834567" y="3234509"/>
            <a:ext cx="1292102" cy="0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7" name="AutoShape 17"/>
          <p:cNvSpPr/>
          <p:nvPr/>
        </p:nvSpPr>
        <p:spPr>
          <a:xfrm rot="5399999" flipV="1">
            <a:off x="7068452" y="3231238"/>
            <a:ext cx="1292096" cy="6231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9" name="AutoShape 2"/>
          <p:cNvSpPr/>
          <p:nvPr/>
        </p:nvSpPr>
        <p:spPr>
          <a:xfrm>
            <a:off x="-203200" y="3880560"/>
            <a:ext cx="12700000" cy="0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GB" sz="1688"/>
          </a:p>
        </p:txBody>
      </p:sp>
      <p:sp>
        <p:nvSpPr>
          <p:cNvPr id="60" name="TextBox 4"/>
          <p:cNvSpPr txBox="1"/>
          <p:nvPr/>
        </p:nvSpPr>
        <p:spPr>
          <a:xfrm>
            <a:off x="1828750" y="5410750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1883</a:t>
            </a:r>
          </a:p>
        </p:txBody>
      </p:sp>
      <p:sp>
        <p:nvSpPr>
          <p:cNvPr id="61" name="TextBox 5"/>
          <p:cNvSpPr txBox="1"/>
          <p:nvPr/>
        </p:nvSpPr>
        <p:spPr>
          <a:xfrm>
            <a:off x="1908086" y="5762000"/>
            <a:ext cx="1914300" cy="685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GB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Algorithm for the Analytical Engine</a:t>
            </a:r>
          </a:p>
          <a:p>
            <a:pPr algn="ctr">
              <a:lnSpc>
                <a:spcPts val="1903"/>
              </a:lnSpc>
            </a:pPr>
            <a:r>
              <a:rPr lang="en-GB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-Ada Lovelace</a:t>
            </a:r>
            <a:endParaRPr lang="en-US" sz="1313" spc="92" dirty="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62" name="TextBox 7"/>
          <p:cNvSpPr txBox="1"/>
          <p:nvPr/>
        </p:nvSpPr>
        <p:spPr>
          <a:xfrm>
            <a:off x="5059515" y="5410750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1972</a:t>
            </a:r>
          </a:p>
        </p:txBody>
      </p:sp>
      <p:sp>
        <p:nvSpPr>
          <p:cNvPr id="63" name="TextBox 8"/>
          <p:cNvSpPr txBox="1"/>
          <p:nvPr/>
        </p:nvSpPr>
        <p:spPr>
          <a:xfrm>
            <a:off x="5138851" y="5762000"/>
            <a:ext cx="1914300" cy="44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US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</a:t>
            </a:r>
          </a:p>
          <a:p>
            <a:pPr algn="ctr">
              <a:lnSpc>
                <a:spcPts val="1903"/>
              </a:lnSpc>
            </a:pPr>
            <a:r>
              <a:rPr lang="en-US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-Dennis Ritchie</a:t>
            </a:r>
          </a:p>
        </p:txBody>
      </p:sp>
      <p:sp>
        <p:nvSpPr>
          <p:cNvPr id="64" name="TextBox 10"/>
          <p:cNvSpPr txBox="1"/>
          <p:nvPr/>
        </p:nvSpPr>
        <p:spPr>
          <a:xfrm>
            <a:off x="8290279" y="5410750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2006</a:t>
            </a:r>
          </a:p>
        </p:txBody>
      </p:sp>
      <p:sp>
        <p:nvSpPr>
          <p:cNvPr id="65" name="TextBox 11"/>
          <p:cNvSpPr txBox="1"/>
          <p:nvPr/>
        </p:nvSpPr>
        <p:spPr>
          <a:xfrm>
            <a:off x="8369615" y="5762000"/>
            <a:ext cx="1914300" cy="44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US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Rust</a:t>
            </a:r>
          </a:p>
          <a:p>
            <a:pPr algn="ctr">
              <a:lnSpc>
                <a:spcPts val="1903"/>
              </a:lnSpc>
            </a:pPr>
            <a:r>
              <a:rPr lang="en-US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-Graydon Hoare</a:t>
            </a:r>
          </a:p>
        </p:txBody>
      </p:sp>
      <p:sp>
        <p:nvSpPr>
          <p:cNvPr id="66" name="TextBox 12"/>
          <p:cNvSpPr txBox="1"/>
          <p:nvPr/>
        </p:nvSpPr>
        <p:spPr>
          <a:xfrm>
            <a:off x="3444134" y="1685894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1949</a:t>
            </a:r>
          </a:p>
        </p:txBody>
      </p:sp>
      <p:sp>
        <p:nvSpPr>
          <p:cNvPr id="67" name="TextBox 13"/>
          <p:cNvSpPr txBox="1"/>
          <p:nvPr/>
        </p:nvSpPr>
        <p:spPr>
          <a:xfrm>
            <a:off x="3523469" y="2035209"/>
            <a:ext cx="1914300" cy="44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US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Assembly Language</a:t>
            </a:r>
          </a:p>
          <a:p>
            <a:pPr algn="ctr">
              <a:lnSpc>
                <a:spcPts val="1903"/>
              </a:lnSpc>
            </a:pPr>
            <a:r>
              <a:rPr lang="en-US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-Kathleen Booth</a:t>
            </a:r>
          </a:p>
        </p:txBody>
      </p:sp>
      <p:sp>
        <p:nvSpPr>
          <p:cNvPr id="68" name="TextBox 15"/>
          <p:cNvSpPr txBox="1"/>
          <p:nvPr/>
        </p:nvSpPr>
        <p:spPr>
          <a:xfrm>
            <a:off x="6674898" y="1685894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1991</a:t>
            </a:r>
          </a:p>
        </p:txBody>
      </p:sp>
      <p:sp>
        <p:nvSpPr>
          <p:cNvPr id="69" name="TextBox 16"/>
          <p:cNvSpPr txBox="1"/>
          <p:nvPr/>
        </p:nvSpPr>
        <p:spPr>
          <a:xfrm>
            <a:off x="6754233" y="2035209"/>
            <a:ext cx="1914300" cy="44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US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</a:t>
            </a:r>
          </a:p>
          <a:p>
            <a:pPr algn="ctr">
              <a:lnSpc>
                <a:spcPts val="1903"/>
              </a:lnSpc>
            </a:pPr>
            <a:r>
              <a:rPr lang="en-US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-Guido van Rossum</a:t>
            </a:r>
          </a:p>
        </p:txBody>
      </p:sp>
      <p:sp>
        <p:nvSpPr>
          <p:cNvPr id="70" name="TextBox 18"/>
          <p:cNvSpPr txBox="1"/>
          <p:nvPr/>
        </p:nvSpPr>
        <p:spPr>
          <a:xfrm>
            <a:off x="2544108" y="911136"/>
            <a:ext cx="7135971" cy="626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50"/>
              </a:lnSpc>
            </a:pPr>
            <a:r>
              <a:rPr lang="en-US" sz="4000" b="1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History of Programming</a:t>
            </a:r>
          </a:p>
        </p:txBody>
      </p:sp>
    </p:spTree>
    <p:extLst>
      <p:ext uri="{BB962C8B-B14F-4D97-AF65-F5344CB8AC3E}">
        <p14:creationId xmlns:p14="http://schemas.microsoft.com/office/powerpoint/2010/main" val="357299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C2BDE-739D-4294-1479-9E8E41242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75FF331-F5C7-C555-BAA0-E6714E32220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E90B825-CE64-87CD-8BF9-602E60F0836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24BB33-3A70-970E-A10E-D140C8C0163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D0680D-B851-C6AA-3730-EB57DB1EA48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E4B79D0-3C91-E4FE-4D59-F90AF78227F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74C11D8-AE62-2A57-8621-6C8D9464908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17FEDF7-4887-4635-94F7-29EE4BF7AF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03CD48C-806B-86CA-3197-8B8558F86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7F58E16-590E-693F-8FA1-EF60EE4DEC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C8FAD22-62A5-CC2A-9AD3-E85F78CD00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B1DB6047-9408-5786-5D68-81C444489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So why C?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B9AE9ADB-1BCD-B03E-FB85-816CE73A27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9F63983-5938-B363-B01C-CFF25FB68D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E7882CA-7E3B-12C9-DA85-3FB904F5D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r>
              <a:rPr lang="en-GB" dirty="0"/>
              <a:t>General-Purpose Programming Language (GPL)</a:t>
            </a:r>
            <a:br>
              <a:rPr lang="en-GB" dirty="0"/>
            </a:b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Not</a:t>
            </a:r>
            <a:r>
              <a:rPr lang="en-GB" dirty="0"/>
              <a:t> Domain-Specific Programming Language (DSL)</a:t>
            </a:r>
          </a:p>
          <a:p>
            <a:r>
              <a:rPr lang="en-GB" dirty="0"/>
              <a:t>Imperative Procedural Language (Programming Paradigm)</a:t>
            </a:r>
            <a:br>
              <a:rPr lang="en-GB" dirty="0"/>
            </a:b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Not</a:t>
            </a:r>
            <a:r>
              <a:rPr lang="en-GB" dirty="0"/>
              <a:t> Declarative Functional </a:t>
            </a:r>
          </a:p>
          <a:p>
            <a:r>
              <a:rPr lang="en-GB" dirty="0"/>
              <a:t>Statically Typed</a:t>
            </a:r>
            <a:br>
              <a:rPr lang="en-GB" dirty="0"/>
            </a:b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Not</a:t>
            </a:r>
            <a:r>
              <a:rPr lang="en-GB" dirty="0"/>
              <a:t> Dynamically Typed</a:t>
            </a:r>
          </a:p>
          <a:p>
            <a:endParaRPr lang="en-GB" b="1" dirty="0"/>
          </a:p>
          <a:p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F5CB3B-B04B-FC2C-38C4-86521FE2FE3E}"/>
              </a:ext>
            </a:extLst>
          </p:cNvPr>
          <p:cNvSpPr txBox="1"/>
          <p:nvPr/>
        </p:nvSpPr>
        <p:spPr>
          <a:xfrm>
            <a:off x="1383592" y="4792913"/>
            <a:ext cx="8742330" cy="10772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Efficiency, Direct Hardware Interaction</a:t>
            </a:r>
          </a:p>
          <a:p>
            <a:pPr algn="ctr"/>
            <a:r>
              <a:rPr lang="en-GB" sz="3200" b="1" dirty="0"/>
              <a:t>Low-level Programming, Real-time Operations</a:t>
            </a:r>
            <a:endParaRPr lang="en-GB" sz="32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348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3FD8-4CE9-9582-2B6C-0EC5ADF32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B5280BE-A38E-B661-B4DC-4E94C4283CFA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C5616-33ED-781E-7CEF-EDE0573028E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E0F0A4D-D55A-E8DC-4B36-9020A8A9C0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A595B65-8662-5CDB-4C32-87B62F86699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0A6C53-B5A0-CB0C-5B67-CC3F068757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D9A6F33-97AA-26A6-D006-33214E3365AD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D67090-F377-C009-803C-03640835BDC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36B929-8191-60E6-8083-C4D2BE3E6D87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834AB9C-32B5-6D55-0163-F12BA7D316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2A33B00-9CB4-D6A3-6906-D39DE064ED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F8C8676-A09F-79F4-4B9D-BEE49F11FC1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1CEA8C-CF9F-3518-CAA4-6428D7E387BA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84569C0-61F3-0111-4942-E0FE99AD29D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DD78B553-9724-B3C4-44FB-9B5E63757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>
                <a:solidFill>
                  <a:schemeClr val="bg2"/>
                </a:solidFill>
              </a:rPr>
              <a:t>printf</a:t>
            </a:r>
            <a:r>
              <a:rPr lang="en-US" b="1" dirty="0">
                <a:solidFill>
                  <a:schemeClr val="bg2"/>
                </a:solidFill>
              </a:rPr>
              <a:t>(“Hello World”);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</a:t>
            </a:r>
            <a:r>
              <a:rPr lang="en-US" sz="3100" dirty="0">
                <a:solidFill>
                  <a:schemeClr val="bg2"/>
                </a:solidFill>
              </a:rPr>
              <a:t>Basic Programming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Every Programmer’s First Program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975A5CAA-5BD3-EB53-6BDC-6EDB060A6A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777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61FAA-0141-54BC-4343-A2D92B11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84949721-A328-D2CD-89B7-C97D1EFCBB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4AAA192-5146-613D-B7F1-D217B4ED1E7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489E13-F724-B9B8-D9D0-F5F37BA73C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4074557-83E3-CE0E-A5CA-0AB5385CECB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8E839F-057E-FA76-6118-1CFD6341862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6EC1489-2622-740D-A6E1-F19CB829E20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6922D64-43A6-0313-FD4C-A42F771E22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F2E9F48-0653-8C6D-61C3-0937F70B73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ADB7EA2-3DFE-CFB7-98D9-7A5C8A6EA5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B7CAAB5-439D-0871-9A13-9029D180C3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D4C9797D-4AF8-0D79-8043-5E2DFEC21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Printing “Hello World”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CFB1FF3-0DEC-EBD3-960A-CEF37A2F15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AAAA332-9BDD-7148-5512-F1DD4635175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F9E6B4E-F872-11C1-1A8E-4FE6438C4F0E}"/>
              </a:ext>
            </a:extLst>
          </p:cNvPr>
          <p:cNvSpPr txBox="1">
            <a:spLocks/>
          </p:cNvSpPr>
          <p:nvPr/>
        </p:nvSpPr>
        <p:spPr>
          <a:xfrm>
            <a:off x="891377" y="1837232"/>
            <a:ext cx="5892315" cy="403187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GB" sz="3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3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GB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 World!"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3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C7F47-3C30-8E6F-4D10-7CD57209A4DF}"/>
              </a:ext>
            </a:extLst>
          </p:cNvPr>
          <p:cNvSpPr txBox="1"/>
          <p:nvPr/>
        </p:nvSpPr>
        <p:spPr>
          <a:xfrm>
            <a:off x="7010087" y="2084439"/>
            <a:ext cx="1952779" cy="3087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0000400000000000000" pitchFamily="2" charset="2"/>
              </a:rPr>
              <a:t>&lt;-- </a:t>
            </a: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endParaRPr lang="en-GB" sz="2800" b="1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EE2209-C290-DD81-652F-9FE766247D38}"/>
              </a:ext>
            </a:extLst>
          </p:cNvPr>
          <p:cNvSpPr txBox="1"/>
          <p:nvPr/>
        </p:nvSpPr>
        <p:spPr>
          <a:xfrm>
            <a:off x="7010087" y="3544429"/>
            <a:ext cx="3071675" cy="3087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0000400000000000000" pitchFamily="2" charset="2"/>
              </a:rPr>
              <a:t>&lt;-- </a:t>
            </a: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function</a:t>
            </a:r>
            <a:endParaRPr lang="en-GB" sz="2800" b="1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C5D677-FAA1-2285-DEDC-E26E9E2B16EE}"/>
              </a:ext>
            </a:extLst>
          </p:cNvPr>
          <p:cNvSpPr txBox="1"/>
          <p:nvPr/>
        </p:nvSpPr>
        <p:spPr>
          <a:xfrm>
            <a:off x="7010086" y="4537587"/>
            <a:ext cx="2473754" cy="3087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0000400000000000000" pitchFamily="2" charset="2"/>
              </a:rPr>
              <a:t>&lt;-- </a:t>
            </a: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</a:t>
            </a:r>
            <a:endParaRPr lang="en-GB" sz="2800" b="1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01116F-3604-78CB-DD27-F1687F8891CE}"/>
              </a:ext>
            </a:extLst>
          </p:cNvPr>
          <p:cNvSpPr txBox="1"/>
          <p:nvPr/>
        </p:nvSpPr>
        <p:spPr>
          <a:xfrm>
            <a:off x="7010085" y="5111798"/>
            <a:ext cx="2969083" cy="3087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0000400000000000000" pitchFamily="2" charset="2"/>
              </a:rPr>
              <a:t>&lt;-- </a:t>
            </a: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Exit Program</a:t>
            </a:r>
            <a:endParaRPr lang="en-GB" sz="2800" b="1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2621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E6C45-2379-8512-59E9-5D824357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A0FE3CD-04E2-23D3-AD7C-8E620E232DB7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964C9-6072-DF44-0DDF-2EB0793E3FA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4B8D51B-6AD3-7F14-47EA-B7DACFD17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43D5B3A-2D26-6F99-CFDE-64573C39FA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14FC42-E426-DCF6-A028-F314FD8C74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569154E-1377-96A6-F9D0-E21A0D777F95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5E2A6C0-804B-3262-31EB-7291CF616CB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93C5BEE-0B6E-1AC5-2248-6636294E9617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5EF5D53-7A06-E950-D428-74F0E30AD8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283813C-1A3D-B2DA-C1CC-B7CA9FB5AB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E37F84A-8111-3E99-104A-C69D3420074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E868F-1E9B-7EA4-DEF1-B2F8565FE8B1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E2F2BC1-2C6E-4E56-A05F-D3BAD6D0E8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7B2D39B3-C748-FCC0-3532-7FA8A65A8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Data Types 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GB" sz="3100" dirty="0">
                <a:solidFill>
                  <a:schemeClr val="bg2"/>
                </a:solidFill>
              </a:rPr>
              <a:t>Declaration &amp; Initialization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How to story your values?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E2116004-76B6-C1BA-6BB7-DE68110F6F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006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0C1AE-2A6A-5B01-4971-644A8C36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E6FC24C-E515-D4BD-2799-8235D1D17F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80BDCF8-113A-4067-BD3D-8C96F2CCED6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8C2501-FBCF-D4A1-3097-2274E3D3793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D3044D8-4A1D-BFFA-E1B4-99C89FB32EC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7C794C8-FE99-9B15-545D-8438F188DCBA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99FBC1-C059-2A06-224D-5C192A921B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5D5CFFA-2467-11C0-0A5F-FFD3B1BE35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FD88E70-0FA2-7212-60D0-D63AF0CAA5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B6FB03A-B6D1-6848-B0ED-D612EF378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9F5B4E9-D10D-89E9-BEA6-D4D0BA78566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70B0C7F5-643C-5B3A-E14B-415E8D0B4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023" y="1025675"/>
            <a:ext cx="7919468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 are Data Types &amp; Variables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6CC88F0D-F555-729B-A797-27663CB00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E48F935-B3A0-A21D-7230-0005F50B1F7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E778E2-C6D0-C2E2-0DBE-E3B3DE8A2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Variable is a named storage in memory that holds data</a:t>
            </a:r>
          </a:p>
          <a:p>
            <a:r>
              <a:rPr lang="en-GB" dirty="0"/>
              <a:t>A Data Type specifies what kind of value a variable can hold</a:t>
            </a:r>
          </a:p>
          <a:p>
            <a:r>
              <a:rPr lang="en-GB" dirty="0"/>
              <a:t>C provides primitive types which are: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	</a:t>
            </a:r>
            <a:r>
              <a:rPr lang="en-GB" dirty="0">
                <a:solidFill>
                  <a:srgbClr val="3F51B5"/>
                </a:solidFill>
                <a:latin typeface="Consolas" panose="020B0609020204030204" pitchFamily="49" charset="0"/>
              </a:rPr>
              <a:t>int</a:t>
            </a:r>
            <a:r>
              <a:rPr lang="en-GB" dirty="0"/>
              <a:t>	 	represents an integer number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	</a:t>
            </a:r>
            <a:r>
              <a:rPr lang="en-GB" dirty="0">
                <a:solidFill>
                  <a:srgbClr val="3F51B5"/>
                </a:solidFill>
                <a:latin typeface="Consolas" panose="020B0609020204030204" pitchFamily="49" charset="0"/>
              </a:rPr>
              <a:t>float</a:t>
            </a:r>
            <a:r>
              <a:rPr lang="en-GB" dirty="0"/>
              <a:t> 	represents a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	</a:t>
            </a:r>
            <a:r>
              <a:rPr lang="en-GB" dirty="0">
                <a:solidFill>
                  <a:srgbClr val="3F51B5"/>
                </a:solidFill>
                <a:latin typeface="Consolas" panose="020B0609020204030204" pitchFamily="49" charset="0"/>
              </a:rPr>
              <a:t>char</a:t>
            </a:r>
            <a:r>
              <a:rPr lang="en-GB" dirty="0"/>
              <a:t> 		represents a one character or word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	</a:t>
            </a:r>
            <a:r>
              <a:rPr lang="en-GB" dirty="0">
                <a:solidFill>
                  <a:srgbClr val="3F51B5"/>
                </a:solidFill>
                <a:latin typeface="Consolas" panose="020B0609020204030204" pitchFamily="49" charset="0"/>
              </a:rPr>
              <a:t>bool</a:t>
            </a:r>
            <a:r>
              <a:rPr lang="en-GB" dirty="0"/>
              <a:t> 		represents a unary either true or false value</a:t>
            </a:r>
          </a:p>
        </p:txBody>
      </p:sp>
    </p:spTree>
    <p:extLst>
      <p:ext uri="{BB962C8B-B14F-4D97-AF65-F5344CB8AC3E}">
        <p14:creationId xmlns:p14="http://schemas.microsoft.com/office/powerpoint/2010/main" val="1769147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BB9C-47E3-8379-54EF-08C1436C5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9067A84-1A70-0642-6E4A-B29F371FE5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BFE0991-F9FD-7A83-83AF-092EB90A2D2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426A7B-4F92-A971-E327-B1623F27409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BB6328-EFC7-472F-B27D-C4B6E155BE7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72523F-1C16-9D09-277B-2C31D8B65ED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4C62513-10BB-A953-813D-E8828C3B0F98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744CCC6-6B39-7308-15DA-A3337CFCAD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D872AD-91F7-A95E-C88E-F5E8680A2F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41CC8E3-71AB-EDDB-5245-D12D049CCC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CDF6C59-D2DA-DF8B-C580-743FBA48F42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580B3EFA-1EFC-0F22-8EB6-7708DA014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Data Types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7E8081C-5635-492C-A760-A4B8A4DB8D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CB60581-EAB7-1B60-5A5A-F1917DAB23D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45A7441C-C601-57DE-B3DC-9899C07913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8011310"/>
              </p:ext>
            </p:extLst>
          </p:nvPr>
        </p:nvGraphicFramePr>
        <p:xfrm>
          <a:off x="838200" y="1825625"/>
          <a:ext cx="10515600" cy="390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20955424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9489201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300520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72960445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372749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Format Specifier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76397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or 4 bytes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Stores whole 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%d or 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3864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Stores fractional numbers. Sufficient for storing 6 decimal digits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%f or %F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3.2</a:t>
                      </a:r>
                    </a:p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69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Stores fractional numbers. Sufficient for storing 15 decimal digits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lf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3.22222222</a:t>
                      </a:r>
                    </a:p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9686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Stores a single character, following ASCII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%c or %s (string)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’w’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48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10588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A8FC-B340-41AA-6B87-2649DC5EC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4AE42A5-7C9C-46F3-8B5C-ACD2DC065B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306BB82-BBB0-8688-1B0F-6DBAF95C9E5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1034B3-9610-98E0-647B-12D3DB51F5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34B493-727F-81FC-AA85-E6A02D78B17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0F69ED6-5A53-DDC3-2877-87F1BD6F00E4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6B2F4F2-5FF1-6978-8FC9-FB151137FC6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78E8492-7F92-4D54-4384-7AF218DE4C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BFBEDA0-755F-3645-2DDA-44F2BF3CF6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60F741-E134-5E03-2D74-88ADB4E69B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7596760-EACD-5255-7F0E-749B0C661C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4D0D40AE-20FB-915B-06F3-787FB79C4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Extended Types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90168A0A-1AB2-FEF6-2969-DCD05CCAE9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2415A84-3DBF-4E80-4D9E-152F52F1E09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70FE54E8-2B73-C46B-C45F-2B8E9748A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5502477"/>
              </p:ext>
            </p:extLst>
          </p:nvPr>
        </p:nvGraphicFramePr>
        <p:xfrm>
          <a:off x="838200" y="1825625"/>
          <a:ext cx="10515600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58961879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3982218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7786579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51838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Extend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Format Specifier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93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or 4 bytes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-32768 to 32767 (2bytes)</a:t>
                      </a:r>
                    </a:p>
                    <a:p>
                      <a:pPr algn="ctr"/>
                      <a:r>
                        <a:rPr lang="en-GB" sz="1400" dirty="0"/>
                        <a:t>Or</a:t>
                      </a:r>
                    </a:p>
                    <a:p>
                      <a:pPr algn="ctr"/>
                      <a:r>
                        <a:rPr lang="en-GB" sz="1400" dirty="0"/>
                        <a:t>-2,147,483,648 to 2,147,483,647 (4bytes)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%d or 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968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unsigned 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or 4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1400" dirty="0"/>
                        <a:t>0 to 65,535 (2 bytes)</a:t>
                      </a:r>
                      <a:endParaRPr lang="en-GB" sz="1400" dirty="0"/>
                    </a:p>
                    <a:p>
                      <a:pPr algn="ctr"/>
                      <a:r>
                        <a:rPr lang="en-GB" sz="1400" dirty="0"/>
                        <a:t>Or</a:t>
                      </a:r>
                    </a:p>
                    <a:p>
                      <a:pPr algn="ctr"/>
                      <a:r>
                        <a:rPr lang="pl-PL" sz="1400" dirty="0"/>
                        <a:t>0 to 4,294,967,295 (4bytes)</a:t>
                      </a:r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%u</a:t>
                      </a:r>
                    </a:p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5562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short 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-32,768 to 32,767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hd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487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long 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or 8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1400" dirty="0"/>
                        <a:t>-2,147,483,648 to 2,147,483,647 (4 bytes)</a:t>
                      </a:r>
                      <a:endParaRPr lang="en-GB" sz="1400" dirty="0"/>
                    </a:p>
                    <a:p>
                      <a:pPr algn="ctr"/>
                      <a:r>
                        <a:rPr lang="en-GB" sz="1400" dirty="0"/>
                        <a:t>Or</a:t>
                      </a:r>
                    </a:p>
                    <a:p>
                      <a:pPr algn="ctr"/>
                      <a:r>
                        <a:rPr lang="pl-PL" sz="1400" dirty="0"/>
                        <a:t>-9,223,372,036,854,775,808 to 9,223,372,036,854,775,807 (8 bytes)</a:t>
                      </a:r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ld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243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3702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81937-9D43-B14D-3DEA-D7C4478FE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DF6D34D-34DE-379D-D77E-9AFCFD04A0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570FE6E-81CB-B2A0-0008-ABF36EDC0A2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C8DB41-8DBB-F597-E007-7689C011C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55922FB-B162-AC04-4FC9-FAE85898FCB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273077F-23C8-73A8-6845-F738BA072E2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8E906CC-8623-D3B8-2B83-20AFB084A96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D52B749-A282-C955-C396-B2C58A147E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64D626B-62B5-42D9-25CB-020CED223E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6423CCF-D1C3-8EDF-532B-3ED1C72A14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BFC1E1B-E50B-FFB7-C851-9DEFABC83C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5BDC13BB-E1FD-2F37-6C9B-385A5F8F0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The Cure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&lt;</a:t>
            </a:r>
            <a:r>
              <a:rPr lang="en-US" b="1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stdint.h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&gt;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D6426A2B-D7A1-F13C-D1A8-C1540A1F05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6AED113-9CD4-A3C3-40F8-C7FF3A6E15E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3BBD741-1E77-31E9-4BD3-D23B781D520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8946901"/>
              </p:ext>
            </p:extLst>
          </p:nvPr>
        </p:nvGraphicFramePr>
        <p:xfrm>
          <a:off x="838201" y="2601408"/>
          <a:ext cx="1051559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423735850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90319682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385519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7540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uint8_t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0 .. 255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910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-128 .. 127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870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uint16_t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0.. 65535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6725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uint32_t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bytes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0 .. </a:t>
                      </a:r>
                      <a:r>
                        <a:rPr lang="pl-PL" sz="1800" dirty="0"/>
                        <a:t>4,294,967,295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101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2293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6CEF-2FDA-7C60-FA23-645DB100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773A9B7-99AD-FB84-ED6F-E04C690D80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E72854A-61B9-70B1-F4ED-188B1BEEE15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D49DA11-7842-715F-BBB8-9855E9F6944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1A7D7A1-7514-568F-75E5-A4A8070C8DC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C4A333-187A-146D-B2A4-CD2FD2043C81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716732A-E5EE-10B3-F9E2-8DFF1A11B8D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32839A-C7BC-0E1F-5836-0E6803DA9B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C794D3-C287-459B-C52A-3C228EC959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A019586-55B1-73BE-6795-38FB7E6BBB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1A81B996-27EC-9696-390C-860F56D93A4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EA4FA4E-092D-794B-A4BA-833D5B643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8690" y="982431"/>
            <a:ext cx="6668760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Declaration &amp; Initialization</a:t>
            </a:r>
            <a:r>
              <a:rPr lang="en-GB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BEA596F3-BE67-00D0-1191-C5E237F8C4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288321F-59E7-7A53-52D7-C05D4A5A75E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9AB6BF8-C7FE-C60F-1E6B-929E3E39EF6D}"/>
              </a:ext>
            </a:extLst>
          </p:cNvPr>
          <p:cNvSpPr txBox="1"/>
          <p:nvPr/>
        </p:nvSpPr>
        <p:spPr>
          <a:xfrm>
            <a:off x="2795070" y="2135844"/>
            <a:ext cx="6096000" cy="2979405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stdint.h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value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pi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3.14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grade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'B'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counter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timer_value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XL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18446744073709551615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49647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3CBFE-9C4C-302D-05C9-1E1CF62BD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CC03246-D1FD-646E-E03C-820385DF390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EA00720-0E1D-9F18-23CD-84CFF2EE8AF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FDA942-6440-20DB-5852-D42BEB1FCB1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FD3EDD-4FC8-7898-804B-AB38BC0CFCC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B838481-8B49-14FF-E963-FC958E606B4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2038D02-9B2A-1805-588D-83A3EF474712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6FAE851-9148-0A31-D112-19D09885F6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779364-E102-97A7-7CD7-C81D1325A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A81DFA2-DF66-5B90-6CD0-7667A3C15B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4727020-B887-9D05-5ECF-7E4114CD6D2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A0890678-3385-03F4-BC34-4BD1D5CB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 about </a:t>
            </a:r>
            <a:r>
              <a:rPr lang="en-US" b="1" dirty="0">
                <a:solidFill>
                  <a:srgbClr val="3F51B5"/>
                </a:solidFill>
                <a:latin typeface="Consolas" panose="020B0609020204030204" pitchFamily="49" charset="0"/>
              </a:rPr>
              <a:t>string</a:t>
            </a:r>
            <a:r>
              <a:rPr lang="en-US" b="1" dirty="0"/>
              <a:t>?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621318AC-2192-6DBA-6367-A5129B6951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58B319D-53B2-3038-BC06-269ED03E8AA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69195DA-C53C-A24E-9A6E-833C12888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 provides Primitive Types, but string is not a primitive type</a:t>
            </a:r>
          </a:p>
          <a:p>
            <a:r>
              <a:rPr lang="en-GB" dirty="0"/>
              <a:t>The hidden truth: string is actually stored as an array of characters</a:t>
            </a:r>
          </a:p>
          <a:p>
            <a:r>
              <a:rPr lang="en-GB" dirty="0"/>
              <a:t>Why? in other languages string is provided with flexible storage that can increase depending on the length, but that costs more memory storage with hidden allocations which C isn’t made for</a:t>
            </a:r>
          </a:p>
        </p:txBody>
      </p:sp>
    </p:spTree>
    <p:extLst>
      <p:ext uri="{BB962C8B-B14F-4D97-AF65-F5344CB8AC3E}">
        <p14:creationId xmlns:p14="http://schemas.microsoft.com/office/powerpoint/2010/main" val="4061281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94079-A18D-3909-9138-5530E8D26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719A0F5-3EF0-3CC5-DF31-9B7C9C7CB41B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1B86E-4B49-97DE-D579-CA027CCB786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C0960C3-0421-E373-74BB-2F20CDC63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78D249F-D390-2DB1-9420-7440B44598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3443A86-A854-5B2D-56D9-92702FEFA44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3EB3BBB-9282-9D63-9044-3125581C683E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B019054-6E07-400B-8658-11AA0CAABE4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0E29A8E-E4D3-BE9B-E9D9-5F21F6138525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5EB825-5B8F-3792-9727-5304163AAE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7322FBD-7799-5439-3CB1-1A495F42EB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B974661-8B5C-8EC9-2482-3D62E030679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B9CD7B-BCB6-87BD-284C-97FC1B21F867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0F9FA3A-DE36-DA7D-CCF9-9700D61C812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16E1C683-0F81-A0F4-AAF0-FA376E782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Memory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GB" sz="3100" dirty="0">
                <a:solidFill>
                  <a:schemeClr val="bg2"/>
                </a:solidFill>
              </a:rPr>
              <a:t>Memory Layout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Looking deep into memory rooms!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52BFBDF2-BD24-96B4-9903-FF1630F8A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482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0EE4-6B53-391C-98DF-47C4F01A1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94E6661C-65C5-64FC-6C51-7655999933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60191EB2-1464-3D5B-F00E-1D235CEB2A8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C60F0A-DA07-3267-52C7-44D042C307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329C59-3158-37FB-5B4E-347F6E8B69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8FAC8D4-BBD1-CB49-0849-6A0815877D1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BA726B9-FF83-B3AD-CA83-1A9E481EC85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0FBCE49-8045-468B-D189-5D73A8C166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E9E9347-AF1D-738C-947F-D3255F7288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97ACA-DB5B-A0A0-D6CA-0121456854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55D982B-CFC5-543D-4961-E54D19F145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1062C66B-3FD0-4DE3-924F-81710D3C3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Memory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792D98F-021E-6B43-5E49-3BC6315FE6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6E7B2B1-8FDC-5D49-51C1-942C6092F97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D0CF7E8-3E8E-DA2C-2DF5-87560C8FA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 provides direct control over memory management</a:t>
            </a:r>
          </a:p>
          <a:p>
            <a:r>
              <a:rPr lang="en-GB" dirty="0"/>
              <a:t>The compiler reserves a number of bytes depending on the type</a:t>
            </a:r>
          </a:p>
          <a:p>
            <a:r>
              <a:rPr lang="en-GB" dirty="0"/>
              <a:t>We need to access memory (RAM) to store a specific value of a variable in or data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508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BE221-12EF-ACE6-1AA5-8B6F1589D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2E8B7D1-8B0A-E3AB-24C2-9715412230A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AF6B2C0-3807-D507-F9F0-832864E6F23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A588E3-6AB5-0A40-54CD-6A458562FC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5958FDD-B7EC-4C8E-86C0-AB6EB04AF32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D8F837-CE38-2CD0-C0A3-BA699F75BFE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5DF5D51-F07F-FEB0-2D7F-EE16702DD9AA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ACDCB04-9867-BA73-9DC5-89A825E76B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5E4E17D-1A45-C66B-3A36-0014ACC5F1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7C7CC9B-9B67-D924-9C59-275927FE29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17AF11A3-25B7-9D81-DAA6-0B80CAD5C18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7853F011-22B7-BE60-955B-A1D2A2EC8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Memory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56261BF-8000-AC5F-9DDA-BFC08F4ACE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E6B52D8-7F17-D785-E94D-8F98D58EE89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01875F11-D8BA-08CD-52BB-D375E37370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0964067"/>
              </p:ext>
            </p:extLst>
          </p:nvPr>
        </p:nvGraphicFramePr>
        <p:xfrm>
          <a:off x="2882532" y="3350298"/>
          <a:ext cx="6055575" cy="22250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83130">
                  <a:extLst>
                    <a:ext uri="{9D8B030D-6E8A-4147-A177-3AD203B41FA5}">
                      <a16:colId xmlns:a16="http://schemas.microsoft.com/office/drawing/2014/main" val="1765093832"/>
                    </a:ext>
                  </a:extLst>
                </a:gridCol>
                <a:gridCol w="805878">
                  <a:extLst>
                    <a:ext uri="{9D8B030D-6E8A-4147-A177-3AD203B41FA5}">
                      <a16:colId xmlns:a16="http://schemas.microsoft.com/office/drawing/2014/main" val="249233482"/>
                    </a:ext>
                  </a:extLst>
                </a:gridCol>
                <a:gridCol w="1083437">
                  <a:extLst>
                    <a:ext uri="{9D8B030D-6E8A-4147-A177-3AD203B41FA5}">
                      <a16:colId xmlns:a16="http://schemas.microsoft.com/office/drawing/2014/main" val="3717236379"/>
                    </a:ext>
                  </a:extLst>
                </a:gridCol>
                <a:gridCol w="2083130">
                  <a:extLst>
                    <a:ext uri="{9D8B030D-6E8A-4147-A177-3AD203B41FA5}">
                      <a16:colId xmlns:a16="http://schemas.microsoft.com/office/drawing/2014/main" val="7730483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Memory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Data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32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0x000001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8-Bits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368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0x000002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8-Bits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7862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0x000003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8-Bits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4743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0x000004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8-Bits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8889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0x000005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8-Bits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42616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D512FA8-A527-3C63-D73F-05882F0AC45E}"/>
              </a:ext>
            </a:extLst>
          </p:cNvPr>
          <p:cNvSpPr txBox="1"/>
          <p:nvPr/>
        </p:nvSpPr>
        <p:spPr>
          <a:xfrm>
            <a:off x="4086596" y="2030394"/>
            <a:ext cx="3336322" cy="954107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Flag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158283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1C605-14B7-7167-C978-01BE9120F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B25AB17-70B2-4D86-F4FC-978782772B29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3E0FEE-E6AC-1655-BDB0-BC1072EBC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BF4C22E-68C4-6FE1-1E49-1E2704DBC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15A1AC0-451D-5CC6-AC55-C82E1AD1C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6DE44A3-8CC2-09A4-F5BB-9AFF0BF6E91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5BD611B-4DBC-695D-47E3-E69AB33FC5CD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406277-670F-D58B-A708-C9CA43B49AA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FD22D8E-3876-9457-BB6B-ED426AD58954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507E815-3BB7-FEFC-8D99-C1358D4D44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A1E7D92-DDE2-3D5A-6E03-CBEF05846C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D05706F-83A8-8BC5-5506-6A3D595A7F2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8A1146-9807-D2F1-E9E0-FFA4CF79B1A6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9CE8E6D-C79D-5C71-52C5-2CBB24AE2CC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8F4521A6-8BCF-4B5E-1018-BFA53400F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5010" y="2766218"/>
            <a:ext cx="6441978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Operators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GB" sz="3100" dirty="0">
                <a:solidFill>
                  <a:schemeClr val="bg2"/>
                </a:solidFill>
              </a:rPr>
              <a:t>Arithmetic, Comparison, And Logical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Let’s turn a computer to a </a:t>
            </a:r>
            <a:r>
              <a:rPr lang="en-GB" sz="2200" dirty="0">
                <a:solidFill>
                  <a:schemeClr val="bg2"/>
                </a:solidFill>
              </a:rPr>
              <a:t>calculator </a:t>
            </a:r>
            <a:endParaRPr lang="en-US" sz="2200" dirty="0">
              <a:solidFill>
                <a:schemeClr val="bg2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BDBCA8A4-C3DE-4190-2A2F-4BEAF2BAF0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3879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9FF8F-2840-242B-9E77-F1A752C1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AD9807B-84A4-3230-DB6E-7E2F700788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BD49E5A-7010-01CE-37E4-7D75AABA0E2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5D11FC-6F75-82A7-8A1E-03CF8F74C2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148C8D5-E68B-9CE3-5A30-110C21EC6B1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375C7A-3E2B-AADE-4407-8CB90AA4C8D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46BD946-DF87-1CFC-3A73-35513B78A9D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78F9AE6-A038-92E6-4643-8854566A20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38E1260-2689-A724-43EA-B57417C932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CEA3DD5-26F6-2E1D-6982-813DE177C5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C278883-22A9-16E1-58F5-A9F1A67DF1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A01BE014-DA03-7F05-09C1-174C9E5E9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Operators: </a:t>
            </a:r>
            <a:r>
              <a:rPr lang="en-GB" b="1" dirty="0"/>
              <a:t>Arithmetic 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145EB62-60F5-8D07-4DD5-BC3146F55E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CC91900-E45B-CFA6-2EBC-5BBE6A608D6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16F3D16D-B9D7-F679-6702-300D6C75A0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8832805"/>
              </p:ext>
            </p:extLst>
          </p:nvPr>
        </p:nvGraphicFramePr>
        <p:xfrm>
          <a:off x="2152650" y="2169754"/>
          <a:ext cx="7886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5738470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125228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71130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014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Addition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+ 3 =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087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Subtraction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39 – 23 =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53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Multiplication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 * 10 = 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01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100 / 10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300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Modulus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16 %  15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12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++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Increment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100++ = 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533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Decrement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68-- =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5490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15674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F960C-2D57-8CF2-AA35-807207612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D2DFC0-77D9-7EAC-0A84-8053DFE0B4D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187929A-5BB8-9414-81D5-B82DBE00E5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13D27E-278A-609B-5A3F-EFE1AD682B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0BF9210-AA00-8650-7CE5-30D2283EC0F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04A8F9D-25A4-35F1-A88A-574D4445A114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53A4C0C-29A5-6226-EFD3-6C809426F36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A82BD7-0E13-FB81-E021-1F3888DFA7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67AEC14-DBC7-5818-7A44-85DEE0E94B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920BDDA-A967-E522-54EA-0F9AE20A92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A68D442-BA0C-1FCF-D7B4-0A25C36FAD0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933EE5EC-7DE5-F6FB-61EC-5A8F14BFD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Operators: </a:t>
            </a:r>
            <a:r>
              <a:rPr lang="en-GB" b="1" dirty="0"/>
              <a:t>Comparison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3A4E3BF-F586-B13D-0C85-92EDEF766C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990F1FE-23C2-6471-5D52-3AC05A6D70B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4B3C3910-A7AB-45C3-42CF-D8BE314910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7533991"/>
              </p:ext>
            </p:extLst>
          </p:nvPr>
        </p:nvGraphicFramePr>
        <p:xfrm>
          <a:off x="2152650" y="2169754"/>
          <a:ext cx="78867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5738470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125228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71130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014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==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Equal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 ==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087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!=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Not Equal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 !=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53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Greater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&gt;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01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&lt;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Less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 &lt;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300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&gt;=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Equal or Great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&gt;=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12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&lt;=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Equal or Less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 &lt;=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533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1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3AE1-77A1-96E6-7B43-C726DB493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31F85AB-A25E-9EC0-C4FF-164A79BC48B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307AA95-5BDD-21C6-D183-FC1940FD4F8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DD99E8-4471-C7A6-4600-1BB7E5C2C5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35403C-BEB3-3CD6-07AE-8EA7C575B49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A71053E-51AA-01D4-8BB7-AAC6FA75A94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2B775C6-5ECC-FB13-6F91-1A4BB2562C6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77FA784-1D2B-DFA4-64DB-E6424FD90F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E8F440E-17CB-DE73-313C-42727774C4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E052DE-1F9F-27F2-1422-BC5E57EE71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39D9D5B-831A-3356-C5FB-3E19F12D8A2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AF97F0B6-7F84-4072-9EFD-04122B75C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Operators: </a:t>
            </a:r>
            <a:r>
              <a:rPr lang="en-GB" b="1" dirty="0"/>
              <a:t>Logical 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9CD2D3D-83FD-7F01-7E6C-0E61F07E01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0BD1495-BD75-4C11-6719-EB04F8C6148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307C44A6-B9F9-C89E-8193-3B7A2605F5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0025238"/>
              </p:ext>
            </p:extLst>
          </p:nvPr>
        </p:nvGraphicFramePr>
        <p:xfrm>
          <a:off x="2152650" y="2876278"/>
          <a:ext cx="7886700" cy="15026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5738470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125228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71130037"/>
                    </a:ext>
                  </a:extLst>
                </a:gridCol>
              </a:tblGrid>
              <a:tr h="390129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014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&amp;&amp;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x &lt; 5 &amp;&amp;  x &lt;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087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||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x &lt; 5 || x &lt;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53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!(x &lt; 5 &amp;&amp; x &lt;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017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21032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5DD28-6469-A542-511F-487454BBF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2F1F0CA-92AE-DA76-5D44-37E2424041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DA07A12-791E-D514-1B18-2982E801CDC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F1B264-1B1C-ACB3-3D5C-4DEC474F8C2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3F280F-44C9-3948-D51A-2697445024F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00DB7C-C72B-37EE-72E2-5D48CBEA1C7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CAF919-E60B-7DF7-5D29-9274F8A5C4A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F8DBD84-A2D0-F18F-5A1E-5C980E9FAC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65C45AE-E727-3D00-31AF-186E000394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3254689-8D8E-0BDE-F3B6-1DE5B35E42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556B827-6E87-7B3B-3C58-A19410CA818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D061860B-1B02-468E-327A-365F0638F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Operators: </a:t>
            </a:r>
            <a:r>
              <a:rPr lang="en-GB" b="1" dirty="0"/>
              <a:t>Assignment 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82312D6-27BF-A1CC-0B53-266604C570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FAF2AFD-C7DF-A3DC-40A8-960058E9EAC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722732-920F-5B01-1439-F20E590D9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assign a </a:t>
            </a:r>
            <a:r>
              <a:rPr lang="en-GB" dirty="0">
                <a:solidFill>
                  <a:srgbClr val="004467"/>
                </a:solidFill>
              </a:rPr>
              <a:t>value</a:t>
            </a:r>
            <a:r>
              <a:rPr lang="en-GB" dirty="0"/>
              <a:t> to any </a:t>
            </a:r>
            <a:r>
              <a:rPr lang="en-GB" dirty="0">
                <a:solidFill>
                  <a:schemeClr val="accent3">
                    <a:lumMod val="75000"/>
                  </a:schemeClr>
                </a:solidFill>
              </a:rPr>
              <a:t>variable</a:t>
            </a:r>
            <a:r>
              <a:rPr lang="en-GB" dirty="0"/>
              <a:t>, we use equal </a:t>
            </a:r>
            <a:r>
              <a:rPr lang="en-GB" dirty="0">
                <a:latin typeface="Consolas" panose="020B0609020204030204" pitchFamily="49" charset="0"/>
              </a:rPr>
              <a:t>‘=‘</a:t>
            </a:r>
            <a:r>
              <a:rPr lang="en-GB" dirty="0"/>
              <a:t> </a:t>
            </a:r>
          </a:p>
          <a:p>
            <a:r>
              <a:rPr lang="en-GB" dirty="0"/>
              <a:t>By combining Equal with any operator from Arithmetic or Logical we get assignment operators with properties of other operator</a:t>
            </a:r>
          </a:p>
          <a:p>
            <a:pPr marL="0" indent="0" algn="ctr">
              <a:buNone/>
            </a:pPr>
            <a:br>
              <a:rPr lang="en-GB" dirty="0"/>
            </a:br>
            <a:r>
              <a:rPr lang="en-GB" dirty="0"/>
              <a:t>i.e.  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x /= 3</a:t>
            </a:r>
            <a:r>
              <a:rPr lang="en-GB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GB" dirty="0"/>
              <a:t>is the same as  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x = x / 3</a:t>
            </a:r>
            <a:b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</a:br>
            <a:endParaRPr lang="en-GB" dirty="0">
              <a:solidFill>
                <a:schemeClr val="bg1"/>
              </a:solidFill>
              <a:highlight>
                <a:srgbClr val="000000"/>
              </a:highlight>
              <a:latin typeface="Consolas" panose="020B0609020204030204" pitchFamily="49" charset="0"/>
            </a:endParaRPr>
          </a:p>
          <a:p>
            <a:r>
              <a:rPr lang="en-GB" dirty="0"/>
              <a:t>Basically, a shorter way of writing Assignments</a:t>
            </a:r>
          </a:p>
        </p:txBody>
      </p:sp>
    </p:spTree>
    <p:extLst>
      <p:ext uri="{BB962C8B-B14F-4D97-AF65-F5344CB8AC3E}">
        <p14:creationId xmlns:p14="http://schemas.microsoft.com/office/powerpoint/2010/main" val="1913184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04D08-EE0D-22FD-8511-8299D150F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F8C98E1-08BE-B3DC-0929-82285AF5BC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5AA6E1A-2324-1ABB-D058-E4F1D25BB61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39575CF-CCB2-EB41-AF6B-1FB234C106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2A8C214-7956-2717-431B-8032B1EF25D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9294F1C-07A7-AFFB-9EEF-E323B36F513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43702E7-3812-9841-976F-8C0955BF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3C8AA2A-8E47-FCB7-0FCE-6AAA6DDB5F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49D5750-7AE9-BE1F-16EB-06D19BE909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35AF845-4D26-E8DC-1A65-1BBC7D699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C5F4EF8-4F7D-6122-3C57-9BB3103AB2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3DBDEC6C-82A3-F8AE-9ACB-6086AEA82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07" y="711268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</a:t>
            </a:r>
            <a:r>
              <a:rPr lang="en-GB" b="1" dirty="0"/>
              <a:t> in practice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994916B8-A957-A5C9-03F1-612D57F8BF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E234936-D066-28E6-C08A-4E03AFF1977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D4B911B-1C9D-B677-3455-F05CE0AC506F}"/>
              </a:ext>
            </a:extLst>
          </p:cNvPr>
          <p:cNvSpPr txBox="1"/>
          <p:nvPr/>
        </p:nvSpPr>
        <p:spPr>
          <a:xfrm>
            <a:off x="1499106" y="1714703"/>
            <a:ext cx="5121915" cy="44012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buNone/>
            </a:pPr>
            <a:r>
              <a:rPr lang="fr-FR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fr-F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"x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%%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fr-FR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"x &gt; y =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fr-FR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"x &amp;&amp; y =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fr-FR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   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4D284A-3A55-4AAF-76CF-C5DCAE7DE045}"/>
              </a:ext>
            </a:extLst>
          </p:cNvPr>
          <p:cNvSpPr txBox="1"/>
          <p:nvPr/>
        </p:nvSpPr>
        <p:spPr>
          <a:xfrm>
            <a:off x="7452794" y="3315140"/>
            <a:ext cx="1883849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s-ES" sz="2400" dirty="0">
                <a:solidFill>
                  <a:srgbClr val="C586C0"/>
                </a:solidFill>
                <a:latin typeface="Consolas" panose="020B0609020204030204" pitchFamily="49" charset="0"/>
              </a:rPr>
              <a:t>x % y = 7</a:t>
            </a:r>
          </a:p>
          <a:p>
            <a:r>
              <a:rPr lang="es-ES" sz="2400" dirty="0">
                <a:solidFill>
                  <a:srgbClr val="C586C0"/>
                </a:solidFill>
                <a:latin typeface="Consolas" panose="020B0609020204030204" pitchFamily="49" charset="0"/>
              </a:rPr>
              <a:t>x &gt; y = 0</a:t>
            </a:r>
          </a:p>
          <a:p>
            <a:r>
              <a:rPr lang="es-ES" sz="2400" dirty="0">
                <a:solidFill>
                  <a:srgbClr val="C586C0"/>
                </a:solidFill>
                <a:latin typeface="Consolas" panose="020B0609020204030204" pitchFamily="49" charset="0"/>
              </a:rPr>
              <a:t>x &amp;&amp; y = 1</a:t>
            </a:r>
            <a:endParaRPr lang="en-GB" sz="2400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8296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D178E-E0F4-DD9E-8006-DA5A30058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B6B425-50E7-EFF9-4842-7AC4736C2FE1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BB26F8-B19C-ADFF-6BBD-836551B5594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32FEE07-651E-4667-B2B1-83C0AC6E6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09A9E552-E0EF-31A3-A170-909733B60F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45AA27-E863-FB2E-C92E-023F6D4EAF9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0A0EEBF-C235-F646-427D-326BA2DD984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360C75D-5121-0B77-5D60-7739BCA3AF9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A2A94BF-893C-AD90-76EC-59AEC36AF047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ED7EDDD-DC4E-9209-E466-E44277E9A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7F149A9-0BF1-40DF-188E-45EF5BF5E0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3895066-B84A-0F91-9EB9-2EFB5D6919F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C6C5F6-A717-C10B-AA55-DC988D523348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1FA0B1A-1E1F-32C1-BACC-B0E318AA0AA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8CC0B5A4-3F19-D588-0423-9CB70C278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Conditionals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3100" dirty="0">
                <a:solidFill>
                  <a:schemeClr val="bg2"/>
                </a:solidFill>
              </a:rPr>
              <a:t>Control Flow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If you do then good, else then bad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D70D9093-FAE9-878A-DC73-DA7988C146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076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1F049-8984-10F4-862E-8079B5828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15CC204-2796-8FF0-4084-EAD10D83E8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641EE80-E2DA-C46F-DDB8-EB5D1166D5E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B4AB4A-4514-6754-363C-62583A4C0E1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52FE5B6-25E6-6BD3-8C42-8FA5E378FF2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ABBBEA-301B-F7FE-87E6-99A8B8C3CDC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4A52A55-7CBD-01BF-2BC5-683CEC69517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FDB1AE4-BFBA-D646-BE45-B39F7CBB76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D77E430-6EA1-F734-D018-0FAF594FD9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6C23D3-19D0-EF5F-4CAE-3B3C8EDAD4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1A09F654-BAA1-2CB9-2F4B-8B63FCE015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065A1DA1-F7EF-716E-D9CC-025B8EB2B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If Statement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A03241E-BFFD-A89B-9D12-53453DC9EC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67D7AAA-BCC0-3C96-6C62-FE153175765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9ED77BF-F79A-C376-D915-8D31FB65E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427" y="2771946"/>
            <a:ext cx="10978545" cy="2397095"/>
          </a:xfrm>
        </p:spPr>
        <p:txBody>
          <a:bodyPr>
            <a:normAutofit/>
          </a:bodyPr>
          <a:lstStyle/>
          <a:p>
            <a:r>
              <a:rPr lang="en-GB" sz="2400" dirty="0"/>
              <a:t>Use </a:t>
            </a:r>
            <a:r>
              <a:rPr lang="en-GB" sz="2400" dirty="0">
                <a:solidFill>
                  <a:srgbClr val="004467"/>
                </a:solidFill>
                <a:latin typeface="Consolas" panose="020B0609020204030204" pitchFamily="49" charset="0"/>
              </a:rPr>
              <a:t>if</a:t>
            </a:r>
            <a:r>
              <a:rPr lang="en-GB" sz="2400" dirty="0"/>
              <a:t> to specify a block of code to be executed, if a specified condition is true</a:t>
            </a:r>
          </a:p>
          <a:p>
            <a:r>
              <a:rPr lang="en-GB" sz="2400" dirty="0"/>
              <a:t>Use </a:t>
            </a:r>
            <a:r>
              <a:rPr lang="en-GB" sz="2400" dirty="0">
                <a:solidFill>
                  <a:srgbClr val="004467"/>
                </a:solidFill>
                <a:latin typeface="Consolas" panose="020B0609020204030204" pitchFamily="49" charset="0"/>
              </a:rPr>
              <a:t>else</a:t>
            </a:r>
            <a:r>
              <a:rPr lang="en-GB" sz="2400" dirty="0"/>
              <a:t> to specify a block of code to be executed, if the same condition is false</a:t>
            </a:r>
          </a:p>
          <a:p>
            <a:r>
              <a:rPr lang="en-GB" sz="2400" dirty="0"/>
              <a:t>Use </a:t>
            </a:r>
            <a:r>
              <a:rPr lang="en-GB" sz="2400" dirty="0">
                <a:solidFill>
                  <a:srgbClr val="004467"/>
                </a:solidFill>
                <a:latin typeface="Consolas" panose="020B0609020204030204" pitchFamily="49" charset="0"/>
              </a:rPr>
              <a:t>else if</a:t>
            </a:r>
            <a:r>
              <a:rPr lang="en-GB" sz="2400" dirty="0"/>
              <a:t> to specify a new condition to test, if the first condition is false</a:t>
            </a:r>
          </a:p>
          <a:p>
            <a:r>
              <a:rPr lang="en-GB" sz="2400" dirty="0"/>
              <a:t>Use </a:t>
            </a:r>
            <a:r>
              <a:rPr lang="en-GB" sz="2400" dirty="0">
                <a:solidFill>
                  <a:srgbClr val="004467"/>
                </a:solidFill>
                <a:latin typeface="Consolas" panose="020B0609020204030204" pitchFamily="49" charset="0"/>
              </a:rPr>
              <a:t>switch</a:t>
            </a:r>
            <a:r>
              <a:rPr lang="en-GB" sz="2400" dirty="0"/>
              <a:t> to specify many alternative blocks of code to be executed</a:t>
            </a:r>
          </a:p>
        </p:txBody>
      </p:sp>
    </p:spTree>
    <p:extLst>
      <p:ext uri="{BB962C8B-B14F-4D97-AF65-F5344CB8AC3E}">
        <p14:creationId xmlns:p14="http://schemas.microsoft.com/office/powerpoint/2010/main" val="1435273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7DA7-CAA6-82B6-7033-D612B51E3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33F2146-4798-B59A-AB58-E9888E1A7F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B672BFE-3C06-3EE1-A8EE-087CE9DF074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38488B-637A-6F63-CB9E-A6D409E0BA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F79FE62-E6AB-3F0F-6199-E7D35D56B72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EBCFBF-958F-5666-38F3-7BA61027A70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AED1775-3D75-B025-0B68-9AA59FABA8B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1BD22F9-C609-553F-AEE0-0391E03FC8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143A98F-FF94-5DB0-FEBA-2663AD7581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2AFCA76-011B-5530-F17A-3D1C23A367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F61C148-0DF6-4BAE-2935-BB06A4661B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04165143-1ADD-332C-7D7D-D4E0B6995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 if we </a:t>
            </a:r>
            <a:r>
              <a:rPr lang="en-GB" b="1" dirty="0"/>
              <a:t>demonstrate?</a:t>
            </a:r>
            <a:endParaRPr lang="en-US" b="1" dirty="0"/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535AF4E2-A2FC-3CEC-66CF-E91E6E8A72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AF5C403-1232-4D8B-1321-046E2B47791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E62CEF5-216E-EC9C-7568-25F652233FF1}"/>
              </a:ext>
            </a:extLst>
          </p:cNvPr>
          <p:cNvSpPr txBox="1"/>
          <p:nvPr/>
        </p:nvSpPr>
        <p:spPr>
          <a:xfrm>
            <a:off x="1414466" y="1660909"/>
            <a:ext cx="8680581" cy="415498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buNone/>
            </a:pPr>
            <a:r>
              <a:rPr lang="en-GB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school student.</a:t>
            </a:r>
            <a:r>
              <a:rPr lang="en-GB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GB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university student.</a:t>
            </a:r>
            <a:r>
              <a:rPr lang="en-GB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GB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graduate.</a:t>
            </a:r>
            <a:r>
              <a:rPr lang="en-GB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77150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B4A9-B658-75C2-8377-F1F2C7A2F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89F8740D-7077-1F0C-9795-C276552514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20E8ABA-B17D-CE99-2F05-5C80DAA2BB5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D12021-3753-58C0-A19B-8BB321AAE8C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FE97E6C-ECAB-05B3-FCD5-E6F2A9B1183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368E04-3E91-97DB-B3CC-B2F6F88D3305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83FC9DF-B113-B0DC-A9C8-6B86F30AA42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AE520FD-EE05-A9E5-A124-BD8D8A76AB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0206185-24AA-0B6B-7959-C427FDA8B9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0C6A7F9-87F4-EB18-ADE5-957F58A45C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27F64A7-A7A3-4F87-7AAA-D51A652CA72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D287DAB-D570-BD2F-66C0-783C5FBA0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Nested If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8CEE45FF-E0EA-3A1B-5021-5EA126961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D2BC23A-6256-5F7A-2BC7-36ECE2D3295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89C9526-E2B7-F294-B293-DBB6A1331363}"/>
              </a:ext>
            </a:extLst>
          </p:cNvPr>
          <p:cNvSpPr txBox="1"/>
          <p:nvPr/>
        </p:nvSpPr>
        <p:spPr>
          <a:xfrm>
            <a:off x="5477705" y="1719433"/>
            <a:ext cx="6096000" cy="4093428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child.</a:t>
            </a:r>
            <a:r>
              <a:rPr lang="en-GB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GB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teenager.</a:t>
            </a:r>
            <a:r>
              <a:rPr lang="en-GB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GB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an adult.</a:t>
            </a:r>
            <a:r>
              <a:rPr lang="en-GB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5CC0E9-F0B4-2F43-EE08-94318BABBF80}"/>
              </a:ext>
            </a:extLst>
          </p:cNvPr>
          <p:cNvSpPr txBox="1"/>
          <p:nvPr/>
        </p:nvSpPr>
        <p:spPr>
          <a:xfrm>
            <a:off x="983075" y="1994954"/>
            <a:ext cx="4120600" cy="30469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You can also place an if statement inside another if. This is called a </a:t>
            </a:r>
            <a:r>
              <a:rPr lang="en-GB" sz="2400" b="1" dirty="0"/>
              <a:t>nested if</a:t>
            </a:r>
            <a:r>
              <a:rPr lang="en-GB" sz="2400" dirty="0"/>
              <a:t> statement.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A nested if lets you check for a condition only if another condition is already true</a:t>
            </a:r>
          </a:p>
        </p:txBody>
      </p:sp>
    </p:spTree>
    <p:extLst>
      <p:ext uri="{BB962C8B-B14F-4D97-AF65-F5344CB8AC3E}">
        <p14:creationId xmlns:p14="http://schemas.microsoft.com/office/powerpoint/2010/main" val="156207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9F071-2A84-1E1B-9882-2FE8DC3EC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CE4A9B9-DF59-F3EC-0A81-A32E7330B1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E2AD525-157B-AFEB-263B-B2BFC23BEA1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D29B2F-CA61-04A0-051A-58ADFD841E9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14F20FC-D306-3E94-3F0D-7988A98420F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9337FDE-1E3F-9502-3A36-8A55B53F945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C60E348-E369-CA04-59CA-84BF3D5B51D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7AF8851-B2AC-668C-D44D-A9C398CD78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857D429-15A9-0486-8EDE-8F99552F84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EFC0955-EC8D-09A0-6CDF-C15EB90ADC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8445E14-0A45-07CD-A24C-39C4BBFDD2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28153804-A78C-CED4-A2F9-1036E0093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How does Switch work?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C1BF3271-D436-268D-65A3-7376E5C4E7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C91BEAD-667D-1E99-90A3-6194BD7C79A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3CAC53-D095-D025-E8D0-307FD020A2D2}"/>
              </a:ext>
            </a:extLst>
          </p:cNvPr>
          <p:cNvSpPr txBox="1"/>
          <p:nvPr/>
        </p:nvSpPr>
        <p:spPr>
          <a:xfrm>
            <a:off x="937268" y="1965253"/>
            <a:ext cx="6096000" cy="3693319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day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"Monday"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"Tuesday"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"Wednesday"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"Invalid day"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261499-4FFC-D4CA-B346-85D8E32EF6B7}"/>
              </a:ext>
            </a:extLst>
          </p:cNvPr>
          <p:cNvSpPr txBox="1"/>
          <p:nvPr/>
        </p:nvSpPr>
        <p:spPr>
          <a:xfrm>
            <a:off x="7219670" y="2072974"/>
            <a:ext cx="4394027" cy="347787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The value of the expression is compared with the values of each </a:t>
            </a:r>
            <a:r>
              <a:rPr lang="en-GB" sz="2000" dirty="0">
                <a:solidFill>
                  <a:srgbClr val="004467"/>
                </a:solidFill>
              </a:rPr>
              <a:t>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If there is a </a:t>
            </a:r>
            <a:r>
              <a:rPr lang="en-GB" sz="2000" dirty="0">
                <a:solidFill>
                  <a:srgbClr val="004467"/>
                </a:solidFill>
              </a:rPr>
              <a:t>match</a:t>
            </a:r>
            <a:r>
              <a:rPr lang="en-GB" sz="2000" dirty="0"/>
              <a:t>, the associated block of code is </a:t>
            </a:r>
            <a:r>
              <a:rPr lang="en-GB" sz="2000" dirty="0">
                <a:solidFill>
                  <a:srgbClr val="004467"/>
                </a:solidFill>
              </a:rPr>
              <a:t>executed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The </a:t>
            </a:r>
            <a:r>
              <a:rPr lang="en-GB" sz="2000" dirty="0">
                <a:solidFill>
                  <a:srgbClr val="004467"/>
                </a:solidFill>
              </a:rPr>
              <a:t>break</a:t>
            </a:r>
            <a:r>
              <a:rPr lang="en-GB" sz="2000" dirty="0"/>
              <a:t> statement breaks </a:t>
            </a:r>
            <a:r>
              <a:rPr lang="en-GB" sz="2000" dirty="0">
                <a:solidFill>
                  <a:srgbClr val="004467"/>
                </a:solidFill>
              </a:rPr>
              <a:t>out</a:t>
            </a:r>
            <a:r>
              <a:rPr lang="en-GB" sz="2000" dirty="0"/>
              <a:t> of the </a:t>
            </a:r>
            <a:r>
              <a:rPr lang="en-GB" sz="2000" dirty="0">
                <a:solidFill>
                  <a:srgbClr val="004467"/>
                </a:solidFill>
              </a:rPr>
              <a:t>switch</a:t>
            </a:r>
            <a:r>
              <a:rPr lang="en-GB" sz="2000" dirty="0"/>
              <a:t> block and stops the execution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The </a:t>
            </a:r>
            <a:r>
              <a:rPr lang="en-GB" sz="2000" dirty="0">
                <a:solidFill>
                  <a:srgbClr val="004467"/>
                </a:solidFill>
              </a:rPr>
              <a:t>default</a:t>
            </a:r>
            <a:r>
              <a:rPr lang="en-GB" sz="2000" dirty="0"/>
              <a:t> statement is </a:t>
            </a:r>
            <a:r>
              <a:rPr lang="en-GB" sz="2000" dirty="0">
                <a:solidFill>
                  <a:srgbClr val="004467"/>
                </a:solidFill>
              </a:rPr>
              <a:t>optional</a:t>
            </a:r>
            <a:r>
              <a:rPr lang="en-GB" sz="2000" dirty="0"/>
              <a:t>, and specifies some code to run if there is </a:t>
            </a:r>
            <a:r>
              <a:rPr lang="en-GB" sz="2000" dirty="0">
                <a:solidFill>
                  <a:srgbClr val="004467"/>
                </a:solidFill>
              </a:rPr>
              <a:t>no case match</a:t>
            </a:r>
          </a:p>
        </p:txBody>
      </p:sp>
    </p:spTree>
    <p:extLst>
      <p:ext uri="{BB962C8B-B14F-4D97-AF65-F5344CB8AC3E}">
        <p14:creationId xmlns:p14="http://schemas.microsoft.com/office/powerpoint/2010/main" val="3931231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C3C60-B50C-3B63-BD07-316D0B8F2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5C5621F-E729-22C9-2A09-20FA646C27EA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4663B7-7488-2DAE-7967-F221200816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CCB65C-A999-64A4-12E2-1C2A259F5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31C5EB2-865B-95B7-DA3A-0D9A4892C5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1FC5D5A-848C-38CF-25FF-D6EDA45BAFF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C83034C-C166-A639-F951-69CBBDC9AA2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F607079-53BA-C95F-A192-FFAB1B9867CD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0C84BAD-DFC2-DC43-FDCC-673C6EB68208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B59ED17-6BAE-97C4-6BF0-E555120B83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414238E-827C-4800-8D2D-51057ABC5C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8270516-1DAE-155D-4773-48551AC4C73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E90AC-AA81-63D9-5DA2-8F3204E3E85F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D81AC86-DE37-1C31-F827-22E898EAB4A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E5984F64-4150-2F61-CB02-C6AD09F1C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Loops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</a:t>
            </a:r>
            <a:r>
              <a:rPr lang="en-US" sz="3100" dirty="0" err="1">
                <a:solidFill>
                  <a:schemeClr val="bg2"/>
                </a:solidFill>
              </a:rPr>
              <a:t>Loops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 err="1">
                <a:solidFill>
                  <a:schemeClr val="bg2"/>
                </a:solidFill>
              </a:rPr>
              <a:t>Loops</a:t>
            </a:r>
            <a:endParaRPr lang="en-US" sz="2200" dirty="0">
              <a:solidFill>
                <a:schemeClr val="bg2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A1377873-EB9B-7DFF-8D54-299CBB6B4F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7845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EDDCB-D180-E17D-8812-9873EEE4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F68A2C7-B304-F106-FD01-3E46847AD30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B55D2EA-0E1A-304D-AD47-7B77A98289A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BBA8CD-797D-28E8-B8C8-CF532CF7A49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D940F52-4889-D1A3-6DC1-23AB62C5C6C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B0E6A7A-70C6-B215-84E4-F4CB90EB36A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7FD2EB-62C7-1926-6971-A753B251457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BC6465B-4C45-3B5D-18DB-9723B612EC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49F029B-0D94-5C5E-A670-0481EFAF83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8B9A25B-A477-F375-9B8B-10161442BA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8E3F527-7DA2-5672-5827-A3B3DA6A3C1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3ABC4613-A72D-38C8-DF63-C2D800E9C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 is a loop?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81DFD1D-6353-516C-F979-1479B49019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D3C6401-9451-FC5C-5C23-282F8BC5A4E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7B5D94-B430-55E5-FBAE-1C04E7C5434F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A53C87-87BC-C60B-28FD-8A37A8614A7A}"/>
              </a:ext>
            </a:extLst>
          </p:cNvPr>
          <p:cNvSpPr txBox="1"/>
          <p:nvPr/>
        </p:nvSpPr>
        <p:spPr>
          <a:xfrm>
            <a:off x="1702826" y="2247719"/>
            <a:ext cx="8103862" cy="27602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200" dirty="0"/>
              <a:t>Loops can execute a block of code </a:t>
            </a:r>
            <a:r>
              <a:rPr lang="en-GB" sz="3200" dirty="0">
                <a:solidFill>
                  <a:srgbClr val="004467"/>
                </a:solidFill>
              </a:rPr>
              <a:t>as long as</a:t>
            </a:r>
            <a:r>
              <a:rPr lang="en-GB" sz="3200" dirty="0"/>
              <a:t> a specified condition is </a:t>
            </a:r>
            <a:r>
              <a:rPr lang="en-GB" sz="3200" dirty="0">
                <a:solidFill>
                  <a:srgbClr val="004467"/>
                </a:solidFill>
              </a:rPr>
              <a:t>true</a:t>
            </a:r>
            <a:r>
              <a:rPr lang="en-GB" sz="3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200" dirty="0"/>
              <a:t>Loops are handy because they </a:t>
            </a:r>
            <a:r>
              <a:rPr lang="en-GB" sz="3200" dirty="0">
                <a:solidFill>
                  <a:srgbClr val="004467"/>
                </a:solidFill>
              </a:rPr>
              <a:t>save time</a:t>
            </a:r>
            <a:r>
              <a:rPr lang="en-GB" sz="3200" dirty="0"/>
              <a:t>, reduce errors, and they make code more readable.</a:t>
            </a:r>
          </a:p>
          <a:p>
            <a:pPr marL="342900" indent="-342900">
              <a:lnSpc>
                <a:spcPts val="1425"/>
              </a:lnSpc>
              <a:buFont typeface="Arial" panose="020B0604020202020204" pitchFamily="34" charset="0"/>
              <a:buChar char="•"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028006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EBB2E-C4D1-DB04-7825-97F858B30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C6E2899-42C8-3C4A-5030-383D6CD316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28C42B7-2E0D-CB6B-D549-5919926AB63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12ECE3-69B5-75CE-3D9B-32168857F37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B6DE04A-9615-FD80-EA16-ECE39C7BEE3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6A1F483-9C5A-B939-3F3A-75C8668E478A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821EC47-D7C8-BCD0-C435-0C2A8457CE4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D0FF105-1966-46A8-004B-6B700A98E0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516CA8-B05B-A5C2-674E-2B544C2A6A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1B22E82-EC07-E552-35C3-285FDB6F58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D2E9E44-BE8C-F7EE-1608-DB76EDE38F0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94634B2E-A3B3-F3BC-D328-B3D16621D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While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B2FE787-AA12-921F-0974-6618ABC986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D1EF807-4EAE-D1A3-A5A6-BE5C06D2579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42EC11-5B7C-AD40-249C-9C65B7A51568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D559F5-614F-BF47-3C60-245AC8851449}"/>
              </a:ext>
            </a:extLst>
          </p:cNvPr>
          <p:cNvSpPr txBox="1"/>
          <p:nvPr/>
        </p:nvSpPr>
        <p:spPr>
          <a:xfrm>
            <a:off x="1499106" y="2171532"/>
            <a:ext cx="9065341" cy="1754326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"Hello, World!</a:t>
            </a:r>
            <a:r>
              <a:rPr lang="en-GB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4D680E-AD1E-357D-2298-7A331F928D0C}"/>
              </a:ext>
            </a:extLst>
          </p:cNvPr>
          <p:cNvSpPr txBox="1"/>
          <p:nvPr/>
        </p:nvSpPr>
        <p:spPr>
          <a:xfrm>
            <a:off x="2016838" y="4585641"/>
            <a:ext cx="7649676" cy="10772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The while loop repeats a block of code as long as a specified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13132201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99C61-21A5-6F1B-E6F4-BD55E5FB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9208E68-27CA-E0E0-F1A1-7E5838EED1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19129CD-D1F5-99C1-AC32-966B56396E0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15D3991-8818-433D-F521-5F193F763A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57CC1BB-3921-1EF7-E399-4A5C70C43F9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082019-3D35-AA79-A1DC-F05BC9FD1B9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351FFFB-F0DD-8F2A-0451-D657FE5805D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B0A5617-2610-40BD-3AD2-E50AF99925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3ED4C80-8305-745D-B6E5-5B0246DF8B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A137D01-F185-62AE-FE75-1130D93C50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2D8F6D0-7082-B398-32FE-830A3DDD91A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6DA7106B-64A4-3416-C720-49FD4436A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Do While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546ABF17-CD63-ECC9-6BDD-55C51F1B87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E31AF94-97EA-7EB2-B93A-CDA88DDF759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AD291C-71AD-F4EA-C6AC-9899718B6268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3FC892-D603-8451-4082-D742DD9185FC}"/>
              </a:ext>
            </a:extLst>
          </p:cNvPr>
          <p:cNvSpPr txBox="1"/>
          <p:nvPr/>
        </p:nvSpPr>
        <p:spPr>
          <a:xfrm>
            <a:off x="1929919" y="4298447"/>
            <a:ext cx="7649676" cy="206210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This loop will execute the code block once, before checking if the condition is true, then it will repeat the loop as long as the condition is true.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0D9E47-872B-8415-DB13-188C20AB4DC2}"/>
              </a:ext>
            </a:extLst>
          </p:cNvPr>
          <p:cNvSpPr txBox="1"/>
          <p:nvPr/>
        </p:nvSpPr>
        <p:spPr>
          <a:xfrm>
            <a:off x="1444958" y="2104359"/>
            <a:ext cx="8854527" cy="1754326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"Hello, World!</a:t>
            </a:r>
            <a:r>
              <a:rPr lang="en-GB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GB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8524579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C067-0B18-B784-00F2-50A0B14B7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128F80B-A391-C3B3-BA4C-EAEFC9EEC2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4B47A52-ED60-7E1A-97E9-CD4B06E8663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482FE3-078C-3067-7770-4A0400D3C0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1DFB71-A122-0E0C-7F9F-CAB52236F5F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2163B9-39D0-E8A9-792C-F9B1C8486A0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EC4E4A0-1CF9-F671-0873-82000D25E6DD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188238E-41D3-F466-7A5E-E9DA9F4CDE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EF1BC6B-469D-6A21-BE77-D8A228C639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A3AE884-40AE-2B96-BF09-A8A5EC622F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9699A4A-323B-2AD9-01ED-6FB46EEA95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BC9B18D4-35B0-16FC-6993-2AB923F93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For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BC2B1C4-51CC-0CF4-9961-F0ECF19DAA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69D3872-B48B-4273-EC34-04298F643FE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C56548-3E6A-2E69-4AED-6B49FBBBACEE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E313F9-8047-1E63-DDAB-845BA0D19A43}"/>
              </a:ext>
            </a:extLst>
          </p:cNvPr>
          <p:cNvSpPr txBox="1"/>
          <p:nvPr/>
        </p:nvSpPr>
        <p:spPr>
          <a:xfrm>
            <a:off x="2047383" y="4298447"/>
            <a:ext cx="7649676" cy="15696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When you know exactly how many times you want to loop through a block of code, use the For loop instead of a while loop: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E860FE-AC89-E46C-1BA1-7C66B728251F}"/>
              </a:ext>
            </a:extLst>
          </p:cNvPr>
          <p:cNvSpPr txBox="1"/>
          <p:nvPr/>
        </p:nvSpPr>
        <p:spPr>
          <a:xfrm>
            <a:off x="1593866" y="2209604"/>
            <a:ext cx="9004267" cy="1754326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nn-NO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nn-NO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nn-NO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nn-NO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"Hello, World!</a:t>
            </a:r>
            <a:r>
              <a:rPr lang="nn-NO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319962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3FED8-1FE3-29FD-CD75-89053F8F4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C5CF3D4-9A09-55CB-E843-7ECDF1E71703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234E4-59D2-20B6-1BBE-8863B5602F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FAD9E00-AC97-9B13-56B5-F2D9766CF3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1C247E4-37EA-DE28-0031-7C01616F8B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500FA27-88A3-BCA4-9B02-EB15B3B57D9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1F95E4D-4DFC-0D16-2741-CFC4A086DB23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81EA6DA-A7DB-536A-F544-F714071F45A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6212057-6802-64B5-F67E-0DC99C4B2063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EC89F53-711F-CA21-47A7-E746E6A225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FF3560-3F6D-91D4-EE24-4AA9E3E91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0C30EEA-F5CF-44C9-8024-4218581A4FC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7E4318-6AD7-8502-A2FF-C0773DF6CE9D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623B640-A5F5-A114-895B-63C0689A08D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D65C1434-52DB-86DE-9EC8-FB4C6F68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Bitwise Operations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3100" dirty="0">
                <a:solidFill>
                  <a:schemeClr val="bg2"/>
                </a:solidFill>
              </a:rPr>
              <a:t>Bit Manipulation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Getting to know about bits more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151DBCE3-1FC2-088A-C8ED-4068ADEA7E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259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7E9C9-E5F1-10E4-18FE-DBB8B80A3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ACCF080-FB85-CC17-66F8-941C28ED714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106C219-96AF-F58C-2E42-9FB3F6DF106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EA7E939-4466-4E8F-1D79-1F3E818F60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89B743-2971-D8E9-6E98-16D59BF5853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8E051BD-F268-E88E-60D2-36FE18274A9A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DF2CC3F-F6FE-0AA9-9C14-6F7F594F653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0AB8FDE-B620-23FF-A434-AD57F17FB9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E1C998F-C88A-B2A5-6E61-6CE7736F73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6AC1E9-81D1-1820-0F62-A76D342C3F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7B3A2-905E-F0F0-6A9F-A477057A99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95970DB3-11C8-6C16-FDE5-F49DB3B0C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What’s special about </a:t>
            </a:r>
            <a:r>
              <a:rPr lang="en-US" b="1" dirty="0">
                <a:solidFill>
                  <a:srgbClr val="3F51B5"/>
                </a:solidFill>
              </a:rPr>
              <a:t>bitwise operators</a:t>
            </a:r>
            <a:r>
              <a:rPr lang="en-US" b="1" dirty="0"/>
              <a:t>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09AF8B4-824B-8EF3-82DE-7626D42BD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86039"/>
            <a:ext cx="10515600" cy="3690924"/>
          </a:xfrm>
        </p:spPr>
        <p:txBody>
          <a:bodyPr/>
          <a:lstStyle/>
          <a:p>
            <a:r>
              <a:rPr lang="en-GB" dirty="0"/>
              <a:t>Bitwise operators allows us to manipulate individual bits (0s &amp; 1s), so they only work on integers </a:t>
            </a:r>
          </a:p>
          <a:p>
            <a:r>
              <a:rPr lang="en-GB" dirty="0"/>
              <a:t>We use bit	wise operators to talk to the CPU to control specific register</a:t>
            </a:r>
          </a:p>
          <a:p>
            <a:r>
              <a:rPr lang="en-GB" dirty="0"/>
              <a:t>But to understand bitwise operators we need to know </a:t>
            </a:r>
            <a:r>
              <a:rPr lang="en-GB" b="1" dirty="0">
                <a:solidFill>
                  <a:srgbClr val="3F51B5"/>
                </a:solidFill>
              </a:rPr>
              <a:t>logic gates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A0D4E75A-6240-0016-F43B-B1ED0D0883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C206748-9376-04BA-8A9B-CC0348C08C9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8DE52B-6892-FE65-0215-2E941867FE5E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92880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AA3-C8E0-342D-75F8-94D9B25A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DE54769-4DE3-63B5-36A5-DAF1D22BCF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C3F763F-ABCA-3576-4BC7-8F24417AC35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F4201E-E6F1-4B3F-E75E-3A0230C9CB6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D08712-DD40-9C1C-B26A-DE5F6F15D57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EA1E60-851D-FE13-6EE2-373035EF169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8E37135-2C56-B74E-0B02-C5691D9F0CA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136BB36-5642-AD22-359D-F3F6B62223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C267A03-627A-B888-56A8-47A966B042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0C35589-366E-8BBF-EE4C-7418029EE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4AEDF50-32B1-3930-A38B-DBC375811B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29BDB0BF-7E60-8FB5-67FD-A9553F3A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Logic Gates: NOT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860904C1-F71E-6457-FEEC-5393DC539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E948DD7-EA9D-4C49-9CE3-DA5AF10633C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FBC377-D948-9363-8502-98629671CF73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32" name="Picture 8" descr="NOT symbol">
            <a:extLst>
              <a:ext uri="{FF2B5EF4-FFF2-40B4-BE49-F238E27FC236}">
                <a16:creationId xmlns:a16="http://schemas.microsoft.com/office/drawing/2014/main" id="{35223AFF-D266-B459-776B-0FAD99938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1557" y="3429000"/>
            <a:ext cx="2868886" cy="1195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2FDEAE0-54DB-C95E-4C40-8A29EA96532A}"/>
              </a:ext>
            </a:extLst>
          </p:cNvPr>
          <p:cNvSpPr txBox="1"/>
          <p:nvPr/>
        </p:nvSpPr>
        <p:spPr>
          <a:xfrm>
            <a:off x="1976042" y="1783948"/>
            <a:ext cx="8239916" cy="95410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NOT gate (also called Inverter</a:t>
            </a:r>
            <a:r>
              <a:rPr lang="en-GB" sz="2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can transform a signal (or in our case a bit) to the opposite value</a:t>
            </a:r>
            <a:endParaRPr lang="en-GB" sz="2800" b="0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0A604E-44FE-677B-4F31-2A663756FEC6}"/>
              </a:ext>
            </a:extLst>
          </p:cNvPr>
          <p:cNvSpPr txBox="1"/>
          <p:nvPr/>
        </p:nvSpPr>
        <p:spPr>
          <a:xfrm>
            <a:off x="6354485" y="4875624"/>
            <a:ext cx="2179914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Q = 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59ABBF-0A74-66D6-074B-45BF79488E02}"/>
              </a:ext>
            </a:extLst>
          </p:cNvPr>
          <p:cNvSpPr txBox="1"/>
          <p:nvPr/>
        </p:nvSpPr>
        <p:spPr>
          <a:xfrm>
            <a:off x="3804875" y="4875624"/>
            <a:ext cx="2179914" cy="5232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= 0</a:t>
            </a:r>
          </a:p>
        </p:txBody>
      </p:sp>
    </p:spTree>
    <p:extLst>
      <p:ext uri="{BB962C8B-B14F-4D97-AF65-F5344CB8AC3E}">
        <p14:creationId xmlns:p14="http://schemas.microsoft.com/office/powerpoint/2010/main" val="277996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73AD-27C4-383E-595D-FCFB3224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1B1185A-5CB2-5D72-D7BE-679E8FB055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278B5B2-60AC-9BD1-D771-C57BED38875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C24054-3A93-C5B0-269C-E62A3BB038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0E25068-1ABB-14AB-815E-9C96AEFD41E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7EE6F-EAD3-E801-A2D5-73B70289D7F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C0018B8-5D02-7A47-2379-5289D282F59E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DD92920-D037-D721-564D-4FAAED5600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53C120E-BA3C-80F2-F491-A0CD1829B0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CDC1236-97A9-060B-0441-E63681DC49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4DD4BE6-6293-67D1-ABE8-09C43BE4B3A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2640FD11-0FD5-A59B-FC70-D44E25A36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Logic Gates: AND &amp; OR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67339854-5E24-93A3-D5C8-02D76E5C31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285566A-D1FE-A4AB-C4A1-5CA098F066A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EDFDE9-B44C-789E-CCFA-A5C288697686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AND symbol">
            <a:extLst>
              <a:ext uri="{FF2B5EF4-FFF2-40B4-BE49-F238E27FC236}">
                <a16:creationId xmlns:a16="http://schemas.microsoft.com/office/drawing/2014/main" id="{8A93E2CD-C26B-508D-D485-34BACEB2EE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580" y="2974495"/>
            <a:ext cx="2868888" cy="1195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R symbol">
            <a:extLst>
              <a:ext uri="{FF2B5EF4-FFF2-40B4-BE49-F238E27FC236}">
                <a16:creationId xmlns:a16="http://schemas.microsoft.com/office/drawing/2014/main" id="{CD954FCE-9580-D192-7C88-9830F394F2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3534" y="2974495"/>
            <a:ext cx="2868886" cy="1195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AC910-0EBF-D347-E600-39B588289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4477218"/>
              </p:ext>
            </p:extLst>
          </p:nvPr>
        </p:nvGraphicFramePr>
        <p:xfrm>
          <a:off x="2155271" y="4406416"/>
          <a:ext cx="261750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502">
                  <a:extLst>
                    <a:ext uri="{9D8B030D-6E8A-4147-A177-3AD203B41FA5}">
                      <a16:colId xmlns:a16="http://schemas.microsoft.com/office/drawing/2014/main" val="112994308"/>
                    </a:ext>
                  </a:extLst>
                </a:gridCol>
                <a:gridCol w="872502">
                  <a:extLst>
                    <a:ext uri="{9D8B030D-6E8A-4147-A177-3AD203B41FA5}">
                      <a16:colId xmlns:a16="http://schemas.microsoft.com/office/drawing/2014/main" val="846023914"/>
                    </a:ext>
                  </a:extLst>
                </a:gridCol>
                <a:gridCol w="872502">
                  <a:extLst>
                    <a:ext uri="{9D8B030D-6E8A-4147-A177-3AD203B41FA5}">
                      <a16:colId xmlns:a16="http://schemas.microsoft.com/office/drawing/2014/main" val="35355133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17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608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8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22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9463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987B96C-4F78-6ACD-6DD8-11D3EDC6F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943714"/>
              </p:ext>
            </p:extLst>
          </p:nvPr>
        </p:nvGraphicFramePr>
        <p:xfrm>
          <a:off x="7419225" y="4406416"/>
          <a:ext cx="2617506" cy="1857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502">
                  <a:extLst>
                    <a:ext uri="{9D8B030D-6E8A-4147-A177-3AD203B41FA5}">
                      <a16:colId xmlns:a16="http://schemas.microsoft.com/office/drawing/2014/main" val="112994308"/>
                    </a:ext>
                  </a:extLst>
                </a:gridCol>
                <a:gridCol w="872502">
                  <a:extLst>
                    <a:ext uri="{9D8B030D-6E8A-4147-A177-3AD203B41FA5}">
                      <a16:colId xmlns:a16="http://schemas.microsoft.com/office/drawing/2014/main" val="846023914"/>
                    </a:ext>
                  </a:extLst>
                </a:gridCol>
                <a:gridCol w="872502">
                  <a:extLst>
                    <a:ext uri="{9D8B030D-6E8A-4147-A177-3AD203B41FA5}">
                      <a16:colId xmlns:a16="http://schemas.microsoft.com/office/drawing/2014/main" val="3535513371"/>
                    </a:ext>
                  </a:extLst>
                </a:gridCol>
              </a:tblGrid>
              <a:tr h="374439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17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608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8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22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9463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F377BE9-4E2E-D9BE-07DC-DED17386D9F1}"/>
              </a:ext>
            </a:extLst>
          </p:cNvPr>
          <p:cNvSpPr txBox="1"/>
          <p:nvPr/>
        </p:nvSpPr>
        <p:spPr>
          <a:xfrm>
            <a:off x="1129611" y="1690688"/>
            <a:ext cx="4392251" cy="138499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AND gate passes down the signal only if both inputs are true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2A3AA9-1A2C-FE3F-CEE5-85ECEAFBC188}"/>
              </a:ext>
            </a:extLst>
          </p:cNvPr>
          <p:cNvSpPr txBox="1"/>
          <p:nvPr/>
        </p:nvSpPr>
        <p:spPr>
          <a:xfrm>
            <a:off x="6531851" y="1638286"/>
            <a:ext cx="4392251" cy="138499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OR gate passes down the signal only if one of the inputs is true</a:t>
            </a:r>
          </a:p>
        </p:txBody>
      </p:sp>
    </p:spTree>
    <p:extLst>
      <p:ext uri="{BB962C8B-B14F-4D97-AF65-F5344CB8AC3E}">
        <p14:creationId xmlns:p14="http://schemas.microsoft.com/office/powerpoint/2010/main" val="41578912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E4462-A6EA-FE09-5451-4896351BC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265F5A8-1F39-5F71-9244-387A75C465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C1882AD-A7CF-9838-FF15-3F2B292E553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7B1FED-8E66-D323-CD4A-079377481F7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DDFF60-D053-CF07-7C99-7CD73CB65B3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466855-AA1F-4FE1-4C25-4A252AEE37EA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A11AFA3-280D-CC01-8D74-F8937DC112CA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C7BB75C-B9CC-9704-47D1-CE6C5623CF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86247A7-CF69-DBA3-C35A-7374782377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D3DAC78-A067-916A-34AD-00B99DBA1B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8463B77-BAE1-38F8-1F72-6110CB32EB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EF16F586-66DC-DB23-E849-5A1B14575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Logic Gates: XOR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71961F8-1FB0-03C4-FEF8-3278BD772B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DC7BADD5-ECC0-C6E1-48AB-2B02A01AC40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AD45FF-9B83-769C-BE65-2210292D3689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30" name="Picture 6" descr="XOR symbol">
            <a:extLst>
              <a:ext uri="{FF2B5EF4-FFF2-40B4-BE49-F238E27FC236}">
                <a16:creationId xmlns:a16="http://schemas.microsoft.com/office/drawing/2014/main" id="{1BEDF782-67C3-93F4-3619-E5EC17C64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1371" y="4126844"/>
            <a:ext cx="2868886" cy="1195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DC4F17-1071-EF6F-07F8-E04693489D29}"/>
              </a:ext>
            </a:extLst>
          </p:cNvPr>
          <p:cNvSpPr txBox="1"/>
          <p:nvPr/>
        </p:nvSpPr>
        <p:spPr>
          <a:xfrm>
            <a:off x="2937303" y="2267005"/>
            <a:ext cx="6317394" cy="95410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XOR gate passes down the signal only if both inputs are different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DEC8B47-14A5-BC98-D43C-F686D520D3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662660"/>
              </p:ext>
            </p:extLst>
          </p:nvPr>
        </p:nvGraphicFramePr>
        <p:xfrm>
          <a:off x="6801412" y="3797429"/>
          <a:ext cx="261750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502">
                  <a:extLst>
                    <a:ext uri="{9D8B030D-6E8A-4147-A177-3AD203B41FA5}">
                      <a16:colId xmlns:a16="http://schemas.microsoft.com/office/drawing/2014/main" val="112994308"/>
                    </a:ext>
                  </a:extLst>
                </a:gridCol>
                <a:gridCol w="872502">
                  <a:extLst>
                    <a:ext uri="{9D8B030D-6E8A-4147-A177-3AD203B41FA5}">
                      <a16:colId xmlns:a16="http://schemas.microsoft.com/office/drawing/2014/main" val="846023914"/>
                    </a:ext>
                  </a:extLst>
                </a:gridCol>
                <a:gridCol w="872502">
                  <a:extLst>
                    <a:ext uri="{9D8B030D-6E8A-4147-A177-3AD203B41FA5}">
                      <a16:colId xmlns:a16="http://schemas.microsoft.com/office/drawing/2014/main" val="35355133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17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608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8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22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94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257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87A98-9C50-D9DC-2B32-055F4512D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91C2FD27-5D6A-0250-E0D9-F1EB66245F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7F43DDC-AB41-94FA-1AC5-FF9BF8DB708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B4F119-895E-29E5-14C9-14D5B3358AF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B0C1022-78CE-3BA9-46DD-3A03E42B8EA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D14C3A7-EF37-EDF9-BB52-65EC8E6EDBB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2B18937-1284-A229-D938-9481ADF31E8D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2D8C75E-3338-B1F6-B9F8-466EAFF335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76F135-89AB-D68E-4BF8-505E36B792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3B9C3A5-2FDB-86AF-37CF-5168CE1A4A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33D953C-4722-D6D8-27D6-A328643592B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E73D2514-DEBE-DB7D-A3B7-99027656F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Bitwise Operators in C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6AACC19-A063-BBF7-FF9A-6DF06BF0A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6C54459-4AFF-5730-4D94-67972C64226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C1812D-5F62-1B51-6FF1-6C3DA0B15E77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A90C330-209A-3EFC-E384-F7C0B5D1F6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1959754"/>
              </p:ext>
            </p:extLst>
          </p:nvPr>
        </p:nvGraphicFramePr>
        <p:xfrm>
          <a:off x="2032000" y="2380735"/>
          <a:ext cx="8127999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13895476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1081665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54076218"/>
                    </a:ext>
                  </a:extLst>
                </a:gridCol>
              </a:tblGrid>
              <a:tr h="217295">
                <a:tc>
                  <a:txBody>
                    <a:bodyPr/>
                    <a:lstStyle/>
                    <a:p>
                      <a:r>
                        <a:rPr lang="en-GB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2710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&amp;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Consolas" panose="020B0609020204030204" pitchFamily="49" charset="0"/>
                        </a:rPr>
                        <a:t>C = A &amp;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18384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Consolas" panose="020B0609020204030204" pitchFamily="49" charset="0"/>
                        </a:rPr>
                        <a:t>C = A |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9007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^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XOR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Consolas" panose="020B0609020204030204" pitchFamily="49" charset="0"/>
                        </a:rPr>
                        <a:t>C = A ^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9768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~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Consolas" panose="020B0609020204030204" pitchFamily="49" charset="0"/>
                        </a:rPr>
                        <a:t>C = A ~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363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&gt;&gt;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Right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Consolas" panose="020B0609020204030204" pitchFamily="49" charset="0"/>
                        </a:rPr>
                        <a:t>C = A &gt;&gt;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3763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&lt;&lt;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Left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latin typeface="Consolas" panose="020B0609020204030204" pitchFamily="49" charset="0"/>
                        </a:rPr>
                        <a:t>C = A &lt;&lt;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8683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54475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00256-AD6D-4F36-1E89-F12A4B597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088D0B0-45D8-2D92-2232-93475CBF5D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4C485D47-73AE-3595-FD67-A954020BFB7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13F9FD-D7A1-67EE-A407-BC0FE28FE7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E311657-CAAF-7709-65F9-4EEDA5AAA12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F99DCC-8F5F-E68D-174E-3E7429BB813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B4853CF-6188-38D9-1022-465312868AFD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18A7EE2-440F-8E80-0F28-59EE52A294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4DFACE3-4F00-AF7C-A0B7-E2B5510D8C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C151732-6590-C50E-82E9-DC0489F45B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16B398D-E9F4-7943-AABA-C6962CE0A5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69DD4F9-6DF2-4A19-1C31-E14EE6F23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Shift Right and Left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93534F8-48E2-EB24-6819-A3EF2BC264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7C6DB73-A69B-61D4-4CAD-B539D5F3975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C527BA-9447-9C28-6518-490A8F006262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D5F343-2F63-28FE-7B74-31C9B1AF38D6}"/>
              </a:ext>
            </a:extLst>
          </p:cNvPr>
          <p:cNvSpPr txBox="1"/>
          <p:nvPr/>
        </p:nvSpPr>
        <p:spPr>
          <a:xfrm>
            <a:off x="1775468" y="1848740"/>
            <a:ext cx="8995715" cy="95410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 integer is represented by a set of bits </a:t>
            </a:r>
          </a:p>
          <a:p>
            <a:pPr algn="ctr"/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shift operators allow to move bits either right or left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709C544-EDAD-69E5-009C-3BEE920B6A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986279"/>
              </p:ext>
            </p:extLst>
          </p:nvPr>
        </p:nvGraphicFramePr>
        <p:xfrm>
          <a:off x="2446452" y="3291250"/>
          <a:ext cx="7396595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319">
                  <a:extLst>
                    <a:ext uri="{9D8B030D-6E8A-4147-A177-3AD203B41FA5}">
                      <a16:colId xmlns:a16="http://schemas.microsoft.com/office/drawing/2014/main" val="112994308"/>
                    </a:ext>
                  </a:extLst>
                </a:gridCol>
                <a:gridCol w="1479319">
                  <a:extLst>
                    <a:ext uri="{9D8B030D-6E8A-4147-A177-3AD203B41FA5}">
                      <a16:colId xmlns:a16="http://schemas.microsoft.com/office/drawing/2014/main" val="846023914"/>
                    </a:ext>
                  </a:extLst>
                </a:gridCol>
                <a:gridCol w="1479319">
                  <a:extLst>
                    <a:ext uri="{9D8B030D-6E8A-4147-A177-3AD203B41FA5}">
                      <a16:colId xmlns:a16="http://schemas.microsoft.com/office/drawing/2014/main" val="3535513371"/>
                    </a:ext>
                  </a:extLst>
                </a:gridCol>
                <a:gridCol w="1479319">
                  <a:extLst>
                    <a:ext uri="{9D8B030D-6E8A-4147-A177-3AD203B41FA5}">
                      <a16:colId xmlns:a16="http://schemas.microsoft.com/office/drawing/2014/main" val="4207636562"/>
                    </a:ext>
                  </a:extLst>
                </a:gridCol>
                <a:gridCol w="1479319">
                  <a:extLst>
                    <a:ext uri="{9D8B030D-6E8A-4147-A177-3AD203B41FA5}">
                      <a16:colId xmlns:a16="http://schemas.microsoft.com/office/drawing/2014/main" val="31622549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 before in 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 after in 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 after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17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 = A &lt;&lt;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8608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 = A &gt;&gt;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68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 = A &lt;&lt;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922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C = A &gt;&gt;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494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7982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B583D-5196-6522-FDD4-B9A530BD3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9E7BC11-26C4-5BDE-AF90-E895F71CF0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6E9D1D0-03F5-B945-CA69-0F96BAFCEC3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EB71D5-E34E-9137-1C4D-1C4C061AC6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E1262C5-6BF6-950E-8506-A1764B00A89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D47E9A9-36F4-A25D-B0AE-AB693C7801E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E1176AF-CD7D-D730-5678-0A4010F3296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2E40902-634B-D974-8182-8F939EFF5E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4FB5447-C953-A247-E9A3-6C258ECDFA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D2A95C8-3BB8-3492-A33B-F0E1DA9869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606D1EB-82E7-754E-8890-8FDC1D07661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7D3F03F5-87FC-9F5F-674B-77824E5C5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A quick task appears!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B7E9BDE-4AE6-2ABC-B454-87C706AE6D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58FEF03-5B32-A924-D0E0-4707EB25D12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471A90F-3850-BE30-7EB5-95801202D7B3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D711B9-F891-7D94-E550-EFA10E14A29B}"/>
              </a:ext>
            </a:extLst>
          </p:cNvPr>
          <p:cNvSpPr txBox="1"/>
          <p:nvPr/>
        </p:nvSpPr>
        <p:spPr>
          <a:xfrm>
            <a:off x="1775468" y="1848740"/>
            <a:ext cx="8995715" cy="267765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Now that we know how bitwise operators work</a:t>
            </a:r>
          </a:p>
          <a:p>
            <a:pPr algn="ctr"/>
            <a:r>
              <a:rPr lang="en-GB" sz="2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going to ask you to make 2 functions:</a:t>
            </a:r>
          </a:p>
          <a:p>
            <a:pPr algn="ctr"/>
            <a:endParaRPr lang="en-GB" sz="2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b="0" dirty="0" err="1">
                <a:solidFill>
                  <a:schemeClr val="tx1"/>
                </a:solidFill>
                <a:effectLst/>
                <a:latin typeface="Consolas" panose="020B0609020204030204" pitchFamily="49" charset="0"/>
                <a:cs typeface="Arial" panose="020B0604020202020204" pitchFamily="34" charset="0"/>
              </a:rPr>
              <a:t>SetBit</a:t>
            </a:r>
            <a:r>
              <a:rPr lang="en-GB" sz="2800" dirty="0">
                <a:solidFill>
                  <a:schemeClr val="tx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()</a:t>
            </a:r>
            <a:r>
              <a:rPr lang="en-GB" sz="2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It turns a specific bit true in an integer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 err="1">
                <a:solidFill>
                  <a:schemeClr val="tx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ClearBit</a:t>
            </a:r>
            <a:r>
              <a:rPr lang="en-GB" sz="2800" dirty="0">
                <a:solidFill>
                  <a:schemeClr val="tx1"/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()</a:t>
            </a:r>
            <a:r>
              <a:rPr lang="en-GB" sz="2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It turns a specific bit false in an integer</a:t>
            </a:r>
          </a:p>
          <a:p>
            <a:endParaRPr lang="en-GB" sz="2800" b="0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5054A-FFF5-ED19-521B-071DF999AFD4}"/>
              </a:ext>
            </a:extLst>
          </p:cNvPr>
          <p:cNvSpPr txBox="1"/>
          <p:nvPr/>
        </p:nvSpPr>
        <p:spPr>
          <a:xfrm>
            <a:off x="2504419" y="4504465"/>
            <a:ext cx="7183162" cy="1004506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functionName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integer_value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bit_position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//Write your code here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884070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9FD7D-F9EC-A52F-B52D-931178CD9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23FAE24A-299A-3E48-FF65-20E2D53AA9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FC00A64-2948-E44F-3C86-C2F9B4F24D1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724508-27CD-9A63-2D70-1E684CA18B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35EA099-0B93-E733-2CD7-BF6F2D3B573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F1020DB-82B3-7E09-021D-D1AB10F684C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5AFC188-E472-26E9-865C-B7E5E77B6988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A0CCD23-A781-B814-0299-8C6ED9DFD4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5EDE6A8-3E46-53BE-5FE1-EEC0201799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58E263-A730-9A3C-100E-27ED450412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5578CD9-7076-19D4-05A6-6180AC5A1B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A18A78F1-159D-42D9-AF4D-F6DB41A96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latin typeface="Consolas" panose="020B0609020204030204" pitchFamily="49" charset="0"/>
              </a:rPr>
              <a:t>SetBit</a:t>
            </a:r>
            <a:r>
              <a:rPr lang="en-US" b="1" dirty="0">
                <a:latin typeface="Consolas" panose="020B0609020204030204" pitchFamily="49" charset="0"/>
              </a:rPr>
              <a:t>()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C750052-FCE2-3A09-B5E5-8903A9DCE4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D69E485-2B31-B464-FF3F-662CDBA30F3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2526DA5-2880-B516-1FE9-E7CFDE4A3265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DF6C9B-DCE2-8875-75F7-E41AF1FD6655}"/>
              </a:ext>
            </a:extLst>
          </p:cNvPr>
          <p:cNvSpPr txBox="1"/>
          <p:nvPr/>
        </p:nvSpPr>
        <p:spPr>
          <a:xfrm>
            <a:off x="2494875" y="2603793"/>
            <a:ext cx="6708119" cy="2246769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SetBit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2230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73C2C-1E32-3E34-AAB4-DFB5DC265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2EE77AA6-D5A0-762E-A95F-B63F97D9C8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7C92A0F-4F18-702A-5382-FC98D6D8FB5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EAB285-C6F1-DDFA-589D-F0B3586544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433988E-AB1B-A326-1BD2-90D67AC6258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61D923B-70A9-74DF-9879-7B79AD36DABE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D72869E-C85D-DC2A-96F6-AAF48721D8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B46D22-BFD2-A3B2-F911-865E155952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135CE46-A9DF-E5B6-D1D8-1D2AFC1099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5A7420F-E8A6-32DC-9E45-3502882DD4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F875916-08F7-1865-4245-89B4EE04727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2424C324-225F-2F64-15F1-A3D8F582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552" y="365125"/>
            <a:ext cx="6116896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latin typeface="Consolas" panose="020B0609020204030204" pitchFamily="49" charset="0"/>
              </a:rPr>
              <a:t>ClearBit</a:t>
            </a:r>
            <a:r>
              <a:rPr lang="en-US" b="1" dirty="0">
                <a:latin typeface="Consolas" panose="020B0609020204030204" pitchFamily="49" charset="0"/>
              </a:rPr>
              <a:t>()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87BD342F-EB27-6B35-AC09-512F7DF550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FC22ADA-D0E0-4B9F-7E4A-74EF69A8484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8FC25-6491-436C-83E1-95DD4F7D9FB9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2F6EC-CDB5-267E-1717-A18D5EF8A875}"/>
              </a:ext>
            </a:extLst>
          </p:cNvPr>
          <p:cNvSpPr txBox="1"/>
          <p:nvPr/>
        </p:nvSpPr>
        <p:spPr>
          <a:xfrm>
            <a:off x="2566086" y="2665195"/>
            <a:ext cx="7059827" cy="2246769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ClearBit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answer</a:t>
            </a: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384889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16B06-8E4A-0C37-135E-B61EE6750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1F63FAF-72A1-066A-B4A5-063D6FE2EF97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58A8A9-B682-00A5-F9D5-E6831E0BC5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3D2813-EDEE-313D-E61B-2DAAA7486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EA17978-3F32-756D-3875-016FF63DA5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3DE9C9-A8A7-618F-0B7F-0632D488B02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3E029CD-92AD-3D88-D859-6179D84D1960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926F1C-BF3F-6C7E-59EF-08B3CA1EB36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6FCED86-97EA-D472-648E-5FEDB5EE4C1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C9CF004-5AA8-727A-B221-AC6EAE077C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1771F4F-8CC1-30A1-1565-6DA14EACBA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C68CF75-E408-2A17-6935-A1844D6528F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DE2E3F-BB62-121A-E4C0-1EA098B61627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1AE7A3F-11EC-F62F-37FB-69A39DE6F9F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AEAD66F4-C97A-8902-9A9F-05A9B7E7F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GitHub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</a:t>
            </a:r>
            <a:r>
              <a:rPr lang="en-US" sz="3100" dirty="0">
                <a:solidFill>
                  <a:schemeClr val="bg2"/>
                </a:solidFill>
              </a:rPr>
              <a:t>Version Control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Managing Your Projects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D2A06EF9-DD13-35E2-D4C7-E06D92DBA0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208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C3FF7-7BD5-2027-4811-230902B07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D0BBCFC-E67C-F1A7-B723-0F4681ABCE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D58FC80-3BBA-50F6-57E5-2A798AAC014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00F344-95A5-F1DE-3177-CD8DEFBECC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4DCE45-0FF9-C805-5EE6-59593357AE9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5AEA68-DAB5-D6E7-9DB3-0EFB0FFCA07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84929D-E7CA-1E4F-6EB3-09B75D32D06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4D57EBD-2496-40C7-D8A2-F2C87C7A83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F3E646-1DCB-567A-3BAF-285D8C6C6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CFCC02D-01C1-BB2F-B00F-43157DB8BD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E59987E-A6DA-5502-BE7F-56E04823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5833460-EDF6-9A50-E262-4F20803C0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What’s Version Control?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40E1942-E1E0-0316-526A-97A675FB1C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8FEFB0E-0F5F-7F1B-FFA4-04D6869659A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D45BBE-E91B-53F1-7CA7-D350CCE5E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r>
              <a:rPr lang="en-GB" dirty="0"/>
              <a:t>the task of keeping a software system consisting of many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versions</a:t>
            </a:r>
            <a:r>
              <a:rPr lang="en-GB" dirty="0"/>
              <a:t> and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configurations</a:t>
            </a:r>
            <a:r>
              <a:rPr lang="en-GB" dirty="0"/>
              <a:t> well organized</a:t>
            </a:r>
          </a:p>
          <a:p>
            <a:r>
              <a:rPr lang="en-GB" dirty="0"/>
              <a:t>Version control systems help developers keep a complete code history by tracking changes</a:t>
            </a:r>
          </a:p>
          <a:p>
            <a:r>
              <a:rPr lang="en-GB" dirty="0"/>
              <a:t>Examples: Git, Subversion, Mercurial</a:t>
            </a:r>
          </a:p>
        </p:txBody>
      </p:sp>
    </p:spTree>
    <p:extLst>
      <p:ext uri="{BB962C8B-B14F-4D97-AF65-F5344CB8AC3E}">
        <p14:creationId xmlns:p14="http://schemas.microsoft.com/office/powerpoint/2010/main" val="26426053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CE01-E808-E2DC-84C4-304214593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71DE66A-6BF1-466B-5058-6908EC3A04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A16CB4A-E578-502F-E12E-6E14358BE82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2EB152-2365-9D06-68A6-3FB6DF876E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B4C4A82-F0FC-6D14-6F88-B7A9E0F544C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DEAA3FF-C3B9-CE67-A104-FD8AA54D6504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A6F02-FE38-448B-819D-70027DC1D05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2B75E8A-503A-BBD5-E1BF-1DF8CCA7F6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429E79-5CAB-7B8F-2BE2-61F4D29E6F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F5FB069-0F25-AE3F-B088-3708D47243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D082E7-916B-7EA6-AB4A-B9CBDA3D380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B32DA0ED-A9CE-D1C8-52A0-1B517A9C3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Git Vs GitHub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B74A671-61AE-0E7B-1A98-4A36FD39CB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ED5A297-9716-F12D-9CD5-3815B0071AA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4E214E8-A9F6-C2DD-BC51-5829770B0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r>
              <a:rPr lang="en-GB" dirty="0"/>
              <a:t>the task of keeping a software system consisting of many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versions</a:t>
            </a:r>
            <a:r>
              <a:rPr lang="en-GB" dirty="0"/>
              <a:t> and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configurations</a:t>
            </a:r>
            <a:r>
              <a:rPr lang="en-GB" dirty="0"/>
              <a:t> well organized</a:t>
            </a:r>
          </a:p>
          <a:p>
            <a:r>
              <a:rPr lang="en-GB" dirty="0"/>
              <a:t>Version control systems help developers keep a complete code history by tracking changes</a:t>
            </a:r>
          </a:p>
          <a:p>
            <a:r>
              <a:rPr lang="en-GB" dirty="0"/>
              <a:t>Examples: Git, Subversion, Mercurial</a:t>
            </a:r>
          </a:p>
        </p:txBody>
      </p:sp>
    </p:spTree>
    <p:extLst>
      <p:ext uri="{BB962C8B-B14F-4D97-AF65-F5344CB8AC3E}">
        <p14:creationId xmlns:p14="http://schemas.microsoft.com/office/powerpoint/2010/main" val="24579220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AAC3-987F-8F7F-541C-1168AB6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1869EFF-4303-2461-98AA-EF9774F523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D727D4D-046F-2786-6D97-A3DCCE2AEB1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6878B1-FF87-3DF2-02D1-F493A874D9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CFF757F-A975-AFC8-25BC-CE407348DD7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F475F4E-F074-7FEC-8F2A-9862B722C73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3714E20-58FE-844C-BBCB-090E7709E3A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F5AC46E-D782-2DAB-018F-BA9DB98849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6784685-CC16-935C-414D-7839AD4BA0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88B9686-8322-C08D-70E2-9DBA14C1B1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714BB35-FE72-5FB2-285C-4C2F12146B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48D3DE9B-6E26-C0AB-0322-3BD0ABC59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Repository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287A6AB-2945-8DE4-8683-E7CBEEED8FD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B7A692A-2B37-7645-4CE6-0711D661605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E4F9F8-776F-3F0C-A165-BFB8B593C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r>
              <a:rPr lang="en-GB" dirty="0"/>
              <a:t>the fundamental storage location for all the files, code, and the entire revision history for a single project</a:t>
            </a:r>
          </a:p>
          <a:p>
            <a:r>
              <a:rPr lang="en-GB" dirty="0"/>
              <a:t>It functions as a centralized digital "project folder" where individuals or teams can store, manage, and collaborate on work.</a:t>
            </a:r>
          </a:p>
        </p:txBody>
      </p:sp>
    </p:spTree>
    <p:extLst>
      <p:ext uri="{BB962C8B-B14F-4D97-AF65-F5344CB8AC3E}">
        <p14:creationId xmlns:p14="http://schemas.microsoft.com/office/powerpoint/2010/main" val="40812272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A36B6-91AD-2FB4-2E46-C194B241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AE1413A-2A3C-84DC-E6D7-7C9167C596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1B3B131-C2A3-73AF-EED9-30ED0283384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1F01A5-ADA0-5387-40EB-2C4A00C1CC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2AE606-5D13-0B42-176B-3E9E16B5247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63AE7C-681B-0C53-837E-5C68F8A452B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BFAB78A-8B01-6E7C-0BF8-8C9590E685FC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F5C1226-A28C-21DA-1D73-F8414946D9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E38320F-F865-61F2-ADBB-DF3D7BF352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53EB201-0B28-ADE7-3838-63334F2C41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FA388A1-BAC5-4B65-B081-2413746671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4C406619-059D-16ED-9C58-8592361FF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Repository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482672A9-0E05-1B53-E1C1-F1C987B805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2A87D15-7359-1DBA-EB00-0EDD0F61505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E44B23-C9C8-DB28-DCEA-8539A56E8A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5675" y="1638286"/>
            <a:ext cx="8760650" cy="438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8253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30F81-DAE2-DB58-85FB-350351636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10750C8-5DC1-DA93-A7A9-251D86F5CD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6DE75F50-B5AE-6000-1E02-550A70B94C8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175A82-5F0D-A0FE-6ABD-D2482D3F0C3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11551E7-8F1D-3B52-4C00-65EE80A37D0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1E7EA2-1467-99EB-9AEE-398236C01150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8BE03EB-E752-7F74-5FB6-0C024197433C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7EC0360-A7F3-48ED-173C-C0628DCD1F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676A3D-C887-15CB-AD7B-9FB3AB57B0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928A3A2-8EF7-403F-0D6C-2B81B8716E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15AD64E-B35E-0848-86C9-9F0171E0014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51CC4E01-75CE-4086-F2AC-9813622BD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87" y="1008742"/>
            <a:ext cx="7808340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Important commands for a project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0CE35EB-906A-B8E4-85D8-003D852D26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2D811CB-50EB-C6E3-9922-AD4E45362FC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DF69B63-8893-65B6-7B77-D521365B6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These are commands you are going to use frequently:</a:t>
            </a: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git </a:t>
            </a:r>
            <a:r>
              <a:rPr lang="en-GB" dirty="0" err="1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init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GB" dirty="0"/>
              <a:t>Navigate to the project folder and tell Git to start watching it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git add </a:t>
            </a:r>
            <a:r>
              <a:rPr lang="en-GB" dirty="0" err="1">
                <a:solidFill>
                  <a:schemeClr val="bg1"/>
                </a:solidFill>
                <a:highlight>
                  <a:srgbClr val="0000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file.c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GB" dirty="0"/>
              <a:t>Tell Git which files to include in the next "save."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git commit –m “A few new lines”</a:t>
            </a:r>
            <a:r>
              <a:rPr lang="en-GB" dirty="0"/>
              <a:t>: Create a permanent save point with a descriptive message.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51280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21692-A6E7-A6CF-8102-9E69EF08B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E6A11D7-718A-3DC4-077B-93A35417A57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A2E0BCF-4F37-3731-777E-7A31EE3B96C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F53CCF4-7ABD-D0CF-E294-823CA2DC45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AC92F88-DE7F-6550-B1D3-CE1922C46BC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26B3CE4-B2C3-C2C8-5CF3-17F2FB71732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ED7CB2A-69BB-28FC-0769-52AA2597CE8C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9F0C63D-8B7A-75B5-F473-6BD20F129F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D16C8CC-919D-5E22-977E-35EDAF8C57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543F1E6-1C8F-F9F2-BBCA-53736CF510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0E59C81-4062-F9B7-F64E-40824BAAF59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DA8DC9D3-FA23-9509-B60A-66F271E56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GB" b="1" dirty="0"/>
              <a:t>Assignment for home!</a:t>
            </a:r>
            <a:endParaRPr lang="en-US" b="1" dirty="0"/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1E6C2C4-E5F9-D446-A5ED-9B82243F16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38F0B61-8025-8D3A-85F4-BEB65AA0B1C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A3DE3D1-7B74-CA95-3726-F8D0BFD11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r>
              <a:rPr lang="en-GB" dirty="0"/>
              <a:t>Create a task2.c file, and write the function for </a:t>
            </a:r>
            <a:r>
              <a:rPr lang="en-GB" dirty="0" err="1">
                <a:latin typeface="Consolas" panose="020B0609020204030204" pitchFamily="49" charset="0"/>
              </a:rPr>
              <a:t>ToggleBit</a:t>
            </a:r>
            <a:r>
              <a:rPr lang="en-GB" dirty="0">
                <a:latin typeface="Consolas" panose="020B0609020204030204" pitchFamily="49" charset="0"/>
              </a:rPr>
              <a:t>()</a:t>
            </a:r>
          </a:p>
          <a:p>
            <a:r>
              <a:rPr lang="en-GB" dirty="0"/>
              <a:t>Make a GitHub account: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Make a repository called “IEEE Embedded System Tasks”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Upload your task2.c to said repository </a:t>
            </a:r>
          </a:p>
        </p:txBody>
      </p:sp>
    </p:spTree>
    <p:extLst>
      <p:ext uri="{BB962C8B-B14F-4D97-AF65-F5344CB8AC3E}">
        <p14:creationId xmlns:p14="http://schemas.microsoft.com/office/powerpoint/2010/main" val="20261349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/>
        </p:nvSpPr>
        <p:spPr>
          <a:xfrm>
            <a:off x="3697130" y="1505752"/>
            <a:ext cx="464022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20" name="Title 14">
            <a:extLst>
              <a:ext uri="{FF2B5EF4-FFF2-40B4-BE49-F238E27FC236}">
                <a16:creationId xmlns:a16="http://schemas.microsoft.com/office/drawing/2014/main" id="{5B74792E-961E-0D4F-4546-DC2409F89C56}"/>
              </a:ext>
            </a:extLst>
          </p:cNvPr>
          <p:cNvSpPr txBox="1">
            <a:spLocks/>
          </p:cNvSpPr>
          <p:nvPr/>
        </p:nvSpPr>
        <p:spPr>
          <a:xfrm>
            <a:off x="3405904" y="3046969"/>
            <a:ext cx="52226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056038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wrap="square" rtlCol="0">
        <a:spAutoFit/>
      </a:bodyPr>
      <a:lstStyle>
        <a:defPPr algn="l">
          <a:lnSpc>
            <a:spcPts val="1425"/>
          </a:lnSpc>
          <a:buNone/>
          <a:defRPr b="0" dirty="0" smtClean="0">
            <a:solidFill>
              <a:srgbClr val="C586C0"/>
            </a:solidFill>
            <a:effectLst/>
            <a:latin typeface="Consolas" panose="020B0609020204030204" pitchFamily="49" charset="0"/>
          </a:defRPr>
        </a:defPPr>
      </a:lstStyle>
      <a:style>
        <a:lnRef idx="2">
          <a:schemeClr val="dk1">
            <a:shade val="15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3075</TotalTime>
  <Words>2393</Words>
  <Application>Microsoft Office PowerPoint</Application>
  <PresentationFormat>Widescreen</PresentationFormat>
  <Paragraphs>555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Aptos</vt:lpstr>
      <vt:lpstr>Aptos Display</vt:lpstr>
      <vt:lpstr>Archivo Black</vt:lpstr>
      <vt:lpstr>Arial</vt:lpstr>
      <vt:lpstr>Consolas</vt:lpstr>
      <vt:lpstr>Helvetica World</vt:lpstr>
      <vt:lpstr>Helvetica World Bold</vt:lpstr>
      <vt:lpstr>Office Theme</vt:lpstr>
      <vt:lpstr>PowerPoint Presentation</vt:lpstr>
      <vt:lpstr>PowerPoint Presentation</vt:lpstr>
      <vt:lpstr>PowerPoint Presentation</vt:lpstr>
      <vt:lpstr>Content</vt:lpstr>
      <vt:lpstr>C How to Program Quick History  Mother of all Programming Languages</vt:lpstr>
      <vt:lpstr>What’s Programming?</vt:lpstr>
      <vt:lpstr>PowerPoint Presentation</vt:lpstr>
      <vt:lpstr>So why C?</vt:lpstr>
      <vt:lpstr>printf(“Hello World”);  Basic Programming Every Programmer’s First Program</vt:lpstr>
      <vt:lpstr>Printing “Hello World”</vt:lpstr>
      <vt:lpstr>Data Types  Declaration &amp; Initialization How to story your values?</vt:lpstr>
      <vt:lpstr>What are Data Types &amp; Variables</vt:lpstr>
      <vt:lpstr>Data Types</vt:lpstr>
      <vt:lpstr>Extended Types</vt:lpstr>
      <vt:lpstr>The Cure &lt;stdint.h&gt;</vt:lpstr>
      <vt:lpstr>Declaration &amp; Initialization </vt:lpstr>
      <vt:lpstr>What about string?</vt:lpstr>
      <vt:lpstr>Memory Memory Layout Looking deep into memory rooms!</vt:lpstr>
      <vt:lpstr>Memory</vt:lpstr>
      <vt:lpstr>Memory</vt:lpstr>
      <vt:lpstr>Operators Arithmetic, Comparison, And Logical Let’s turn a computer to a calculator </vt:lpstr>
      <vt:lpstr>Operators: Arithmetic </vt:lpstr>
      <vt:lpstr>Operators: Comparison</vt:lpstr>
      <vt:lpstr>Operators: Logical </vt:lpstr>
      <vt:lpstr>Operators: Assignment </vt:lpstr>
      <vt:lpstr>Operators in practice</vt:lpstr>
      <vt:lpstr>Conditionals Control Flow If you do then good, else then bad</vt:lpstr>
      <vt:lpstr>If Statement</vt:lpstr>
      <vt:lpstr>What if we demonstrate?</vt:lpstr>
      <vt:lpstr>Nested If</vt:lpstr>
      <vt:lpstr>How does Switch work?</vt:lpstr>
      <vt:lpstr>Loops  Loops Loops</vt:lpstr>
      <vt:lpstr>What is a loop?</vt:lpstr>
      <vt:lpstr>While</vt:lpstr>
      <vt:lpstr>Do While</vt:lpstr>
      <vt:lpstr>For</vt:lpstr>
      <vt:lpstr>Bitwise Operations Bit Manipulation Getting to know about bits more</vt:lpstr>
      <vt:lpstr>What’s special about bitwise operators?</vt:lpstr>
      <vt:lpstr>Logic Gates: NOT</vt:lpstr>
      <vt:lpstr>Logic Gates: AND &amp; OR</vt:lpstr>
      <vt:lpstr>Logic Gates: XOR</vt:lpstr>
      <vt:lpstr>Bitwise Operators in C</vt:lpstr>
      <vt:lpstr>Shift Right and Left</vt:lpstr>
      <vt:lpstr>A quick task appears!</vt:lpstr>
      <vt:lpstr>SetBit()</vt:lpstr>
      <vt:lpstr>ClearBit()</vt:lpstr>
      <vt:lpstr>GitHub  Version Control Managing Your Projects</vt:lpstr>
      <vt:lpstr>What’s Version Control?</vt:lpstr>
      <vt:lpstr>Git Vs GitHub</vt:lpstr>
      <vt:lpstr>Repository</vt:lpstr>
      <vt:lpstr>Repository</vt:lpstr>
      <vt:lpstr>Important commands for a project</vt:lpstr>
      <vt:lpstr>Assignment for home!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Aya Ezzat</dc:creator>
  <cp:lastModifiedBy>Abdelwadoud Ahmad</cp:lastModifiedBy>
  <cp:revision>423</cp:revision>
  <dcterms:created xsi:type="dcterms:W3CDTF">2025-01-30T15:09:40Z</dcterms:created>
  <dcterms:modified xsi:type="dcterms:W3CDTF">2026-03-04T14:33:19Z</dcterms:modified>
</cp:coreProperties>
</file>