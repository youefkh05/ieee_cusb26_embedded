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49" r:id="rId2"/>
    <p:sldId id="350" r:id="rId3"/>
    <p:sldId id="269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27" r:id="rId13"/>
    <p:sldId id="329" r:id="rId14"/>
    <p:sldId id="328" r:id="rId15"/>
    <p:sldId id="305" r:id="rId16"/>
    <p:sldId id="330" r:id="rId17"/>
    <p:sldId id="306" r:id="rId18"/>
    <p:sldId id="307" r:id="rId19"/>
    <p:sldId id="308" r:id="rId20"/>
    <p:sldId id="310" r:id="rId21"/>
    <p:sldId id="331" r:id="rId22"/>
    <p:sldId id="309" r:id="rId23"/>
    <p:sldId id="311" r:id="rId24"/>
    <p:sldId id="312" r:id="rId25"/>
    <p:sldId id="332" r:id="rId26"/>
    <p:sldId id="333" r:id="rId27"/>
    <p:sldId id="334" r:id="rId28"/>
    <p:sldId id="335" r:id="rId29"/>
    <p:sldId id="336" r:id="rId30"/>
    <p:sldId id="313" r:id="rId31"/>
    <p:sldId id="314" r:id="rId32"/>
    <p:sldId id="338" r:id="rId33"/>
    <p:sldId id="315" r:id="rId34"/>
    <p:sldId id="337" r:id="rId35"/>
    <p:sldId id="317" r:id="rId36"/>
    <p:sldId id="339" r:id="rId37"/>
    <p:sldId id="340" r:id="rId38"/>
    <p:sldId id="341" r:id="rId39"/>
    <p:sldId id="318" r:id="rId40"/>
    <p:sldId id="342" r:id="rId41"/>
    <p:sldId id="343" r:id="rId42"/>
    <p:sldId id="344" r:id="rId43"/>
    <p:sldId id="345" r:id="rId44"/>
    <p:sldId id="346" r:id="rId45"/>
    <p:sldId id="347" r:id="rId46"/>
    <p:sldId id="348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02A14-2C39-4CE3-95E8-0C66B79DF30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1A966-4279-4C59-8BB6-DF93A9D5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2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2C0E6-85B1-4A0C-8126-5FFA8399F4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56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DEAD-B665-DDC2-5251-D160F8DB1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55CAE-F906-F6AD-C3E5-38750851A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F4FF7-7663-4722-3595-0B7C5368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2951B-C494-0686-8979-275175F6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040A1-1B08-848A-9C6E-2822CD1A1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81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D0222-33B0-8277-1725-1AE77460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94F66-4E82-16E6-8DF1-2DEFC86F1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124C-B579-5BE4-B5F0-6A666AD4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012A9-5EEE-564F-9F12-869EBB51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D7BC0-06E2-DBDF-8D67-F9655E7D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64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1F36-34E4-F9C5-51D4-08928A3F0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83FEA-FE69-A7CB-F145-7B2DB5E52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AD569-4E04-1D84-F8A5-E0A12F44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B9509-4EE6-56F9-691E-9D7DEED6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0294F-03E5-2FC4-A7A2-14ED4C3B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19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5003-6B62-91DA-9A6E-8ADCF0641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A873D-1C87-230B-F213-B8539B855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34825-2C84-4AB5-7136-164DAFB27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FF6C7-152D-CEEE-44EC-4F65486B9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BFD28-11F4-FE7A-F7C2-40E16B8B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BB003-9E3B-78F5-A33B-38E4A36A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13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7CB6-314E-FA7B-6F3A-EB9BBE7A8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D6317-AA84-01F8-9906-239F50D1D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92AD7-98B1-CA78-8D79-780ADCDB4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7BBEC-7B7F-6A7C-B619-BD08D7E3A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D45D97-6848-19E1-38DC-22E578DF68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29AEE-5DB1-749B-5738-54A726E4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F2B05-271C-E2CC-2CB8-F60F92D6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D2DCC4-3C6B-4AC3-B343-2DC8B230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6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E14F3-4DE1-4BB9-D36F-33F07A882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3A938-2296-9401-8373-9842CB2FE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5C05F1-41E5-6713-09D5-7AE60E8F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756A8-E8F1-64B2-B9FA-3E2CB113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9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1D672-0DC3-E810-85F0-FC92DF318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7CD27-CBD2-D1A7-DBD3-E4596AA8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FA52C-8144-87DE-FFD0-C29873A59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0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920E-6559-7860-349A-41F2E51D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93EFB-682F-1624-05EE-E8D03FC3F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8F15A-1056-0645-C0D0-4EAF0AFE6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B4879-9847-B4E1-C328-AE2F1ACE5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9C1D0-3F55-D792-21FA-DDE47B6F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9E9C9-A996-ECF6-E94A-0DE88911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3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1A37-1C1D-D330-183D-8899E286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D6C29-8B24-43FB-D68A-3D91A2D9EB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2E6BD-07A4-99A5-E755-77FE03791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50253-3174-D1ED-C3BF-69E6477A4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BDA18-CE6D-CE87-945A-21A049F0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68000-4397-6BA2-6E32-BFDE91D6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38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A4B1-E451-C6B3-6DC3-6FD39EDA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332C4-C2AF-B30B-09B3-D4C64463D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911CF-EE33-AA93-ADEA-8107071B3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E20A4-6BEE-32AA-AF54-C229A2156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6470F-0223-8613-DCFB-5A5FEA95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02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D4BB4-57C9-EABE-1EBC-D1326E30CC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08C860-3375-45D5-77A1-C29B10E4F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4BABF-11FE-FB3E-1421-1CA3D9FC6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3B703-1E9C-6041-86CA-3B5BD4F35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155B4-7E3D-2425-0421-FEAAC58A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31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960000" y="593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03" name="Google Shape;763;p19"/>
          <p:cNvGrpSpPr/>
          <p:nvPr/>
        </p:nvGrpSpPr>
        <p:grpSpPr>
          <a:xfrm>
            <a:off x="-128160" y="6517920"/>
            <a:ext cx="2120160" cy="117120"/>
            <a:chOff x="-96120" y="4888440"/>
            <a:chExt cx="1590120" cy="87840"/>
          </a:xfrm>
        </p:grpSpPr>
        <p:sp>
          <p:nvSpPr>
            <p:cNvPr id="404" name="Google Shape;764;p19"/>
            <p:cNvSpPr/>
            <p:nvPr/>
          </p:nvSpPr>
          <p:spPr>
            <a:xfrm rot="5400000">
              <a:off x="692640" y="40993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765;p19"/>
            <p:cNvSpPr/>
            <p:nvPr/>
          </p:nvSpPr>
          <p:spPr>
            <a:xfrm rot="5400000">
              <a:off x="692640" y="41749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6" name="Google Shape;766;p19"/>
          <p:cNvGrpSpPr/>
          <p:nvPr/>
        </p:nvGrpSpPr>
        <p:grpSpPr>
          <a:xfrm>
            <a:off x="9178080" y="1847520"/>
            <a:ext cx="5370720" cy="7044480"/>
            <a:chOff x="6883560" y="1385640"/>
            <a:chExt cx="4028040" cy="5283360"/>
          </a:xfrm>
        </p:grpSpPr>
        <p:sp>
          <p:nvSpPr>
            <p:cNvPr id="407" name="Google Shape;767;p19"/>
            <p:cNvSpPr/>
            <p:nvPr/>
          </p:nvSpPr>
          <p:spPr>
            <a:xfrm>
              <a:off x="6883560" y="140760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768;p19"/>
            <p:cNvSpPr/>
            <p:nvPr/>
          </p:nvSpPr>
          <p:spPr>
            <a:xfrm>
              <a:off x="7842240" y="138564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769;p19"/>
            <p:cNvSpPr/>
            <p:nvPr/>
          </p:nvSpPr>
          <p:spPr>
            <a:xfrm>
              <a:off x="7734240" y="2571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770;p19"/>
            <p:cNvSpPr/>
            <p:nvPr/>
          </p:nvSpPr>
          <p:spPr>
            <a:xfrm>
              <a:off x="7758720" y="155016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1" name="Google Shape;771;p19"/>
          <p:cNvGrpSpPr/>
          <p:nvPr/>
        </p:nvGrpSpPr>
        <p:grpSpPr>
          <a:xfrm>
            <a:off x="6130560" y="-2265600"/>
            <a:ext cx="7439520" cy="4270560"/>
            <a:chOff x="4597920" y="-1699200"/>
            <a:chExt cx="5579640" cy="3202920"/>
          </a:xfrm>
        </p:grpSpPr>
        <p:grpSp>
          <p:nvGrpSpPr>
            <p:cNvPr id="412" name="Google Shape;772;p19"/>
            <p:cNvGrpSpPr/>
            <p:nvPr/>
          </p:nvGrpSpPr>
          <p:grpSpPr>
            <a:xfrm>
              <a:off x="4696200" y="-306720"/>
              <a:ext cx="916200" cy="699840"/>
              <a:chOff x="4696200" y="-306720"/>
              <a:chExt cx="916200" cy="699840"/>
            </a:xfrm>
          </p:grpSpPr>
          <p:sp>
            <p:nvSpPr>
              <p:cNvPr id="413" name="Google Shape;773;p19"/>
              <p:cNvSpPr/>
              <p:nvPr/>
            </p:nvSpPr>
            <p:spPr>
              <a:xfrm>
                <a:off x="4899600" y="-2556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774;p19"/>
              <p:cNvSpPr/>
              <p:nvPr/>
            </p:nvSpPr>
            <p:spPr>
              <a:xfrm>
                <a:off x="4696200" y="-2671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775;p19"/>
              <p:cNvSpPr/>
              <p:nvPr/>
            </p:nvSpPr>
            <p:spPr>
              <a:xfrm>
                <a:off x="5128920" y="-3067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416" name="Google Shape;776;p1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5980680" y="-1699200"/>
              <a:ext cx="4196880" cy="3202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17" name="Google Shape;777;p19"/>
            <p:cNvSpPr/>
            <p:nvPr/>
          </p:nvSpPr>
          <p:spPr>
            <a:xfrm rot="16200000">
              <a:off x="5359320" y="-12110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778;p19"/>
            <p:cNvSpPr/>
            <p:nvPr/>
          </p:nvSpPr>
          <p:spPr>
            <a:xfrm rot="16200000">
              <a:off x="5358600" y="-10515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19" name="Google Shape;779;p19"/>
            <p:cNvGrpSpPr/>
            <p:nvPr/>
          </p:nvGrpSpPr>
          <p:grpSpPr>
            <a:xfrm>
              <a:off x="8399520" y="57960"/>
              <a:ext cx="1493280" cy="87840"/>
              <a:chOff x="8399520" y="57960"/>
              <a:chExt cx="1493280" cy="87840"/>
            </a:xfrm>
          </p:grpSpPr>
          <p:sp>
            <p:nvSpPr>
              <p:cNvPr id="420" name="Google Shape;780;p19"/>
              <p:cNvSpPr/>
              <p:nvPr/>
            </p:nvSpPr>
            <p:spPr>
              <a:xfrm rot="16200000">
                <a:off x="9140040" y="-6066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1" name="Google Shape;781;p19"/>
              <p:cNvSpPr/>
              <p:nvPr/>
            </p:nvSpPr>
            <p:spPr>
              <a:xfrm rot="16200000">
                <a:off x="9140040" y="-6822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2" name="Google Shape;782;p19"/>
            <p:cNvGrpSpPr/>
            <p:nvPr/>
          </p:nvGrpSpPr>
          <p:grpSpPr>
            <a:xfrm>
              <a:off x="4695480" y="-185040"/>
              <a:ext cx="254520" cy="254880"/>
              <a:chOff x="4695480" y="-185040"/>
              <a:chExt cx="254520" cy="254880"/>
            </a:xfrm>
          </p:grpSpPr>
          <p:sp>
            <p:nvSpPr>
              <p:cNvPr id="423" name="Google Shape;783;p19"/>
              <p:cNvSpPr/>
              <p:nvPr/>
            </p:nvSpPr>
            <p:spPr>
              <a:xfrm>
                <a:off x="4695480" y="-18504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784;p19"/>
              <p:cNvSpPr/>
              <p:nvPr/>
            </p:nvSpPr>
            <p:spPr>
              <a:xfrm>
                <a:off x="4722840" y="-1576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785;p19"/>
              <p:cNvSpPr/>
              <p:nvPr/>
            </p:nvSpPr>
            <p:spPr>
              <a:xfrm>
                <a:off x="4750560" y="-129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786;p19"/>
              <p:cNvSpPr/>
              <p:nvPr/>
            </p:nvSpPr>
            <p:spPr>
              <a:xfrm>
                <a:off x="4777920" y="-102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787;p19"/>
              <p:cNvSpPr/>
              <p:nvPr/>
            </p:nvSpPr>
            <p:spPr>
              <a:xfrm>
                <a:off x="4805280" y="-74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788;p19"/>
              <p:cNvSpPr/>
              <p:nvPr/>
            </p:nvSpPr>
            <p:spPr>
              <a:xfrm>
                <a:off x="4833000" y="-47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9" name="Google Shape;789;p19"/>
              <p:cNvSpPr/>
              <p:nvPr/>
            </p:nvSpPr>
            <p:spPr>
              <a:xfrm>
                <a:off x="4860360" y="-19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0" name="Google Shape;790;p19"/>
            <p:cNvGrpSpPr/>
            <p:nvPr/>
          </p:nvGrpSpPr>
          <p:grpSpPr>
            <a:xfrm>
              <a:off x="4597920" y="-25560"/>
              <a:ext cx="254880" cy="254520"/>
              <a:chOff x="4597920" y="-25560"/>
              <a:chExt cx="254880" cy="254520"/>
            </a:xfrm>
          </p:grpSpPr>
          <p:sp>
            <p:nvSpPr>
              <p:cNvPr id="431" name="Google Shape;791;p19"/>
              <p:cNvSpPr/>
              <p:nvPr/>
            </p:nvSpPr>
            <p:spPr>
              <a:xfrm>
                <a:off x="4597920" y="-255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2" name="Google Shape;792;p19"/>
              <p:cNvSpPr/>
              <p:nvPr/>
            </p:nvSpPr>
            <p:spPr>
              <a:xfrm>
                <a:off x="4625280" y="1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3" name="Google Shape;793;p19"/>
              <p:cNvSpPr/>
              <p:nvPr/>
            </p:nvSpPr>
            <p:spPr>
              <a:xfrm>
                <a:off x="4653000" y="29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4" name="Google Shape;794;p19"/>
              <p:cNvSpPr/>
              <p:nvPr/>
            </p:nvSpPr>
            <p:spPr>
              <a:xfrm>
                <a:off x="4680360" y="56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5" name="Google Shape;795;p19"/>
              <p:cNvSpPr/>
              <p:nvPr/>
            </p:nvSpPr>
            <p:spPr>
              <a:xfrm>
                <a:off x="4708080" y="84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6" name="Google Shape;796;p19"/>
              <p:cNvSpPr/>
              <p:nvPr/>
            </p:nvSpPr>
            <p:spPr>
              <a:xfrm>
                <a:off x="4735800" y="111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7" name="Google Shape;797;p19"/>
              <p:cNvSpPr/>
              <p:nvPr/>
            </p:nvSpPr>
            <p:spPr>
              <a:xfrm>
                <a:off x="4763160" y="13932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575986" indent="-431989">
              <a:spcBef>
                <a:spcPts val="188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1151971" lvl="1" indent="-431989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727957" lvl="2" indent="-383990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2303942" lvl="3" indent="-287993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879928" lvl="4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3455914" lvl="5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4031899" lvl="6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82085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title"/>
          </p:nvPr>
        </p:nvSpPr>
        <p:spPr>
          <a:xfrm>
            <a:off x="960000" y="593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960000" y="1519200"/>
            <a:ext cx="10271520" cy="548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575986" indent="-431989">
              <a:spcBef>
                <a:spcPts val="188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1151971" lvl="1" indent="-431989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727957" lvl="2" indent="-383990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2303942" lvl="3" indent="-287993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879928" lvl="4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3455914" lvl="5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4031899" lvl="6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033" name="Google Shape;143;p4"/>
          <p:cNvGrpSpPr/>
          <p:nvPr/>
        </p:nvGrpSpPr>
        <p:grpSpPr>
          <a:xfrm>
            <a:off x="9820320" y="-1530240"/>
            <a:ext cx="4977120" cy="8715360"/>
            <a:chOff x="7365240" y="-1147680"/>
            <a:chExt cx="3732840" cy="6536520"/>
          </a:xfrm>
        </p:grpSpPr>
        <p:pic>
          <p:nvPicPr>
            <p:cNvPr id="1034" name="Google Shape;144;p4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365240" y="-1147680"/>
              <a:ext cx="3732840" cy="28486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35" name="Google Shape;145;p4"/>
            <p:cNvGrpSpPr/>
            <p:nvPr/>
          </p:nvGrpSpPr>
          <p:grpSpPr>
            <a:xfrm>
              <a:off x="7544880" y="540000"/>
              <a:ext cx="1518120" cy="3030120"/>
              <a:chOff x="7544880" y="540000"/>
              <a:chExt cx="1518120" cy="3030120"/>
            </a:xfrm>
          </p:grpSpPr>
          <p:sp>
            <p:nvSpPr>
              <p:cNvPr id="1036" name="Google Shape;146;p4"/>
              <p:cNvSpPr/>
              <p:nvPr/>
            </p:nvSpPr>
            <p:spPr>
              <a:xfrm rot="10800000">
                <a:off x="7642440" y="73728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7" name="Google Shape;147;p4"/>
              <p:cNvSpPr/>
              <p:nvPr/>
            </p:nvSpPr>
            <p:spPr>
              <a:xfrm rot="10800000">
                <a:off x="7544880" y="54000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038" name="Google Shape;148;p4"/>
            <p:cNvSpPr/>
            <p:nvPr/>
          </p:nvSpPr>
          <p:spPr>
            <a:xfrm rot="5400000">
              <a:off x="8250840" y="-8769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39" name="Google Shape;149;p4"/>
            <p:cNvGrpSpPr/>
            <p:nvPr/>
          </p:nvGrpSpPr>
          <p:grpSpPr>
            <a:xfrm>
              <a:off x="7893360" y="270000"/>
              <a:ext cx="3152880" cy="5118840"/>
              <a:chOff x="7893360" y="270000"/>
              <a:chExt cx="3152880" cy="5118840"/>
            </a:xfrm>
          </p:grpSpPr>
          <p:sp>
            <p:nvSpPr>
              <p:cNvPr id="1040" name="Google Shape;150;p4"/>
              <p:cNvSpPr/>
              <p:nvPr/>
            </p:nvSpPr>
            <p:spPr>
              <a:xfrm>
                <a:off x="7893360" y="27000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41" name="Google Shape;151;p4"/>
              <p:cNvGrpSpPr/>
              <p:nvPr/>
            </p:nvGrpSpPr>
            <p:grpSpPr>
              <a:xfrm>
                <a:off x="8345160" y="4736520"/>
                <a:ext cx="133560" cy="133560"/>
                <a:chOff x="8345160" y="4736520"/>
                <a:chExt cx="133560" cy="133560"/>
              </a:xfrm>
            </p:grpSpPr>
            <p:sp>
              <p:nvSpPr>
                <p:cNvPr id="1042" name="Google Shape;152;p4"/>
                <p:cNvSpPr/>
                <p:nvPr/>
              </p:nvSpPr>
              <p:spPr>
                <a:xfrm>
                  <a:off x="8345160" y="47365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3" name="Google Shape;153;p4"/>
                <p:cNvSpPr/>
                <p:nvPr/>
              </p:nvSpPr>
              <p:spPr>
                <a:xfrm>
                  <a:off x="8364240" y="475524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44" name="Google Shape;154;p4"/>
              <p:cNvGrpSpPr/>
              <p:nvPr/>
            </p:nvGrpSpPr>
            <p:grpSpPr>
              <a:xfrm>
                <a:off x="8940600" y="3794760"/>
                <a:ext cx="133560" cy="133560"/>
                <a:chOff x="8940600" y="3794760"/>
                <a:chExt cx="133560" cy="133560"/>
              </a:xfrm>
            </p:grpSpPr>
            <p:sp>
              <p:nvSpPr>
                <p:cNvPr id="1045" name="Google Shape;155;p4"/>
                <p:cNvSpPr/>
                <p:nvPr/>
              </p:nvSpPr>
              <p:spPr>
                <a:xfrm>
                  <a:off x="8940600" y="379476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6" name="Google Shape;156;p4"/>
                <p:cNvSpPr/>
                <p:nvPr/>
              </p:nvSpPr>
              <p:spPr>
                <a:xfrm>
                  <a:off x="8959680" y="38134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47" name="Google Shape;157;p4"/>
              <p:cNvGrpSpPr/>
              <p:nvPr/>
            </p:nvGrpSpPr>
            <p:grpSpPr>
              <a:xfrm>
                <a:off x="8806680" y="2424600"/>
                <a:ext cx="133560" cy="133560"/>
                <a:chOff x="8806680" y="2424600"/>
                <a:chExt cx="133560" cy="133560"/>
              </a:xfrm>
            </p:grpSpPr>
            <p:sp>
              <p:nvSpPr>
                <p:cNvPr id="1048" name="Google Shape;158;p4"/>
                <p:cNvSpPr/>
                <p:nvPr/>
              </p:nvSpPr>
              <p:spPr>
                <a:xfrm>
                  <a:off x="8806680" y="2424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9" name="Google Shape;159;p4"/>
                <p:cNvSpPr/>
                <p:nvPr/>
              </p:nvSpPr>
              <p:spPr>
                <a:xfrm>
                  <a:off x="8825400" y="2443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050" name="Google Shape;160;p4"/>
          <p:cNvGrpSpPr/>
          <p:nvPr/>
        </p:nvGrpSpPr>
        <p:grpSpPr>
          <a:xfrm>
            <a:off x="-767520" y="5032320"/>
            <a:ext cx="2606400" cy="2762880"/>
            <a:chOff x="-575640" y="3774240"/>
            <a:chExt cx="1954800" cy="2072160"/>
          </a:xfrm>
        </p:grpSpPr>
        <p:sp>
          <p:nvSpPr>
            <p:cNvPr id="1051" name="Google Shape;161;p4"/>
            <p:cNvSpPr/>
            <p:nvPr/>
          </p:nvSpPr>
          <p:spPr>
            <a:xfrm rot="8271000">
              <a:off x="275400" y="361476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2" name="Google Shape;162;p4"/>
            <p:cNvSpPr/>
            <p:nvPr/>
          </p:nvSpPr>
          <p:spPr>
            <a:xfrm rot="8271000">
              <a:off x="131040" y="374544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53" name="Google Shape;163;p4"/>
          <p:cNvGrpSpPr/>
          <p:nvPr/>
        </p:nvGrpSpPr>
        <p:grpSpPr>
          <a:xfrm>
            <a:off x="-693120" y="-764160"/>
            <a:ext cx="2002080" cy="3742560"/>
            <a:chOff x="-519840" y="-573120"/>
            <a:chExt cx="1501560" cy="2806920"/>
          </a:xfrm>
        </p:grpSpPr>
        <p:grpSp>
          <p:nvGrpSpPr>
            <p:cNvPr id="1054" name="Google Shape;164;p4"/>
            <p:cNvGrpSpPr/>
            <p:nvPr/>
          </p:nvGrpSpPr>
          <p:grpSpPr>
            <a:xfrm>
              <a:off x="-343440" y="1508040"/>
              <a:ext cx="904320" cy="725760"/>
              <a:chOff x="-343440" y="1508040"/>
              <a:chExt cx="904320" cy="725760"/>
            </a:xfrm>
          </p:grpSpPr>
          <p:sp>
            <p:nvSpPr>
              <p:cNvPr id="1055" name="Google Shape;165;p4"/>
              <p:cNvSpPr/>
              <p:nvPr/>
            </p:nvSpPr>
            <p:spPr>
              <a:xfrm rot="10800000">
                <a:off x="-343440" y="15080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6" name="Google Shape;166;p4"/>
              <p:cNvSpPr/>
              <p:nvPr/>
            </p:nvSpPr>
            <p:spPr>
              <a:xfrm rot="10800000">
                <a:off x="-138960" y="18176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7" name="Google Shape;167;p4"/>
              <p:cNvSpPr/>
              <p:nvPr/>
            </p:nvSpPr>
            <p:spPr>
              <a:xfrm rot="10800000">
                <a:off x="80280" y="1674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058" name="Google Shape;168;p4"/>
            <p:cNvSpPr/>
            <p:nvPr/>
          </p:nvSpPr>
          <p:spPr>
            <a:xfrm>
              <a:off x="360" y="-57240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9" name="Google Shape;169;p4"/>
            <p:cNvSpPr/>
            <p:nvPr/>
          </p:nvSpPr>
          <p:spPr>
            <a:xfrm>
              <a:off x="-159120" y="-573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60" name="Google Shape;170;p4"/>
            <p:cNvGrpSpPr/>
            <p:nvPr/>
          </p:nvGrpSpPr>
          <p:grpSpPr>
            <a:xfrm>
              <a:off x="-519840" y="-466920"/>
              <a:ext cx="699480" cy="1650960"/>
              <a:chOff x="-519840" y="-466920"/>
              <a:chExt cx="699480" cy="1650960"/>
            </a:xfrm>
          </p:grpSpPr>
          <p:sp>
            <p:nvSpPr>
              <p:cNvPr id="1061" name="Google Shape;171;p4"/>
              <p:cNvSpPr/>
              <p:nvPr/>
            </p:nvSpPr>
            <p:spPr>
              <a:xfrm rot="10800000">
                <a:off x="-302760" y="17064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2" name="Google Shape;172;p4"/>
              <p:cNvSpPr/>
              <p:nvPr/>
            </p:nvSpPr>
            <p:spPr>
              <a:xfrm rot="10800000">
                <a:off x="-426960" y="-4669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3" name="Google Shape;173;p4"/>
              <p:cNvSpPr/>
              <p:nvPr/>
            </p:nvSpPr>
            <p:spPr>
              <a:xfrm rot="10800000">
                <a:off x="-519480" y="-3736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7134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34BEA4-A921-61C7-4476-771A169F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FB03D-E022-DDB5-255C-682523D3D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93CE3-284F-28BC-011F-41F906620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82FF0B-710D-4346-999A-B0E757397D0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2BC8F-B667-CDF9-E85D-D72A1527C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F0F29-BA76-FFB9-369D-4973F9D83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7ACDE-5FBF-41F1-B082-CA4818FC5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0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3.wd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13E6F-F469-76F2-F836-967CD5836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4" name="Google Shape;1533;p39">
            <a:extLst>
              <a:ext uri="{FF2B5EF4-FFF2-40B4-BE49-F238E27FC236}">
                <a16:creationId xmlns:a16="http://schemas.microsoft.com/office/drawing/2014/main" id="{A4BADC1E-8490-E73B-3AA9-62D6433768CC}"/>
              </a:ext>
            </a:extLst>
          </p:cNvPr>
          <p:cNvGrpSpPr/>
          <p:nvPr/>
        </p:nvGrpSpPr>
        <p:grpSpPr>
          <a:xfrm>
            <a:off x="-146196" y="5138212"/>
            <a:ext cx="6078240" cy="1520640"/>
            <a:chOff x="-123840" y="4132440"/>
            <a:chExt cx="4558680" cy="1140480"/>
          </a:xfrm>
        </p:grpSpPr>
        <p:grpSp>
          <p:nvGrpSpPr>
            <p:cNvPr id="1375" name="Google Shape;1534;p39">
              <a:extLst>
                <a:ext uri="{FF2B5EF4-FFF2-40B4-BE49-F238E27FC236}">
                  <a16:creationId xmlns:a16="http://schemas.microsoft.com/office/drawing/2014/main" id="{17289693-94A7-55CC-5F9F-0EB4B61D1D1C}"/>
                </a:ext>
              </a:extLst>
            </p:cNvPr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376" name="Google Shape;1535;p39">
                <a:extLst>
                  <a:ext uri="{FF2B5EF4-FFF2-40B4-BE49-F238E27FC236}">
                    <a16:creationId xmlns:a16="http://schemas.microsoft.com/office/drawing/2014/main" id="{7E8509F9-8F75-8D47-DF37-B98DBE4D2B75}"/>
                  </a:ext>
                </a:extLst>
              </p:cNvPr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77" name="Google Shape;1536;p39">
                <a:extLst>
                  <a:ext uri="{FF2B5EF4-FFF2-40B4-BE49-F238E27FC236}">
                    <a16:creationId xmlns:a16="http://schemas.microsoft.com/office/drawing/2014/main" id="{F463008C-07B0-7B36-846D-62E1B8AD953F}"/>
                  </a:ext>
                </a:extLst>
              </p:cNvPr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78" name="Google Shape;1537;p39">
              <a:extLst>
                <a:ext uri="{FF2B5EF4-FFF2-40B4-BE49-F238E27FC236}">
                  <a16:creationId xmlns:a16="http://schemas.microsoft.com/office/drawing/2014/main" id="{3A42D0B3-6182-62CF-58D0-22F2C51F9F28}"/>
                </a:ext>
              </a:extLst>
            </p:cNvPr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379" name="Google Shape;1538;p39">
                <a:extLst>
                  <a:ext uri="{FF2B5EF4-FFF2-40B4-BE49-F238E27FC236}">
                    <a16:creationId xmlns:a16="http://schemas.microsoft.com/office/drawing/2014/main" id="{520CAFC7-30CF-D950-16A8-5061D8EEC518}"/>
                  </a:ext>
                </a:extLst>
              </p:cNvPr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1380" name="Google Shape;1539;p39">
                <a:extLst>
                  <a:ext uri="{FF2B5EF4-FFF2-40B4-BE49-F238E27FC236}">
                    <a16:creationId xmlns:a16="http://schemas.microsoft.com/office/drawing/2014/main" id="{47A58C92-0E96-9BE6-164B-4BDAAC5B73EB}"/>
                  </a:ext>
                </a:extLst>
              </p:cNvPr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381" name="Google Shape;1540;p39">
                <a:extLst>
                  <a:ext uri="{FF2B5EF4-FFF2-40B4-BE49-F238E27FC236}">
                    <a16:creationId xmlns:a16="http://schemas.microsoft.com/office/drawing/2014/main" id="{900CDF89-8AAE-81FC-2183-46807392823F}"/>
                  </a:ext>
                </a:extLst>
              </p:cNvPr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4A7A9A-E54D-8650-E931-443EBAE07DCE}"/>
              </a:ext>
            </a:extLst>
          </p:cNvPr>
          <p:cNvGrpSpPr/>
          <p:nvPr/>
        </p:nvGrpSpPr>
        <p:grpSpPr>
          <a:xfrm>
            <a:off x="9797787" y="3257798"/>
            <a:ext cx="2201092" cy="3406399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688E3F0-AE30-E0C0-8F38-561915485D9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435373B-3FAF-4080-F181-94AA8C65A7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F988F85-2B47-BCF4-C604-754F6C4713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9E02F8C-DCD7-E5A6-8A3A-9844E4DEF9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1D3A322F-CF6D-57C4-D5F5-609BFC82D7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014" y="5381887"/>
            <a:ext cx="3029972" cy="128230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EA82A474-AA32-857F-735C-8DDBA3D3095D}"/>
              </a:ext>
            </a:extLst>
          </p:cNvPr>
          <p:cNvGrpSpPr/>
          <p:nvPr/>
        </p:nvGrpSpPr>
        <p:grpSpPr>
          <a:xfrm flipH="1">
            <a:off x="235383" y="3225961"/>
            <a:ext cx="2593701" cy="3439908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5C999DE-6003-CBA8-BA96-2C5DD928970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5CE942C-34E1-C1C9-DC58-9FC1BF2509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AA7567-EBE8-2D6E-C67A-8BAFC06506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7F8824F-E46A-6184-8A7D-EEB5CDB617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D84B400-7A63-EAE6-1D12-F1C9D517AAF7}"/>
              </a:ext>
            </a:extLst>
          </p:cNvPr>
          <p:cNvSpPr/>
          <p:nvPr/>
        </p:nvSpPr>
        <p:spPr>
          <a:xfrm rot="10800000">
            <a:off x="-24269" y="977021"/>
            <a:ext cx="4368792" cy="421520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35" name="Content Placeholder 55">
            <a:extLst>
              <a:ext uri="{FF2B5EF4-FFF2-40B4-BE49-F238E27FC236}">
                <a16:creationId xmlns:a16="http://schemas.microsoft.com/office/drawing/2014/main" id="{05EB197E-C3D1-ED95-BEC9-E39B59A899C3}"/>
              </a:ext>
            </a:extLst>
          </p:cNvPr>
          <p:cNvSpPr txBox="1">
            <a:spLocks/>
          </p:cNvSpPr>
          <p:nvPr/>
        </p:nvSpPr>
        <p:spPr>
          <a:xfrm>
            <a:off x="512921" y="1960759"/>
            <a:ext cx="11161659" cy="3084443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buNone/>
            </a:pPr>
            <a:r>
              <a:rPr lang="en-US" sz="6667" b="1" dirty="0">
                <a:solidFill>
                  <a:srgbClr val="004467"/>
                </a:solidFill>
              </a:rPr>
              <a:t>Embedded AVR   </a:t>
            </a:r>
          </a:p>
          <a:p>
            <a:pPr marL="0" indent="0" algn="ctr">
              <a:buNone/>
            </a:pPr>
            <a:r>
              <a:rPr lang="en-US" sz="6667" b="1" dirty="0">
                <a:solidFill>
                  <a:srgbClr val="004467"/>
                </a:solidFill>
              </a:rPr>
              <a:t>Workshop</a:t>
            </a:r>
          </a:p>
          <a:p>
            <a:pPr marL="0" indent="0" algn="ctr">
              <a:buNone/>
            </a:pPr>
            <a:r>
              <a:rPr lang="en-US" sz="6667" b="1" dirty="0">
                <a:solidFill>
                  <a:srgbClr val="004467"/>
                </a:solidFill>
              </a:rPr>
              <a:t>Session</a:t>
            </a:r>
          </a:p>
          <a:p>
            <a:pPr marL="0" indent="0" algn="ctr">
              <a:buNone/>
            </a:pPr>
            <a:r>
              <a:rPr lang="en-US" sz="8666" b="1" dirty="0">
                <a:solidFill>
                  <a:srgbClr val="004467"/>
                </a:solidFill>
              </a:rPr>
              <a:t> 3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F9254B6-C5B7-A783-FDCF-EA92F1BB1EAE}"/>
              </a:ext>
            </a:extLst>
          </p:cNvPr>
          <p:cNvSpPr/>
          <p:nvPr/>
        </p:nvSpPr>
        <p:spPr>
          <a:xfrm>
            <a:off x="7823211" y="977021"/>
            <a:ext cx="4368792" cy="421520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0AD75E9-06A9-EE8B-DDFC-07D01DE78D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74" y1="51944" x2="32037" y2="55926"/>
                        <a14:foregroundMark x1="35648" y1="55463" x2="34537" y2="56389"/>
                        <a14:foregroundMark x1="34537" y1="56389" x2="34537" y2="56389"/>
                        <a14:foregroundMark x1="36389" y1="54444" x2="35000" y2="56574"/>
                        <a14:foregroundMark x1="33056" y1="49815" x2="28519" y2="55833"/>
                        <a14:foregroundMark x1="30833" y1="49259" x2="35463" y2="57593"/>
                        <a14:foregroundMark x1="35463" y1="57593" x2="35463" y2="57593"/>
                        <a14:foregroundMark x1="29352" y1="50185" x2="27963" y2="56574"/>
                        <a14:foregroundMark x1="26389" y1="50370" x2="30648" y2="59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8879" y="-960099"/>
            <a:ext cx="3874240" cy="387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85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778DB-5C74-CD10-E39D-A061704B9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2">
            <a:extLst>
              <a:ext uri="{FF2B5EF4-FFF2-40B4-BE49-F238E27FC236}">
                <a16:creationId xmlns:a16="http://schemas.microsoft.com/office/drawing/2014/main" id="{640D352B-221D-AE03-9FD9-DDAFA97A7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11;p2">
            <a:extLst>
              <a:ext uri="{FF2B5EF4-FFF2-40B4-BE49-F238E27FC236}">
                <a16:creationId xmlns:a16="http://schemas.microsoft.com/office/drawing/2014/main" id="{807875AD-5ADE-AA6F-F487-3A4BFA5FF60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6200000">
            <a:off x="359336" y="7476627"/>
            <a:ext cx="1280136" cy="1998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2;p2" descr="A white sign with black text&#10;&#10;Description automatically generated">
            <a:extLst>
              <a:ext uri="{FF2B5EF4-FFF2-40B4-BE49-F238E27FC236}">
                <a16:creationId xmlns:a16="http://schemas.microsoft.com/office/drawing/2014/main" id="{972B1290-4DEA-891B-4D52-B9C65654A1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236" y="262351"/>
            <a:ext cx="975061" cy="134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113;p2">
            <a:extLst>
              <a:ext uri="{FF2B5EF4-FFF2-40B4-BE49-F238E27FC236}">
                <a16:creationId xmlns:a16="http://schemas.microsoft.com/office/drawing/2014/main" id="{CFFAA3F1-256A-7355-B32D-AE208A0A9E57}"/>
              </a:ext>
            </a:extLst>
          </p:cNvPr>
          <p:cNvGrpSpPr/>
          <p:nvPr/>
        </p:nvGrpSpPr>
        <p:grpSpPr>
          <a:xfrm rot="10800000" flipH="1">
            <a:off x="10087706" y="446638"/>
            <a:ext cx="1772745" cy="5366945"/>
            <a:chOff x="10607605" y="3602621"/>
            <a:chExt cx="1329559" cy="3009868"/>
          </a:xfrm>
        </p:grpSpPr>
        <p:cxnSp>
          <p:nvCxnSpPr>
            <p:cNvPr id="8" name="Google Shape;114;p2">
              <a:extLst>
                <a:ext uri="{FF2B5EF4-FFF2-40B4-BE49-F238E27FC236}">
                  <a16:creationId xmlns:a16="http://schemas.microsoft.com/office/drawing/2014/main" id="{94C0DF35-F015-01B2-CB1F-A4290D2F5524}"/>
                </a:ext>
              </a:extLst>
            </p:cNvPr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" name="Google Shape;115;p2">
              <a:extLst>
                <a:ext uri="{FF2B5EF4-FFF2-40B4-BE49-F238E27FC236}">
                  <a16:creationId xmlns:a16="http://schemas.microsoft.com/office/drawing/2014/main" id="{A52FD81D-98EF-2BB4-45DC-2F076F7D7396}"/>
                </a:ext>
              </a:extLst>
            </p:cNvPr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116;p2">
              <a:extLst>
                <a:ext uri="{FF2B5EF4-FFF2-40B4-BE49-F238E27FC236}">
                  <a16:creationId xmlns:a16="http://schemas.microsoft.com/office/drawing/2014/main" id="{9987D846-1102-6BE7-A2A4-EDA613E32695}"/>
                </a:ext>
              </a:extLst>
            </p:cNvPr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" name="Google Shape;117;p2">
              <a:extLst>
                <a:ext uri="{FF2B5EF4-FFF2-40B4-BE49-F238E27FC236}">
                  <a16:creationId xmlns:a16="http://schemas.microsoft.com/office/drawing/2014/main" id="{940F8158-1DFF-811C-5DB9-6C28ADBF505C}"/>
                </a:ext>
              </a:extLst>
            </p:cNvPr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" name="Google Shape;118;p2">
            <a:extLst>
              <a:ext uri="{FF2B5EF4-FFF2-40B4-BE49-F238E27FC236}">
                <a16:creationId xmlns:a16="http://schemas.microsoft.com/office/drawing/2014/main" id="{362EF636-2EF8-25FD-BBA6-6805E56D7EAA}"/>
              </a:ext>
            </a:extLst>
          </p:cNvPr>
          <p:cNvSpPr/>
          <p:nvPr/>
        </p:nvSpPr>
        <p:spPr>
          <a:xfrm rot="5400000">
            <a:off x="-1337774" y="1931676"/>
            <a:ext cx="3498785" cy="1601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21;p2">
            <a:extLst>
              <a:ext uri="{FF2B5EF4-FFF2-40B4-BE49-F238E27FC236}">
                <a16:creationId xmlns:a16="http://schemas.microsoft.com/office/drawing/2014/main" id="{DB32B3CD-8F67-4E8D-C2CC-394864584C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6200000">
            <a:off x="359673" y="5221144"/>
            <a:ext cx="1280136" cy="1998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2;p2">
            <a:extLst>
              <a:ext uri="{FF2B5EF4-FFF2-40B4-BE49-F238E27FC236}">
                <a16:creationId xmlns:a16="http://schemas.microsoft.com/office/drawing/2014/main" id="{DBC49AA5-BF62-80E2-470D-8B1FDEC7BE8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56645" y="5657607"/>
            <a:ext cx="3068537" cy="129863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23;p2">
            <a:extLst>
              <a:ext uri="{FF2B5EF4-FFF2-40B4-BE49-F238E27FC236}">
                <a16:creationId xmlns:a16="http://schemas.microsoft.com/office/drawing/2014/main" id="{5B48431C-030A-71CF-2267-A3A54A99EECD}"/>
              </a:ext>
            </a:extLst>
          </p:cNvPr>
          <p:cNvSpPr txBox="1"/>
          <p:nvPr/>
        </p:nvSpPr>
        <p:spPr>
          <a:xfrm>
            <a:off x="4595320" y="878795"/>
            <a:ext cx="2829603" cy="1149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US" sz="6667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Hello!</a:t>
            </a:r>
            <a:endParaRPr sz="2400"/>
          </a:p>
        </p:txBody>
      </p:sp>
      <p:sp>
        <p:nvSpPr>
          <p:cNvPr id="18" name="Google Shape;124;p2">
            <a:extLst>
              <a:ext uri="{FF2B5EF4-FFF2-40B4-BE49-F238E27FC236}">
                <a16:creationId xmlns:a16="http://schemas.microsoft.com/office/drawing/2014/main" id="{0329202B-6E9A-A57C-E0AC-EF57D0E12171}"/>
              </a:ext>
            </a:extLst>
          </p:cNvPr>
          <p:cNvSpPr txBox="1"/>
          <p:nvPr/>
        </p:nvSpPr>
        <p:spPr>
          <a:xfrm>
            <a:off x="2473168" y="2444602"/>
            <a:ext cx="7755553" cy="1108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267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Instructor: Marwan Alaa.</a:t>
            </a:r>
            <a:endParaRPr sz="2400"/>
          </a:p>
        </p:txBody>
      </p:sp>
      <p:sp>
        <p:nvSpPr>
          <p:cNvPr id="19" name="Google Shape;125;p2">
            <a:extLst>
              <a:ext uri="{FF2B5EF4-FFF2-40B4-BE49-F238E27FC236}">
                <a16:creationId xmlns:a16="http://schemas.microsoft.com/office/drawing/2014/main" id="{09B8040B-4B1E-5C19-C47B-A7B7E9CAC816}"/>
              </a:ext>
            </a:extLst>
          </p:cNvPr>
          <p:cNvSpPr txBox="1"/>
          <p:nvPr/>
        </p:nvSpPr>
        <p:spPr>
          <a:xfrm>
            <a:off x="2275840" y="3413994"/>
            <a:ext cx="764032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Cairo University</a:t>
            </a:r>
            <a:endParaRPr sz="2400"/>
          </a:p>
        </p:txBody>
      </p:sp>
      <p:sp>
        <p:nvSpPr>
          <p:cNvPr id="20" name="Google Shape;126;p2">
            <a:extLst>
              <a:ext uri="{FF2B5EF4-FFF2-40B4-BE49-F238E27FC236}">
                <a16:creationId xmlns:a16="http://schemas.microsoft.com/office/drawing/2014/main" id="{036211A9-9D3B-A852-C32F-16C79998482D}"/>
              </a:ext>
            </a:extLst>
          </p:cNvPr>
          <p:cNvSpPr txBox="1"/>
          <p:nvPr/>
        </p:nvSpPr>
        <p:spPr>
          <a:xfrm>
            <a:off x="1998808" y="4029493"/>
            <a:ext cx="8358288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Contact me: marwan3laaosman@gmail.com 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27;p2">
            <a:extLst>
              <a:ext uri="{FF2B5EF4-FFF2-40B4-BE49-F238E27FC236}">
                <a16:creationId xmlns:a16="http://schemas.microsoft.com/office/drawing/2014/main" id="{544AB4A3-FD52-2F86-E681-06D62635B6C8}"/>
              </a:ext>
            </a:extLst>
          </p:cNvPr>
          <p:cNvSpPr txBox="1"/>
          <p:nvPr/>
        </p:nvSpPr>
        <p:spPr>
          <a:xfrm>
            <a:off x="1310767" y="4908333"/>
            <a:ext cx="11647587" cy="738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LinkedIn: https://www.linkedin.com/in/Marwan-alaa-4a630b2a3</a:t>
            </a:r>
            <a:endParaRPr sz="2667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346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2">
            <a:extLst>
              <a:ext uri="{FF2B5EF4-FFF2-40B4-BE49-F238E27FC236}">
                <a16:creationId xmlns:a16="http://schemas.microsoft.com/office/drawing/2014/main" id="{B77791A7-7DBA-89F3-82D6-78823F0F28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12;p2" descr="A white sign with black text&#10;&#10;Description automatically generated">
            <a:extLst>
              <a:ext uri="{FF2B5EF4-FFF2-40B4-BE49-F238E27FC236}">
                <a16:creationId xmlns:a16="http://schemas.microsoft.com/office/drawing/2014/main" id="{C9DA3687-28EB-B442-3E97-E9151D2CBE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236" y="262351"/>
            <a:ext cx="975061" cy="134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113;p2">
            <a:extLst>
              <a:ext uri="{FF2B5EF4-FFF2-40B4-BE49-F238E27FC236}">
                <a16:creationId xmlns:a16="http://schemas.microsoft.com/office/drawing/2014/main" id="{5798FC5E-893B-CA92-5083-CCBCE715C0A4}"/>
              </a:ext>
            </a:extLst>
          </p:cNvPr>
          <p:cNvGrpSpPr/>
          <p:nvPr/>
        </p:nvGrpSpPr>
        <p:grpSpPr>
          <a:xfrm rot="10800000" flipH="1">
            <a:off x="10087706" y="446638"/>
            <a:ext cx="1772745" cy="5366945"/>
            <a:chOff x="10607605" y="3602621"/>
            <a:chExt cx="1329559" cy="3009868"/>
          </a:xfrm>
        </p:grpSpPr>
        <p:cxnSp>
          <p:nvCxnSpPr>
            <p:cNvPr id="7" name="Google Shape;114;p2">
              <a:extLst>
                <a:ext uri="{FF2B5EF4-FFF2-40B4-BE49-F238E27FC236}">
                  <a16:creationId xmlns:a16="http://schemas.microsoft.com/office/drawing/2014/main" id="{9E9470D6-8D40-702F-CEE0-9CBE84796B1C}"/>
                </a:ext>
              </a:extLst>
            </p:cNvPr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" name="Google Shape;115;p2">
              <a:extLst>
                <a:ext uri="{FF2B5EF4-FFF2-40B4-BE49-F238E27FC236}">
                  <a16:creationId xmlns:a16="http://schemas.microsoft.com/office/drawing/2014/main" id="{89D609AA-7AD7-36AD-5F25-5B6274DF677B}"/>
                </a:ext>
              </a:extLst>
            </p:cNvPr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" name="Google Shape;116;p2">
              <a:extLst>
                <a:ext uri="{FF2B5EF4-FFF2-40B4-BE49-F238E27FC236}">
                  <a16:creationId xmlns:a16="http://schemas.microsoft.com/office/drawing/2014/main" id="{197C608E-13DD-988D-E2E7-690E6BC570AA}"/>
                </a:ext>
              </a:extLst>
            </p:cNvPr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117;p2">
              <a:extLst>
                <a:ext uri="{FF2B5EF4-FFF2-40B4-BE49-F238E27FC236}">
                  <a16:creationId xmlns:a16="http://schemas.microsoft.com/office/drawing/2014/main" id="{C24F8AD8-21FC-6CA3-9FC6-64F01E5C14DD}"/>
                </a:ext>
              </a:extLst>
            </p:cNvPr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" name="Google Shape;118;p2">
            <a:extLst>
              <a:ext uri="{FF2B5EF4-FFF2-40B4-BE49-F238E27FC236}">
                <a16:creationId xmlns:a16="http://schemas.microsoft.com/office/drawing/2014/main" id="{713655D0-E972-62C8-4418-A71BF4A13631}"/>
              </a:ext>
            </a:extLst>
          </p:cNvPr>
          <p:cNvSpPr/>
          <p:nvPr/>
        </p:nvSpPr>
        <p:spPr>
          <a:xfrm rot="5400000">
            <a:off x="-1337774" y="1931676"/>
            <a:ext cx="3498785" cy="1601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22;p2">
            <a:extLst>
              <a:ext uri="{FF2B5EF4-FFF2-40B4-BE49-F238E27FC236}">
                <a16:creationId xmlns:a16="http://schemas.microsoft.com/office/drawing/2014/main" id="{CC73D46E-D176-C6FF-7B9E-FDC91E4FF0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56645" y="5657607"/>
            <a:ext cx="3068537" cy="129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835493-EB63-460E-A733-2ECABB4BF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628" y="875944"/>
            <a:ext cx="5334744" cy="510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83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6BAAF-3285-7F2B-390E-442C57082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2">
            <a:extLst>
              <a:ext uri="{FF2B5EF4-FFF2-40B4-BE49-F238E27FC236}">
                <a16:creationId xmlns:a16="http://schemas.microsoft.com/office/drawing/2014/main" id="{94780AB3-836D-9AD9-8250-7FB3462230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12;p2" descr="A white sign with black text&#10;&#10;Description automatically generated">
            <a:extLst>
              <a:ext uri="{FF2B5EF4-FFF2-40B4-BE49-F238E27FC236}">
                <a16:creationId xmlns:a16="http://schemas.microsoft.com/office/drawing/2014/main" id="{B8ECE91C-7B0B-B4DC-85B2-F1FE82AE11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236" y="262351"/>
            <a:ext cx="975061" cy="134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113;p2">
            <a:extLst>
              <a:ext uri="{FF2B5EF4-FFF2-40B4-BE49-F238E27FC236}">
                <a16:creationId xmlns:a16="http://schemas.microsoft.com/office/drawing/2014/main" id="{0DE14FD2-F715-0045-E928-4FF3AFD1DEBB}"/>
              </a:ext>
            </a:extLst>
          </p:cNvPr>
          <p:cNvGrpSpPr/>
          <p:nvPr/>
        </p:nvGrpSpPr>
        <p:grpSpPr>
          <a:xfrm rot="10800000" flipH="1">
            <a:off x="10087706" y="446638"/>
            <a:ext cx="1772745" cy="5366945"/>
            <a:chOff x="10607605" y="3602621"/>
            <a:chExt cx="1329559" cy="3009868"/>
          </a:xfrm>
        </p:grpSpPr>
        <p:cxnSp>
          <p:nvCxnSpPr>
            <p:cNvPr id="7" name="Google Shape;114;p2">
              <a:extLst>
                <a:ext uri="{FF2B5EF4-FFF2-40B4-BE49-F238E27FC236}">
                  <a16:creationId xmlns:a16="http://schemas.microsoft.com/office/drawing/2014/main" id="{4C3F7766-5919-36D0-2AC8-7959077B73F1}"/>
                </a:ext>
              </a:extLst>
            </p:cNvPr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" name="Google Shape;115;p2">
              <a:extLst>
                <a:ext uri="{FF2B5EF4-FFF2-40B4-BE49-F238E27FC236}">
                  <a16:creationId xmlns:a16="http://schemas.microsoft.com/office/drawing/2014/main" id="{F02E3CBB-2C30-8A18-544E-7B973BE502C8}"/>
                </a:ext>
              </a:extLst>
            </p:cNvPr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" name="Google Shape;116;p2">
              <a:extLst>
                <a:ext uri="{FF2B5EF4-FFF2-40B4-BE49-F238E27FC236}">
                  <a16:creationId xmlns:a16="http://schemas.microsoft.com/office/drawing/2014/main" id="{EA85D17D-131C-E759-8581-DCFBE321AEB4}"/>
                </a:ext>
              </a:extLst>
            </p:cNvPr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117;p2">
              <a:extLst>
                <a:ext uri="{FF2B5EF4-FFF2-40B4-BE49-F238E27FC236}">
                  <a16:creationId xmlns:a16="http://schemas.microsoft.com/office/drawing/2014/main" id="{124F456D-884B-ED92-2861-909A966567BD}"/>
                </a:ext>
              </a:extLst>
            </p:cNvPr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" name="Google Shape;118;p2">
            <a:extLst>
              <a:ext uri="{FF2B5EF4-FFF2-40B4-BE49-F238E27FC236}">
                <a16:creationId xmlns:a16="http://schemas.microsoft.com/office/drawing/2014/main" id="{2C654CE6-D8E8-2573-FDDB-0B5E031D4B13}"/>
              </a:ext>
            </a:extLst>
          </p:cNvPr>
          <p:cNvSpPr/>
          <p:nvPr/>
        </p:nvSpPr>
        <p:spPr>
          <a:xfrm rot="5400000">
            <a:off x="-1337774" y="1931676"/>
            <a:ext cx="3498785" cy="1601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22;p2">
            <a:extLst>
              <a:ext uri="{FF2B5EF4-FFF2-40B4-BE49-F238E27FC236}">
                <a16:creationId xmlns:a16="http://schemas.microsoft.com/office/drawing/2014/main" id="{ED07C05A-266E-1010-8451-3D16832DEF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56645" y="5657607"/>
            <a:ext cx="3068537" cy="129863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itle 23">
            <a:extLst>
              <a:ext uri="{FF2B5EF4-FFF2-40B4-BE49-F238E27FC236}">
                <a16:creationId xmlns:a16="http://schemas.microsoft.com/office/drawing/2014/main" id="{1684495D-3F7B-9FD5-F0F4-F3A916C1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50" y="1635701"/>
            <a:ext cx="3626881" cy="620832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Content</a:t>
            </a:r>
          </a:p>
        </p:txBody>
      </p:sp>
      <p:sp>
        <p:nvSpPr>
          <p:cNvPr id="20" name="Content Placeholder 24">
            <a:extLst>
              <a:ext uri="{FF2B5EF4-FFF2-40B4-BE49-F238E27FC236}">
                <a16:creationId xmlns:a16="http://schemas.microsoft.com/office/drawing/2014/main" id="{6054813C-C8FE-0478-DC93-EAC12749812F}"/>
              </a:ext>
            </a:extLst>
          </p:cNvPr>
          <p:cNvSpPr txBox="1">
            <a:spLocks/>
          </p:cNvSpPr>
          <p:nvPr/>
        </p:nvSpPr>
        <p:spPr>
          <a:xfrm>
            <a:off x="823236" y="2761435"/>
            <a:ext cx="14020800" cy="3685525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>
                <a:solidFill>
                  <a:schemeClr val="bg1"/>
                </a:solidFill>
              </a:rPr>
              <a:t>Structs</a:t>
            </a:r>
          </a:p>
          <a:p>
            <a:r>
              <a:rPr lang="en-US" sz="3733">
                <a:solidFill>
                  <a:schemeClr val="bg1"/>
                </a:solidFill>
              </a:rPr>
              <a:t>Functions</a:t>
            </a:r>
          </a:p>
          <a:p>
            <a:r>
              <a:rPr lang="en-US" sz="3733">
                <a:solidFill>
                  <a:schemeClr val="bg1"/>
                </a:solidFill>
              </a:rPr>
              <a:t>Pointers</a:t>
            </a:r>
          </a:p>
          <a:p>
            <a:r>
              <a:rPr lang="en-US" sz="3733">
                <a:solidFill>
                  <a:schemeClr val="bg1"/>
                </a:solidFill>
              </a:rPr>
              <a:t>Pointers with functions</a:t>
            </a:r>
          </a:p>
          <a:p>
            <a:r>
              <a:rPr lang="en-US" sz="3733">
                <a:solidFill>
                  <a:schemeClr val="bg1"/>
                </a:solidFill>
              </a:rPr>
              <a:t>Arrays</a:t>
            </a:r>
          </a:p>
          <a:p>
            <a:r>
              <a:rPr lang="en-US" sz="3733">
                <a:solidFill>
                  <a:schemeClr val="bg1"/>
                </a:solidFill>
              </a:rPr>
              <a:t>Outputs/Inputs</a:t>
            </a:r>
          </a:p>
          <a:p>
            <a:r>
              <a:rPr lang="en-US" sz="3733">
                <a:solidFill>
                  <a:schemeClr val="bg1"/>
                </a:solidFill>
              </a:rPr>
              <a:t>Macros (#define, #if) </a:t>
            </a:r>
          </a:p>
          <a:p>
            <a:r>
              <a:rPr lang="en-US" sz="3733">
                <a:solidFill>
                  <a:schemeClr val="bg1"/>
                </a:solidFill>
              </a:rPr>
              <a:t>Header Files</a:t>
            </a:r>
          </a:p>
          <a:p>
            <a:r>
              <a:rPr lang="en-US" sz="3733">
                <a:solidFill>
                  <a:schemeClr val="bg1"/>
                </a:solidFill>
              </a:rPr>
              <a:t>Header Guards</a:t>
            </a:r>
          </a:p>
        </p:txBody>
      </p:sp>
    </p:spTree>
    <p:extLst>
      <p:ext uri="{BB962C8B-B14F-4D97-AF65-F5344CB8AC3E}">
        <p14:creationId xmlns:p14="http://schemas.microsoft.com/office/powerpoint/2010/main" val="44907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25D9-B684-EE57-374A-BA76E135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Rectangle 1381">
            <a:extLst>
              <a:ext uri="{FF2B5EF4-FFF2-40B4-BE49-F238E27FC236}">
                <a16:creationId xmlns:a16="http://schemas.microsoft.com/office/drawing/2014/main" id="{37EA47D9-97C7-C30F-1028-396FA08E8589}"/>
              </a:ext>
            </a:extLst>
          </p:cNvPr>
          <p:cNvSpPr/>
          <p:nvPr/>
        </p:nvSpPr>
        <p:spPr>
          <a:xfrm>
            <a:off x="6731040" y="635041"/>
            <a:ext cx="3047520" cy="11183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6667" b="1">
                <a:solidFill>
                  <a:srgbClr val="004567"/>
                </a:solidFill>
                <a:latin typeface="Calibri"/>
              </a:rPr>
              <a:t>03</a:t>
            </a:r>
            <a:endParaRPr lang="en-US" sz="6667">
              <a:solidFill>
                <a:srgbClr val="004567"/>
              </a:solidFill>
              <a:latin typeface="OpenSymbol"/>
            </a:endParaRPr>
          </a:p>
        </p:txBody>
      </p:sp>
      <p:sp>
        <p:nvSpPr>
          <p:cNvPr id="1383" name="Rectangle 1382">
            <a:extLst>
              <a:ext uri="{FF2B5EF4-FFF2-40B4-BE49-F238E27FC236}">
                <a16:creationId xmlns:a16="http://schemas.microsoft.com/office/drawing/2014/main" id="{32201F97-0461-07A4-F49F-2889F3ED51C5}"/>
              </a:ext>
            </a:extLst>
          </p:cNvPr>
          <p:cNvSpPr/>
          <p:nvPr/>
        </p:nvSpPr>
        <p:spPr>
          <a:xfrm>
            <a:off x="6731040" y="1905120"/>
            <a:ext cx="4825440" cy="2226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5333" b="1">
                <a:solidFill>
                  <a:srgbClr val="004567"/>
                </a:solidFill>
                <a:latin typeface="IBM Plex Mono"/>
              </a:rPr>
              <a:t>C Programming Language Basics(Part2)</a:t>
            </a:r>
            <a:endParaRPr lang="en-US" sz="5333">
              <a:solidFill>
                <a:srgbClr val="004567"/>
              </a:solidFill>
              <a:latin typeface="OpenSymbol"/>
            </a:endParaRPr>
          </a:p>
        </p:txBody>
      </p:sp>
      <p:pic>
        <p:nvPicPr>
          <p:cNvPr id="6" name="Picture 5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B920C47-64DF-FECA-7487-796A920938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821211"/>
            <a:ext cx="3029972" cy="12823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AD74E9-C221-2881-189F-4F1BB0BCA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790C15-6A57-FA97-1E9B-5D43ACEAA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0" t="94698" r="13690"/>
          <a:stretch>
            <a:fillRect/>
          </a:stretch>
        </p:blipFill>
        <p:spPr>
          <a:xfrm>
            <a:off x="5600700" y="6303434"/>
            <a:ext cx="304800" cy="35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12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94666-6A8B-61A4-BD8B-D15C03EC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C1287C9F-F049-2DB4-ED55-89ABF7DCD57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DF7EA257-0978-1E9E-FA09-5E9864F76C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608529-48B4-03C2-A319-FE222CC29413}"/>
              </a:ext>
            </a:extLst>
          </p:cNvPr>
          <p:cNvSpPr txBox="1"/>
          <p:nvPr/>
        </p:nvSpPr>
        <p:spPr>
          <a:xfrm>
            <a:off x="530578" y="538356"/>
            <a:ext cx="11661421" cy="1107996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>
                <a:solidFill>
                  <a:srgbClr val="004567"/>
                </a:solidFill>
                <a:latin typeface="IBM Plex Mono"/>
              </a:rPr>
              <a:t>3.1- Structs</a:t>
            </a:r>
            <a:br>
              <a:rPr lang="en-US" sz="3200" b="1">
                <a:solidFill>
                  <a:srgbClr val="004567"/>
                </a:solidFill>
                <a:latin typeface="IBM Plex Mono"/>
              </a:rPr>
            </a:br>
            <a:endParaRPr lang="en-US" sz="3200" b="1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4BF61EF-9A7A-5800-2517-4CF17ADDCF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5B3B39-5A94-98D5-AADC-7C100DDF6D9B}"/>
              </a:ext>
            </a:extLst>
          </p:cNvPr>
          <p:cNvSpPr txBox="1"/>
          <p:nvPr/>
        </p:nvSpPr>
        <p:spPr>
          <a:xfrm>
            <a:off x="3958246" y="337367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733" b="1">
                <a:solidFill>
                  <a:srgbClr val="004567"/>
                </a:solidFill>
              </a:rPr>
              <a:t>What is a Struct ?</a:t>
            </a:r>
            <a:endParaRPr lang="ar-EG" sz="3733" b="1">
              <a:solidFill>
                <a:srgbClr val="004567"/>
              </a:solidFill>
            </a:endParaRPr>
          </a:p>
        </p:txBody>
      </p:sp>
      <p:pic>
        <p:nvPicPr>
          <p:cNvPr id="12" name="Picture 11" descr="A person with question marks and light bulb above his head&#10;&#10;AI-generated content may be incorrect.">
            <a:extLst>
              <a:ext uri="{FF2B5EF4-FFF2-40B4-BE49-F238E27FC236}">
                <a16:creationId xmlns:a16="http://schemas.microsoft.com/office/drawing/2014/main" id="{CFB0B491-B251-0654-BC67-EF1321003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6596" l="9904" r="89936">
                        <a14:foregroundMark x1="24760" y1="43404" x2="29073" y2="54043"/>
                        <a14:foregroundMark x1="29073" y1="54043" x2="27316" y2="83617"/>
                        <a14:foregroundMark x1="23163" y1="95745" x2="32268" y2="96596"/>
                        <a14:foregroundMark x1="15974" y1="24043" x2="15974" y2="24043"/>
                        <a14:foregroundMark x1="23802" y1="13617" x2="23802" y2="13617"/>
                        <a14:foregroundMark x1="32588" y1="17234" x2="32588" y2="17234"/>
                        <a14:foregroundMark x1="19329" y1="35957" x2="19329" y2="35957"/>
                        <a14:foregroundMark x1="23482" y1="26596" x2="23482" y2="26596"/>
                        <a14:foregroundMark x1="29553" y1="22553" x2="29553" y2="22553"/>
                        <a14:backgroundMark x1="74760" y1="85532" x2="74760" y2="85532"/>
                        <a14:backgroundMark x1="76677" y1="41277" x2="74760" y2="57021"/>
                        <a14:backgroundMark x1="74760" y1="57021" x2="74760" y2="570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1369" y="1377315"/>
            <a:ext cx="7299805" cy="548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4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B0BB-B351-42C6-A98A-E020C5D7B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07D92B32-E334-1E44-D9D4-0787C0CBF6F2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77CF5C2-58E2-5083-87D7-8548E72D08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C5A335-739C-DA1E-5F95-2F76FC7E9136}"/>
              </a:ext>
            </a:extLst>
          </p:cNvPr>
          <p:cNvSpPr txBox="1"/>
          <p:nvPr/>
        </p:nvSpPr>
        <p:spPr>
          <a:xfrm>
            <a:off x="530578" y="538356"/>
            <a:ext cx="11661421" cy="1107996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>
                <a:solidFill>
                  <a:srgbClr val="004567"/>
                </a:solidFill>
                <a:latin typeface="IBM Plex Mono"/>
              </a:rPr>
              <a:t>3.1- Structs</a:t>
            </a:r>
            <a:br>
              <a:rPr lang="en-US" sz="3200" b="1">
                <a:solidFill>
                  <a:srgbClr val="004567"/>
                </a:solidFill>
                <a:latin typeface="IBM Plex Mono"/>
              </a:rPr>
            </a:br>
            <a:endParaRPr lang="en-US" sz="3200" b="1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6386058E-BAFA-718C-26A2-9E77AB6279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3ABD1-5BF2-D920-E35B-7083BC1DA6FE}"/>
              </a:ext>
            </a:extLst>
          </p:cNvPr>
          <p:cNvSpPr txBox="1"/>
          <p:nvPr/>
        </p:nvSpPr>
        <p:spPr>
          <a:xfrm>
            <a:off x="543349" y="2830252"/>
            <a:ext cx="8257902" cy="156966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2400" b="1">
                <a:solidFill>
                  <a:srgbClr val="026DA5"/>
                </a:solidFill>
                <a:cs typeface="Arial"/>
              </a:rPr>
              <a:t>A short-term for structure. </a:t>
            </a:r>
            <a:br>
              <a:rPr lang="en-US" sz="2400" b="1">
                <a:solidFill>
                  <a:srgbClr val="026DA5"/>
                </a:solidFill>
                <a:cs typeface="Arial"/>
              </a:rPr>
            </a:br>
            <a:br>
              <a:rPr lang="en-US" sz="2400" b="1">
                <a:solidFill>
                  <a:srgbClr val="026DA5"/>
                </a:solidFill>
                <a:cs typeface="Arial"/>
              </a:rPr>
            </a:br>
            <a:r>
              <a:rPr lang="en-US" sz="2400" b="1">
                <a:solidFill>
                  <a:srgbClr val="026DA5"/>
                </a:solidFill>
                <a:cs typeface="Arial"/>
              </a:rPr>
              <a:t>It’s a data type that allows you to group variables together </a:t>
            </a:r>
            <a:br>
              <a:rPr lang="en-US" sz="2400" b="1">
                <a:solidFill>
                  <a:srgbClr val="026DA5"/>
                </a:solidFill>
                <a:cs typeface="Arial"/>
              </a:rPr>
            </a:br>
            <a:r>
              <a:rPr lang="en-US" sz="2400" b="1">
                <a:solidFill>
                  <a:srgbClr val="026DA5"/>
                </a:solidFill>
                <a:cs typeface="Arial"/>
              </a:rPr>
              <a:t>→ to create a new data type</a:t>
            </a:r>
            <a:endParaRPr lang="ar-EG" sz="2400" b="1">
              <a:solidFill>
                <a:srgbClr val="026DA5"/>
              </a:solidFill>
              <a:cs typeface="Arial"/>
            </a:endParaRPr>
          </a:p>
        </p:txBody>
      </p:sp>
      <p:pic>
        <p:nvPicPr>
          <p:cNvPr id="16" name="Picture 15" descr="A person with question marks and light bulb above his head&#10;&#10;AI-generated content may be incorrect.">
            <a:extLst>
              <a:ext uri="{FF2B5EF4-FFF2-40B4-BE49-F238E27FC236}">
                <a16:creationId xmlns:a16="http://schemas.microsoft.com/office/drawing/2014/main" id="{BB178CB8-2385-64CC-376B-C9623487C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8936" l="9585" r="89617">
                        <a14:foregroundMark x1="72684" y1="20638" x2="72684" y2="20638"/>
                        <a14:foregroundMark x1="71565" y1="11064" x2="71565" y2="11064"/>
                        <a14:foregroundMark x1="76038" y1="10000" x2="76038" y2="10000"/>
                        <a14:foregroundMark x1="78754" y1="13617" x2="78754" y2="13617"/>
                        <a14:foregroundMark x1="67891" y1="11702" x2="67891" y2="11702"/>
                        <a14:foregroundMark x1="65176" y1="16596" x2="65176" y2="16596"/>
                        <a14:foregroundMark x1="73642" y1="91489" x2="73642" y2="91489"/>
                        <a14:foregroundMark x1="88978" y1="92979" x2="88978" y2="92979"/>
                        <a14:foregroundMark x1="81150" y1="98936" x2="81150" y2="98936"/>
                        <a14:backgroundMark x1="85623" y1="98723" x2="85623" y2="98723"/>
                        <a14:backgroundMark x1="85783" y1="96809" x2="85783" y2="96809"/>
                        <a14:backgroundMark x1="85623" y1="92979" x2="85623" y2="929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587" t="-15999" r="3805" b="4760"/>
          <a:stretch>
            <a:fillRect/>
          </a:stretch>
        </p:blipFill>
        <p:spPr>
          <a:xfrm>
            <a:off x="7863086" y="-843219"/>
            <a:ext cx="4516220" cy="678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3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BF823-D779-30E5-8E18-C22E19EF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2A60BC36-3E14-A8E5-9847-98A3A91C6A44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E021E501-9FCB-8E65-5840-AE7CE269A4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E44D9F-F1D1-21B0-82C7-9B1E88BCDBA8}"/>
              </a:ext>
            </a:extLst>
          </p:cNvPr>
          <p:cNvSpPr txBox="1"/>
          <p:nvPr/>
        </p:nvSpPr>
        <p:spPr>
          <a:xfrm>
            <a:off x="530578" y="538356"/>
            <a:ext cx="11661421" cy="1107996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>
                <a:solidFill>
                  <a:srgbClr val="004567"/>
                </a:solidFill>
                <a:latin typeface="IBM Plex Mono"/>
              </a:rPr>
              <a:t>3.1- Structs</a:t>
            </a:r>
            <a:br>
              <a:rPr lang="en-US" sz="3200" b="1">
                <a:solidFill>
                  <a:srgbClr val="004567"/>
                </a:solidFill>
                <a:latin typeface="IBM Plex Mono"/>
              </a:rPr>
            </a:br>
            <a:endParaRPr lang="en-US" sz="3200" b="1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6B1E115E-BE40-CD88-57D8-BAF309F208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2AC25-404C-4020-12BF-41BFD84DED73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6BEDA-42A1-4E63-4D28-FB4E1B665C03}"/>
              </a:ext>
            </a:extLst>
          </p:cNvPr>
          <p:cNvSpPr txBox="1"/>
          <p:nvPr/>
        </p:nvSpPr>
        <p:spPr>
          <a:xfrm>
            <a:off x="1239520" y="2453565"/>
            <a:ext cx="774192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E9AE7E"/>
                </a:solidFill>
                <a:latin typeface="Menlo"/>
              </a:rPr>
              <a:t>struct</a:t>
            </a:r>
            <a:r>
              <a:rPr lang="en-US" sz="2400" dirty="0">
                <a:solidFill>
                  <a:srgbClr val="F9FAFB"/>
                </a:solidFill>
                <a:latin typeface="Menlo"/>
              </a:rPr>
              <a:t> </a:t>
            </a:r>
            <a:r>
              <a:rPr lang="en-US" sz="2400" dirty="0" err="1">
                <a:solidFill>
                  <a:srgbClr val="6CB8E6"/>
                </a:solidFill>
                <a:latin typeface="Menlo"/>
              </a:rPr>
              <a:t>StructureName</a:t>
            </a:r>
            <a:r>
              <a:rPr lang="en-US" sz="2400" dirty="0">
                <a:solidFill>
                  <a:srgbClr val="F9FAFB"/>
                </a:solidFill>
                <a:latin typeface="Menlo"/>
              </a:rPr>
              <a:t> </a:t>
            </a:r>
            <a:r>
              <a:rPr lang="en-US" sz="2133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</a:p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F9FAFB"/>
                </a:solidFill>
                <a:latin typeface="Menlo"/>
              </a:rPr>
              <a:t>    </a:t>
            </a:r>
            <a:r>
              <a:rPr lang="en-US" sz="2400" dirty="0" err="1">
                <a:solidFill>
                  <a:srgbClr val="4685E2"/>
                </a:solidFill>
                <a:latin typeface="Menlo"/>
              </a:rPr>
              <a:t>dataType</a:t>
            </a:r>
            <a:r>
              <a:rPr lang="en-US" sz="2400" dirty="0">
                <a:solidFill>
                  <a:srgbClr val="004567"/>
                </a:solidFill>
                <a:latin typeface="Menlo"/>
              </a:rPr>
              <a:t> </a:t>
            </a:r>
            <a:r>
              <a:rPr lang="en-US" sz="2400" dirty="0">
                <a:solidFill>
                  <a:srgbClr val="026DA5"/>
                </a:solidFill>
                <a:latin typeface="Menlo"/>
              </a:rPr>
              <a:t>variable1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b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400" dirty="0">
                <a:solidFill>
                  <a:srgbClr val="004567"/>
                </a:solidFill>
                <a:latin typeface="Menlo"/>
              </a:rPr>
              <a:t>    </a:t>
            </a:r>
            <a:r>
              <a:rPr lang="en-US" sz="2400" dirty="0">
                <a:solidFill>
                  <a:srgbClr val="4685E2"/>
                </a:solidFill>
                <a:latin typeface="Menlo"/>
              </a:rPr>
              <a:t>datatype</a:t>
            </a:r>
            <a:r>
              <a:rPr lang="en-US" sz="2400" dirty="0">
                <a:solidFill>
                  <a:srgbClr val="004567"/>
                </a:solidFill>
                <a:latin typeface="Menlo"/>
              </a:rPr>
              <a:t> </a:t>
            </a:r>
            <a:r>
              <a:rPr lang="en-US" sz="2400" dirty="0">
                <a:solidFill>
                  <a:srgbClr val="026DA5"/>
                </a:solidFill>
                <a:latin typeface="Menlo"/>
              </a:rPr>
              <a:t>variable2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endParaRPr lang="en-US" sz="2400" dirty="0">
              <a:solidFill>
                <a:srgbClr val="F9FAFB"/>
              </a:solidFill>
              <a:latin typeface="Menlo"/>
            </a:endParaRPr>
          </a:p>
          <a:p>
            <a:pPr latinLnBrk="1">
              <a:lnSpc>
                <a:spcPts val="2200"/>
              </a:lnSpc>
            </a:pPr>
            <a:r>
              <a:rPr lang="en-US" sz="2133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F8729-7E5D-B0AF-5FD0-DFAFBBFF3342}"/>
              </a:ext>
            </a:extLst>
          </p:cNvPr>
          <p:cNvSpPr txBox="1"/>
          <p:nvPr/>
        </p:nvSpPr>
        <p:spPr>
          <a:xfrm>
            <a:off x="1239520" y="4546600"/>
            <a:ext cx="7741920" cy="385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E9AE7E"/>
                </a:solidFill>
                <a:latin typeface="Menlo"/>
              </a:rPr>
              <a:t>struct</a:t>
            </a:r>
            <a:r>
              <a:rPr lang="en-US" sz="2400" dirty="0">
                <a:solidFill>
                  <a:srgbClr val="F9FAFB"/>
                </a:solidFill>
                <a:latin typeface="Menlo"/>
              </a:rPr>
              <a:t> </a:t>
            </a:r>
            <a:r>
              <a:rPr lang="en-US" sz="2400" dirty="0" err="1">
                <a:solidFill>
                  <a:srgbClr val="6CB8E6"/>
                </a:solidFill>
                <a:latin typeface="Menlo"/>
              </a:rPr>
              <a:t>StructureName</a:t>
            </a:r>
            <a:r>
              <a:rPr lang="en-US" sz="2400" dirty="0">
                <a:solidFill>
                  <a:srgbClr val="F9FAFB"/>
                </a:solidFill>
                <a:latin typeface="Menlo"/>
              </a:rPr>
              <a:t> </a:t>
            </a:r>
            <a:r>
              <a:rPr lang="en-US" sz="2400" dirty="0" err="1">
                <a:solidFill>
                  <a:srgbClr val="026DA5"/>
                </a:solidFill>
                <a:latin typeface="Menlo"/>
              </a:rPr>
              <a:t>variableName</a:t>
            </a:r>
            <a:r>
              <a:rPr lang="en-US" sz="2400" dirty="0">
                <a:solidFill>
                  <a:srgbClr val="026DA5"/>
                </a:solidFill>
                <a:latin typeface="Menlo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905780-C5DA-4A90-5A66-DFF0E395D9B3}"/>
              </a:ext>
            </a:extLst>
          </p:cNvPr>
          <p:cNvSpPr txBox="1"/>
          <p:nvPr/>
        </p:nvSpPr>
        <p:spPr>
          <a:xfrm>
            <a:off x="965200" y="1844314"/>
            <a:ext cx="774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026DA5"/>
                </a:solidFill>
                <a:cs typeface="Arial"/>
              </a:rPr>
              <a:t>Declaring a struct:</a:t>
            </a:r>
            <a:endParaRPr lang="ar-EG" sz="2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F8008B-4E70-8B8B-D411-0D366E846E66}"/>
              </a:ext>
            </a:extLst>
          </p:cNvPr>
          <p:cNvSpPr txBox="1"/>
          <p:nvPr/>
        </p:nvSpPr>
        <p:spPr>
          <a:xfrm>
            <a:off x="965200" y="4054158"/>
            <a:ext cx="774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26DA5"/>
                </a:solidFill>
                <a:cs typeface="Arial"/>
              </a:rPr>
              <a:t>Creating a struct variable: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4203435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0D65-A93F-BE33-6649-A0E64147D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152C470F-889E-FA1B-E23F-E105C68A53ED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8BA8CE5-D2F2-F3B7-5BEC-69BBBD0CFA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EDB78F-29DB-DC3B-AE8B-5DD76CFF37C8}"/>
              </a:ext>
            </a:extLst>
          </p:cNvPr>
          <p:cNvSpPr txBox="1"/>
          <p:nvPr/>
        </p:nvSpPr>
        <p:spPr>
          <a:xfrm>
            <a:off x="530578" y="538356"/>
            <a:ext cx="11661421" cy="1107996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>
                <a:solidFill>
                  <a:srgbClr val="004567"/>
                </a:solidFill>
                <a:latin typeface="IBM Plex Mono"/>
              </a:rPr>
              <a:t>3.1- Structs</a:t>
            </a:r>
            <a:br>
              <a:rPr lang="en-US" sz="3200" b="1">
                <a:solidFill>
                  <a:srgbClr val="004567"/>
                </a:solidFill>
                <a:latin typeface="IBM Plex Mono"/>
              </a:rPr>
            </a:br>
            <a:endParaRPr lang="en-US" sz="3200" b="1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4135169-D5F5-6EB4-506A-343C203CF7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7298C-F59C-3217-10CA-6595187A1BD6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92747-4248-44AF-63CC-6098331A1A65}"/>
              </a:ext>
            </a:extLst>
          </p:cNvPr>
          <p:cNvSpPr txBox="1"/>
          <p:nvPr/>
        </p:nvSpPr>
        <p:spPr>
          <a:xfrm>
            <a:off x="1239520" y="2453564"/>
            <a:ext cx="7741920" cy="123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enlo"/>
              </a:rPr>
              <a:t>typedef</a:t>
            </a:r>
            <a:r>
              <a:rPr lang="en-US" sz="2400" dirty="0">
                <a:solidFill>
                  <a:srgbClr val="026DA5"/>
                </a:solidFill>
                <a:latin typeface="Menlo"/>
              </a:rPr>
              <a:t> </a:t>
            </a:r>
            <a:r>
              <a:rPr lang="en-US" sz="2400" dirty="0">
                <a:solidFill>
                  <a:srgbClr val="E9AE7E"/>
                </a:solidFill>
                <a:latin typeface="Menlo"/>
              </a:rPr>
              <a:t>struct</a:t>
            </a:r>
            <a:r>
              <a:rPr lang="en-US" sz="2400" dirty="0">
                <a:solidFill>
                  <a:srgbClr val="026DA5"/>
                </a:solidFill>
                <a:latin typeface="Menlo"/>
              </a:rPr>
              <a:t> 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b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400" dirty="0">
                <a:solidFill>
                  <a:srgbClr val="026DA5"/>
                </a:solidFill>
                <a:latin typeface="Menlo"/>
              </a:rPr>
              <a:t>    </a:t>
            </a:r>
            <a:r>
              <a:rPr lang="en-US" sz="2400" dirty="0" err="1">
                <a:solidFill>
                  <a:srgbClr val="4685E2"/>
                </a:solidFill>
                <a:latin typeface="Menlo"/>
              </a:rPr>
              <a:t>dataType</a:t>
            </a:r>
            <a:r>
              <a:rPr lang="en-US" sz="2400" dirty="0">
                <a:solidFill>
                  <a:srgbClr val="004567"/>
                </a:solidFill>
                <a:latin typeface="Menlo"/>
              </a:rPr>
              <a:t> </a:t>
            </a:r>
            <a:r>
              <a:rPr lang="en-US" sz="2400" dirty="0">
                <a:solidFill>
                  <a:srgbClr val="026DA5"/>
                </a:solidFill>
                <a:latin typeface="Menlo"/>
              </a:rPr>
              <a:t>variable1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b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400" dirty="0">
                <a:solidFill>
                  <a:srgbClr val="004567"/>
                </a:solidFill>
                <a:latin typeface="Menlo"/>
              </a:rPr>
              <a:t>    </a:t>
            </a:r>
            <a:r>
              <a:rPr lang="en-US" sz="2400" dirty="0">
                <a:solidFill>
                  <a:srgbClr val="4685E2"/>
                </a:solidFill>
                <a:latin typeface="Menlo"/>
              </a:rPr>
              <a:t>datatype</a:t>
            </a:r>
            <a:r>
              <a:rPr lang="en-US" sz="2400" dirty="0">
                <a:solidFill>
                  <a:srgbClr val="004567"/>
                </a:solidFill>
                <a:latin typeface="Menlo"/>
              </a:rPr>
              <a:t> </a:t>
            </a:r>
            <a:r>
              <a:rPr lang="en-US" sz="2400" dirty="0">
                <a:solidFill>
                  <a:srgbClr val="026DA5"/>
                </a:solidFill>
                <a:latin typeface="Menlo"/>
              </a:rPr>
              <a:t>variable2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endParaRPr lang="en-US" sz="2400" dirty="0">
              <a:solidFill>
                <a:srgbClr val="F9FAFB"/>
              </a:solidFill>
              <a:latin typeface="Menlo"/>
            </a:endParaRPr>
          </a:p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026DA5"/>
                </a:solidFill>
                <a:latin typeface="Menlo"/>
              </a:rPr>
              <a:t> </a:t>
            </a:r>
            <a:r>
              <a:rPr lang="en-US" sz="2400" dirty="0" err="1">
                <a:solidFill>
                  <a:srgbClr val="6CB8E6"/>
                </a:solidFill>
                <a:latin typeface="Menlo"/>
              </a:rPr>
              <a:t>StructureName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endParaRPr lang="en-US" sz="2400" dirty="0">
              <a:solidFill>
                <a:srgbClr val="026DA5"/>
              </a:solidFill>
              <a:latin typeface="Menl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F6221-3992-177A-78BB-4AF7D45CC066}"/>
              </a:ext>
            </a:extLst>
          </p:cNvPr>
          <p:cNvSpPr txBox="1"/>
          <p:nvPr/>
        </p:nvSpPr>
        <p:spPr>
          <a:xfrm>
            <a:off x="1239520" y="5061694"/>
            <a:ext cx="10419080" cy="151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026DA5"/>
                </a:solidFill>
                <a:latin typeface="Menlo"/>
              </a:rPr>
              <a:t>int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enlo"/>
              </a:rPr>
              <a:t>main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 {</a:t>
            </a:r>
          </a:p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E9AE7E"/>
                </a:solidFill>
                <a:latin typeface="Menlo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Menlo"/>
              </a:rPr>
              <a:t>(no need for writing struct)</a:t>
            </a:r>
            <a:r>
              <a:rPr lang="en-US" sz="2400" dirty="0">
                <a:solidFill>
                  <a:srgbClr val="6CB8E6"/>
                </a:solidFill>
                <a:latin typeface="Menlo"/>
              </a:rPr>
              <a:t> </a:t>
            </a:r>
            <a:r>
              <a:rPr lang="en-US" sz="2400" dirty="0" err="1">
                <a:solidFill>
                  <a:srgbClr val="6CB8E6"/>
                </a:solidFill>
                <a:latin typeface="Menlo"/>
              </a:rPr>
              <a:t>StructureName</a:t>
            </a:r>
            <a:r>
              <a:rPr lang="en-US" sz="2400" dirty="0">
                <a:solidFill>
                  <a:srgbClr val="F9FAFB"/>
                </a:solidFill>
                <a:latin typeface="Menlo"/>
              </a:rPr>
              <a:t> </a:t>
            </a:r>
            <a:r>
              <a:rPr lang="en-US" sz="2400" dirty="0" err="1">
                <a:solidFill>
                  <a:srgbClr val="026DA5"/>
                </a:solidFill>
                <a:latin typeface="Menlo"/>
              </a:rPr>
              <a:t>variableName</a:t>
            </a:r>
            <a:r>
              <a:rPr lang="en-US" sz="2400" dirty="0">
                <a:solidFill>
                  <a:srgbClr val="026DA5"/>
                </a:solidFill>
                <a:latin typeface="Menlo"/>
              </a:rPr>
              <a:t>;</a:t>
            </a:r>
          </a:p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026DA5"/>
                </a:solidFill>
                <a:latin typeface="Menlo"/>
              </a:rPr>
              <a:t>    return 0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endParaRPr lang="en-US" sz="2400" dirty="0">
              <a:solidFill>
                <a:srgbClr val="026DA5"/>
              </a:solidFill>
              <a:latin typeface="Menlo"/>
            </a:endParaRPr>
          </a:p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sz="2400" dirty="0">
              <a:solidFill>
                <a:srgbClr val="026DA5"/>
              </a:solidFill>
              <a:latin typeface="Menlo"/>
            </a:endParaRPr>
          </a:p>
          <a:p>
            <a:pPr latinLnBrk="1">
              <a:lnSpc>
                <a:spcPts val="2200"/>
              </a:lnSpc>
            </a:pPr>
            <a:endParaRPr lang="en-US" sz="2400" dirty="0">
              <a:solidFill>
                <a:srgbClr val="026DA5"/>
              </a:solidFill>
              <a:latin typeface="Menl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F081B-B132-4FA2-7F66-0679FA498D95}"/>
              </a:ext>
            </a:extLst>
          </p:cNvPr>
          <p:cNvSpPr txBox="1"/>
          <p:nvPr/>
        </p:nvSpPr>
        <p:spPr>
          <a:xfrm>
            <a:off x="965200" y="1844314"/>
            <a:ext cx="774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26DA5"/>
                </a:solidFill>
                <a:cs typeface="Arial"/>
              </a:rPr>
              <a:t>Declaring a struct:  </a:t>
            </a:r>
            <a:r>
              <a:rPr lang="en-US" sz="2400" b="1" dirty="0">
                <a:solidFill>
                  <a:srgbClr val="FF0000"/>
                </a:solidFill>
                <a:cs typeface="Arial"/>
              </a:rPr>
              <a:t>(Another syntax more common)</a:t>
            </a:r>
            <a:endParaRPr lang="ar-EG" sz="24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50F6C5-1D9C-F66B-3F43-AB30B8BC93B5}"/>
              </a:ext>
            </a:extLst>
          </p:cNvPr>
          <p:cNvSpPr txBox="1"/>
          <p:nvPr/>
        </p:nvSpPr>
        <p:spPr>
          <a:xfrm>
            <a:off x="965200" y="4502989"/>
            <a:ext cx="774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026DA5"/>
                </a:solidFill>
                <a:cs typeface="Arial"/>
              </a:rPr>
              <a:t>Creating a struct variable:</a:t>
            </a:r>
            <a:endParaRPr lang="ar-EG" sz="2400"/>
          </a:p>
        </p:txBody>
      </p:sp>
    </p:spTree>
    <p:extLst>
      <p:ext uri="{BB962C8B-B14F-4D97-AF65-F5344CB8AC3E}">
        <p14:creationId xmlns:p14="http://schemas.microsoft.com/office/powerpoint/2010/main" val="2231091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C27E3-746C-8F03-2DD8-2C8A286E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95C72241-BBD6-8E6D-2853-05A10C3C69E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0CF86219-FD89-3B9B-4D0A-920C053B70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016EB6-E3D6-4DF2-D48D-CE8B69EF46D4}"/>
              </a:ext>
            </a:extLst>
          </p:cNvPr>
          <p:cNvSpPr txBox="1"/>
          <p:nvPr/>
        </p:nvSpPr>
        <p:spPr>
          <a:xfrm>
            <a:off x="530578" y="538357"/>
            <a:ext cx="11661421" cy="2092881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>
                <a:solidFill>
                  <a:srgbClr val="004567"/>
                </a:solidFill>
                <a:latin typeface="IBM Plex Mono"/>
              </a:rPr>
              <a:t>3.1- Structs</a:t>
            </a:r>
          </a:p>
          <a:p>
            <a:endParaRPr lang="en-US" sz="3200" b="1">
              <a:solidFill>
                <a:srgbClr val="004567"/>
              </a:solidFill>
              <a:latin typeface="IBM Plex Mono"/>
            </a:endParaRPr>
          </a:p>
          <a:p>
            <a:br>
              <a:rPr lang="en-US" sz="3200" b="1">
                <a:solidFill>
                  <a:srgbClr val="004567"/>
                </a:solidFill>
                <a:latin typeface="IBM Plex Mono"/>
              </a:rPr>
            </a:br>
            <a:endParaRPr lang="en-US" sz="3200" b="1" dirty="0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ECA6EE54-A573-53A1-38D2-9B09208F7C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16D50-0424-CF3C-230E-E6999854EA8F}"/>
              </a:ext>
            </a:extLst>
          </p:cNvPr>
          <p:cNvSpPr txBox="1"/>
          <p:nvPr/>
        </p:nvSpPr>
        <p:spPr>
          <a:xfrm>
            <a:off x="530574" y="1709336"/>
            <a:ext cx="77448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name[20];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grade;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average;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71AF2B-E83C-5794-D36C-A6E9E2D2EE86}"/>
              </a:ext>
            </a:extLst>
          </p:cNvPr>
          <p:cNvSpPr txBox="1"/>
          <p:nvPr/>
        </p:nvSpPr>
        <p:spPr>
          <a:xfrm>
            <a:off x="530574" y="4023599"/>
            <a:ext cx="102390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nl-NL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Student </a:t>
            </a:r>
            <a:r>
              <a:rPr lang="nl-NL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student1</a:t>
            </a:r>
            <a:r>
              <a:rPr lang="nl-NL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{ 20240567, </a:t>
            </a:r>
            <a:r>
              <a:rPr lang="nl-NL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"Marwan"</a:t>
            </a:r>
            <a:r>
              <a:rPr lang="nl-NL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85.6, 0.0 };</a:t>
            </a: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student1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.average = 68;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 0;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ED98AD-65F3-1A2C-278F-731206F660CE}"/>
              </a:ext>
            </a:extLst>
          </p:cNvPr>
          <p:cNvSpPr txBox="1"/>
          <p:nvPr/>
        </p:nvSpPr>
        <p:spPr>
          <a:xfrm>
            <a:off x="530573" y="1115634"/>
            <a:ext cx="774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47293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9D878-0346-5696-3310-5558C867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9B89BF69-59B4-42E8-005E-3F799C630266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BC43AE7-654A-CED1-AC37-F357FD1AD0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E07096-FDE5-BD22-86C1-8B9B95AACB87}"/>
              </a:ext>
            </a:extLst>
          </p:cNvPr>
          <p:cNvSpPr txBox="1"/>
          <p:nvPr/>
        </p:nvSpPr>
        <p:spPr>
          <a:xfrm>
            <a:off x="530578" y="538357"/>
            <a:ext cx="11661421" cy="6401753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3.2- Functions</a:t>
            </a:r>
            <a:br>
              <a:rPr lang="en-US" sz="3200" b="1" dirty="0">
                <a:solidFill>
                  <a:srgbClr val="004567"/>
                </a:solidFill>
                <a:latin typeface="IBM Plex Mono"/>
              </a:rPr>
            </a:br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A block of code that performs a specific task.</a:t>
            </a:r>
            <a:b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</a:br>
            <a:b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It’s a reusable piece of code that runs only when called</a:t>
            </a:r>
            <a:b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→ to prevent repetition, provide readability and reusability</a:t>
            </a:r>
          </a:p>
          <a:p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  <a:p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             Void Function                                     Return Function</a:t>
            </a:r>
          </a:p>
          <a:p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B91AF"/>
                </a:solidFill>
              </a:rPr>
              <a:t>Does NOT return any value</a:t>
            </a:r>
            <a:r>
              <a:rPr lang="en-US" sz="2400" dirty="0">
                <a:solidFill>
                  <a:srgbClr val="2B91AF"/>
                </a:solidFill>
              </a:rPr>
              <a:t>     </a:t>
            </a:r>
          </a:p>
          <a:p>
            <a:r>
              <a:rPr lang="en-US" sz="2400" dirty="0">
                <a:solidFill>
                  <a:srgbClr val="2B91AF"/>
                </a:solidFill>
              </a:rPr>
              <a:t>to the caller.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91AF"/>
                </a:solidFill>
                <a:latin typeface="Arial"/>
                <a:cs typeface="Arial"/>
              </a:rPr>
              <a:t>It does operations or print </a:t>
            </a:r>
            <a:r>
              <a:rPr lang="en-US" sz="2400" dirty="0" err="1">
                <a:solidFill>
                  <a:srgbClr val="2B91AF"/>
                </a:solidFill>
                <a:latin typeface="Arial"/>
                <a:cs typeface="Arial"/>
              </a:rPr>
              <a:t>sth</a:t>
            </a:r>
            <a:endParaRPr lang="en-US" sz="2400" dirty="0">
              <a:solidFill>
                <a:srgbClr val="2B91AF"/>
              </a:solidFill>
              <a:latin typeface="Arial"/>
              <a:cs typeface="Arial"/>
            </a:endParaRPr>
          </a:p>
          <a:p>
            <a:r>
              <a:rPr lang="en-US" sz="2400" dirty="0">
                <a:solidFill>
                  <a:srgbClr val="2B91AF"/>
                </a:solidFill>
                <a:latin typeface="Arial"/>
                <a:cs typeface="Arial"/>
              </a:rPr>
              <a:t>,but not returning a value like an </a:t>
            </a:r>
          </a:p>
          <a:p>
            <a:r>
              <a:rPr lang="en-US" sz="2400" dirty="0">
                <a:solidFill>
                  <a:srgbClr val="2B91AF"/>
                </a:solidFill>
                <a:latin typeface="Arial"/>
                <a:cs typeface="Arial"/>
              </a:rPr>
              <a:t>Integer or a character to use it </a:t>
            </a:r>
          </a:p>
          <a:p>
            <a:r>
              <a:rPr lang="en-US" sz="2400" dirty="0">
                <a:solidFill>
                  <a:srgbClr val="2B91AF"/>
                </a:solidFill>
                <a:latin typeface="Arial"/>
                <a:cs typeface="Arial"/>
              </a:rPr>
              <a:t>After.</a:t>
            </a:r>
            <a:endParaRPr lang="ar-EG" sz="2400" dirty="0">
              <a:solidFill>
                <a:srgbClr val="2B91AF"/>
              </a:solidFill>
              <a:latin typeface="Arial"/>
              <a:cs typeface="Arial"/>
            </a:endParaRP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7FF3F-7186-76B6-4154-A94CD80D45A8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  <p:sp>
        <p:nvSpPr>
          <p:cNvPr id="10" name="Gerader Verbinder 9">
            <a:extLst>
              <a:ext uri="{FF2B5EF4-FFF2-40B4-BE49-F238E27FC236}">
                <a16:creationId xmlns:a16="http://schemas.microsoft.com/office/drawing/2014/main" id="{4D49A881-0FC3-44AA-B06F-F05C08674188}"/>
              </a:ext>
            </a:extLst>
          </p:cNvPr>
          <p:cNvSpPr/>
          <p:nvPr/>
        </p:nvSpPr>
        <p:spPr>
          <a:xfrm rot="5400000">
            <a:off x="3789445" y="5157071"/>
            <a:ext cx="2682240" cy="0"/>
          </a:xfrm>
          <a:prstGeom prst="line">
            <a:avLst/>
          </a:prstGeom>
          <a:solidFill>
            <a:srgbClr val="33CCFF">
              <a:alpha val="5000"/>
            </a:srgbClr>
          </a:solidFill>
          <a:ln w="126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 sz="2400">
              <a:solidFill>
                <a:srgbClr val="33CC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CFA96C-14FB-3449-C0CA-BCD05B748F20}"/>
              </a:ext>
            </a:extLst>
          </p:cNvPr>
          <p:cNvSpPr txBox="1"/>
          <p:nvPr/>
        </p:nvSpPr>
        <p:spPr>
          <a:xfrm>
            <a:off x="5297611" y="4096506"/>
            <a:ext cx="6727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B91AF"/>
                </a:solidFill>
              </a:rPr>
              <a:t>Does return any value</a:t>
            </a:r>
            <a:r>
              <a:rPr lang="en-US" sz="2400" dirty="0">
                <a:solidFill>
                  <a:srgbClr val="2B91AF"/>
                </a:solidFill>
              </a:rPr>
              <a:t>     </a:t>
            </a:r>
          </a:p>
          <a:p>
            <a:r>
              <a:rPr lang="en-US" sz="2400" dirty="0">
                <a:solidFill>
                  <a:srgbClr val="2B91AF"/>
                </a:solidFill>
              </a:rPr>
              <a:t>to the caller.</a:t>
            </a:r>
          </a:p>
          <a:p>
            <a:endParaRPr lang="en-US" sz="2400" dirty="0">
              <a:solidFill>
                <a:srgbClr val="2B91A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25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2F5E49D-83C1-BFCA-21FB-E134C1AF5654}"/>
              </a:ext>
            </a:extLst>
          </p:cNvPr>
          <p:cNvSpPr txBox="1"/>
          <p:nvPr/>
        </p:nvSpPr>
        <p:spPr>
          <a:xfrm>
            <a:off x="513580" y="1255146"/>
            <a:ext cx="7741920" cy="151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200"/>
              </a:lnSpc>
            </a:pPr>
            <a:r>
              <a:rPr lang="en-US" sz="2400" dirty="0" err="1">
                <a:solidFill>
                  <a:srgbClr val="8DA1B9"/>
                </a:solidFill>
                <a:latin typeface="Menlo"/>
              </a:rPr>
              <a:t>returnType</a:t>
            </a:r>
            <a:r>
              <a:rPr lang="en-US" sz="2400" dirty="0">
                <a:solidFill>
                  <a:srgbClr val="8DA1B9"/>
                </a:solidFill>
                <a:latin typeface="Menlo"/>
              </a:rPr>
              <a:t> </a:t>
            </a:r>
            <a:r>
              <a:rPr lang="en-US" sz="2400" dirty="0" err="1">
                <a:solidFill>
                  <a:srgbClr val="C699E3"/>
                </a:solidFill>
                <a:latin typeface="Menlo"/>
              </a:rPr>
              <a:t>functionName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8DA1B9"/>
                </a:solidFill>
                <a:latin typeface="Menlo"/>
              </a:rPr>
              <a:t>parameters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{</a:t>
            </a:r>
          </a:p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F9FAFB"/>
                </a:solidFill>
                <a:latin typeface="Menlo"/>
              </a:rPr>
              <a:t>    </a:t>
            </a:r>
            <a:r>
              <a:rPr lang="en-US" sz="2400" dirty="0">
                <a:solidFill>
                  <a:srgbClr val="8DA1B9"/>
                </a:solidFill>
                <a:latin typeface="Menlo"/>
              </a:rPr>
              <a:t>// Code to execute</a:t>
            </a:r>
            <a:endParaRPr lang="en-US" sz="2400" dirty="0">
              <a:solidFill>
                <a:srgbClr val="F9FAFB"/>
              </a:solidFill>
              <a:latin typeface="Menlo"/>
            </a:endParaRPr>
          </a:p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F9FAFB"/>
                </a:solidFill>
                <a:latin typeface="Menlo"/>
              </a:rPr>
              <a:t>    </a:t>
            </a:r>
            <a:r>
              <a:rPr lang="en-US" sz="2400" dirty="0">
                <a:solidFill>
                  <a:srgbClr val="E9AE7E"/>
                </a:solidFill>
                <a:latin typeface="Menlo"/>
              </a:rPr>
              <a:t>return</a:t>
            </a:r>
            <a:r>
              <a:rPr lang="en-US" sz="2400" dirty="0">
                <a:solidFill>
                  <a:srgbClr val="F9FAFB"/>
                </a:solidFill>
                <a:latin typeface="Menlo"/>
              </a:rPr>
              <a:t> </a:t>
            </a:r>
            <a:r>
              <a:rPr lang="en-US" sz="2400" dirty="0">
                <a:solidFill>
                  <a:srgbClr val="4685E2"/>
                </a:solidFill>
                <a:latin typeface="Menlo"/>
              </a:rPr>
              <a:t>value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2400" dirty="0">
                <a:solidFill>
                  <a:srgbClr val="4685E2"/>
                </a:solidFill>
                <a:latin typeface="Menlo"/>
              </a:rPr>
              <a:t>  </a:t>
            </a:r>
            <a:r>
              <a:rPr lang="en-US" sz="2400" dirty="0">
                <a:solidFill>
                  <a:srgbClr val="8DA1B9"/>
                </a:solidFill>
                <a:latin typeface="Menlo"/>
              </a:rPr>
              <a:t>// (if return Type is not void)</a:t>
            </a:r>
          </a:p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</a:p>
          <a:p>
            <a:pPr latinLnBrk="1">
              <a:lnSpc>
                <a:spcPts val="2200"/>
              </a:lnSpc>
            </a:pPr>
            <a:endParaRPr lang="en-US" sz="2400" dirty="0">
              <a:solidFill>
                <a:srgbClr val="026DA5"/>
              </a:solidFill>
              <a:latin typeface="Menl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CF443B-0888-BCD6-C67C-F249AA1F9002}"/>
              </a:ext>
            </a:extLst>
          </p:cNvPr>
          <p:cNvSpPr txBox="1"/>
          <p:nvPr/>
        </p:nvSpPr>
        <p:spPr>
          <a:xfrm>
            <a:off x="513580" y="604926"/>
            <a:ext cx="774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26DA5"/>
                </a:solidFill>
                <a:cs typeface="Arial"/>
              </a:rPr>
              <a:t>Syntax </a:t>
            </a:r>
            <a:r>
              <a:rPr lang="en-US" sz="2400" b="1" dirty="0">
                <a:solidFill>
                  <a:srgbClr val="FF0000"/>
                </a:solidFill>
                <a:cs typeface="Arial"/>
              </a:rPr>
              <a:t>(Void Functions)</a:t>
            </a:r>
            <a:r>
              <a:rPr lang="en-US" sz="2400" b="1" dirty="0">
                <a:solidFill>
                  <a:srgbClr val="026DA5"/>
                </a:solidFill>
                <a:cs typeface="Arial"/>
              </a:rPr>
              <a:t>:</a:t>
            </a:r>
            <a:endParaRPr lang="ar-EG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0B78D6-8495-A726-A39E-5AFB4574747A}"/>
              </a:ext>
            </a:extLst>
          </p:cNvPr>
          <p:cNvSpPr txBox="1"/>
          <p:nvPr/>
        </p:nvSpPr>
        <p:spPr>
          <a:xfrm>
            <a:off x="595993" y="3332637"/>
            <a:ext cx="77451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Passing(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grade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average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(grade &gt;= average)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"You have passed!\n"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"You have failed!\n"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0C28F-9F84-C0FD-2502-4C3E4FABAFDD}"/>
              </a:ext>
            </a:extLst>
          </p:cNvPr>
          <p:cNvSpPr txBox="1"/>
          <p:nvPr/>
        </p:nvSpPr>
        <p:spPr>
          <a:xfrm>
            <a:off x="513580" y="2840196"/>
            <a:ext cx="774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26DA5"/>
                </a:solidFill>
                <a:cs typeface="Arial"/>
              </a:rPr>
              <a:t>Example:</a:t>
            </a:r>
            <a:endParaRPr lang="ar-EG" sz="2400" dirty="0"/>
          </a:p>
        </p:txBody>
      </p:sp>
      <p:pic>
        <p:nvPicPr>
          <p:cNvPr id="14" name="Picture 1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D5946009-AE0A-9B05-180B-BBFA26A13E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8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81DFDE-3303-A72A-29A2-51B0EEC4FAE8}"/>
              </a:ext>
            </a:extLst>
          </p:cNvPr>
          <p:cNvSpPr txBox="1"/>
          <p:nvPr/>
        </p:nvSpPr>
        <p:spPr>
          <a:xfrm>
            <a:off x="704851" y="664692"/>
            <a:ext cx="898343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grade;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average;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Passing(grade, average);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Function call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047BA-9B96-4F1A-A9EF-B4D3864D7384}"/>
              </a:ext>
            </a:extLst>
          </p:cNvPr>
          <p:cNvSpPr txBox="1"/>
          <p:nvPr/>
        </p:nvSpPr>
        <p:spPr>
          <a:xfrm>
            <a:off x="704851" y="4186259"/>
            <a:ext cx="7741920" cy="151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200"/>
              </a:lnSpc>
            </a:pPr>
            <a:r>
              <a:rPr lang="en-US" sz="2400" dirty="0" err="1">
                <a:solidFill>
                  <a:srgbClr val="8DA1B9"/>
                </a:solidFill>
                <a:latin typeface="Menlo"/>
              </a:rPr>
              <a:t>returnType</a:t>
            </a:r>
            <a:r>
              <a:rPr lang="en-US" sz="2400" dirty="0">
                <a:solidFill>
                  <a:srgbClr val="8DA1B9"/>
                </a:solidFill>
                <a:latin typeface="Menlo"/>
              </a:rPr>
              <a:t> </a:t>
            </a:r>
            <a:r>
              <a:rPr lang="en-US" sz="2400" dirty="0" err="1">
                <a:solidFill>
                  <a:srgbClr val="C699E3"/>
                </a:solidFill>
                <a:latin typeface="Menlo"/>
              </a:rPr>
              <a:t>functionName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8DA1B9"/>
                </a:solidFill>
                <a:latin typeface="Menlo"/>
              </a:rPr>
              <a:t>parameters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{</a:t>
            </a:r>
          </a:p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F9FAFB"/>
                </a:solidFill>
                <a:latin typeface="Menlo"/>
              </a:rPr>
              <a:t>    </a:t>
            </a:r>
            <a:r>
              <a:rPr lang="en-US" sz="2400" dirty="0">
                <a:solidFill>
                  <a:srgbClr val="8DA1B9"/>
                </a:solidFill>
                <a:latin typeface="Menlo"/>
              </a:rPr>
              <a:t>// Code to execute</a:t>
            </a:r>
            <a:endParaRPr lang="en-US" sz="2400" dirty="0">
              <a:solidFill>
                <a:srgbClr val="F9FAFB"/>
              </a:solidFill>
              <a:latin typeface="Menlo"/>
            </a:endParaRPr>
          </a:p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F9FAFB"/>
                </a:solidFill>
                <a:latin typeface="Menlo"/>
              </a:rPr>
              <a:t>    </a:t>
            </a:r>
            <a:r>
              <a:rPr lang="en-US" sz="2400" dirty="0">
                <a:solidFill>
                  <a:srgbClr val="E9AE7E"/>
                </a:solidFill>
                <a:latin typeface="Menlo"/>
              </a:rPr>
              <a:t>return</a:t>
            </a:r>
            <a:r>
              <a:rPr lang="en-US" sz="2400" dirty="0">
                <a:solidFill>
                  <a:srgbClr val="F9FAFB"/>
                </a:solidFill>
                <a:latin typeface="Menlo"/>
              </a:rPr>
              <a:t> </a:t>
            </a:r>
            <a:r>
              <a:rPr lang="en-US" sz="2400" dirty="0">
                <a:solidFill>
                  <a:srgbClr val="4685E2"/>
                </a:solidFill>
                <a:latin typeface="Menlo"/>
              </a:rPr>
              <a:t>value</a:t>
            </a: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2400" dirty="0">
                <a:solidFill>
                  <a:srgbClr val="4685E2"/>
                </a:solidFill>
                <a:latin typeface="Menlo"/>
              </a:rPr>
              <a:t>  </a:t>
            </a:r>
            <a:r>
              <a:rPr lang="en-US" sz="2400" dirty="0">
                <a:solidFill>
                  <a:srgbClr val="8DA1B9"/>
                </a:solidFill>
                <a:latin typeface="Menlo"/>
              </a:rPr>
              <a:t>// (if return Type is not void)</a:t>
            </a:r>
          </a:p>
          <a:p>
            <a:pPr latinLnBrk="1">
              <a:lnSpc>
                <a:spcPts val="2200"/>
              </a:lnSpc>
            </a:pPr>
            <a:r>
              <a:rPr lang="en-US" sz="2400" dirty="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</a:p>
          <a:p>
            <a:pPr latinLnBrk="1">
              <a:lnSpc>
                <a:spcPts val="2200"/>
              </a:lnSpc>
            </a:pPr>
            <a:endParaRPr lang="en-US" sz="2400" dirty="0">
              <a:solidFill>
                <a:srgbClr val="026DA5"/>
              </a:solidFill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C1D4B-5865-70B9-24E9-931B06E572A0}"/>
              </a:ext>
            </a:extLst>
          </p:cNvPr>
          <p:cNvSpPr txBox="1"/>
          <p:nvPr/>
        </p:nvSpPr>
        <p:spPr>
          <a:xfrm>
            <a:off x="704851" y="3429001"/>
            <a:ext cx="774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26DA5"/>
                </a:solidFill>
                <a:cs typeface="Arial"/>
              </a:rPr>
              <a:t>Syntax </a:t>
            </a:r>
            <a:r>
              <a:rPr lang="en-US" sz="2400" b="1" dirty="0">
                <a:solidFill>
                  <a:srgbClr val="FF0000"/>
                </a:solidFill>
                <a:cs typeface="Arial"/>
              </a:rPr>
              <a:t>(Return Functions)</a:t>
            </a:r>
            <a:r>
              <a:rPr lang="en-US" sz="2400" b="1" dirty="0">
                <a:solidFill>
                  <a:srgbClr val="026DA5"/>
                </a:solidFill>
                <a:cs typeface="Arial"/>
              </a:rPr>
              <a:t>:</a:t>
            </a:r>
            <a:endParaRPr lang="ar-EG" sz="2400" dirty="0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7E50030-B9D0-3015-F1CE-4F4BB60CC0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84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A96D1F7-670E-C6AE-F9E1-73A62513BA78}"/>
              </a:ext>
            </a:extLst>
          </p:cNvPr>
          <p:cNvSpPr txBox="1"/>
          <p:nvPr/>
        </p:nvSpPr>
        <p:spPr>
          <a:xfrm>
            <a:off x="802823" y="620367"/>
            <a:ext cx="77451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sum = a + b;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sum;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return value to caller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8AD40-23FC-FEF8-2446-1010FE142F08}"/>
              </a:ext>
            </a:extLst>
          </p:cNvPr>
          <p:cNvSpPr txBox="1"/>
          <p:nvPr/>
        </p:nvSpPr>
        <p:spPr>
          <a:xfrm>
            <a:off x="802823" y="2883889"/>
            <a:ext cx="77451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 = add(5, 3);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function call</a:t>
            </a:r>
          </a:p>
          <a:p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"Sum = %d\n"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result);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2D2EFE-C511-A20D-296B-DFB08A957B47}"/>
              </a:ext>
            </a:extLst>
          </p:cNvPr>
          <p:cNvSpPr txBox="1"/>
          <p:nvPr/>
        </p:nvSpPr>
        <p:spPr>
          <a:xfrm>
            <a:off x="806087" y="2306126"/>
            <a:ext cx="774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26DA5"/>
                </a:solidFill>
                <a:cs typeface="Arial"/>
              </a:rPr>
              <a:t>Example:</a:t>
            </a:r>
            <a:endParaRPr lang="ar-EG" sz="2400" dirty="0"/>
          </a:p>
        </p:txBody>
      </p:sp>
      <p:pic>
        <p:nvPicPr>
          <p:cNvPr id="13" name="Picture 1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0D2D75B-8626-796D-5EFB-255E6026AF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21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71913-E394-F1BC-AEF0-EC434C0EF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F8E14E8B-CCAE-1E14-CFF8-8878558A2B65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DC8369A-F8AC-ECA8-A9BC-995BDEA4D0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334D26-F7EC-3B9C-CB90-D20AB9510EA0}"/>
              </a:ext>
            </a:extLst>
          </p:cNvPr>
          <p:cNvSpPr txBox="1"/>
          <p:nvPr/>
        </p:nvSpPr>
        <p:spPr>
          <a:xfrm>
            <a:off x="530578" y="538356"/>
            <a:ext cx="11661421" cy="160043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3.2- Functions</a:t>
            </a:r>
            <a:br>
              <a:rPr lang="en-US" sz="3200" b="1" dirty="0">
                <a:solidFill>
                  <a:srgbClr val="004567"/>
                </a:solidFill>
                <a:latin typeface="IBM Plex Mono"/>
              </a:rPr>
            </a:br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B4C1C18-4D35-ABDB-4938-65785916C0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05DFC-2E7B-A9A3-6E56-53BF266DFB5E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3843B4-A13C-44DB-D180-250F5E9B7CFB}"/>
              </a:ext>
            </a:extLst>
          </p:cNvPr>
          <p:cNvSpPr txBox="1"/>
          <p:nvPr/>
        </p:nvSpPr>
        <p:spPr>
          <a:xfrm>
            <a:off x="530577" y="1840929"/>
            <a:ext cx="6244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026DA5"/>
                </a:solidFill>
                <a:cs typeface="Arial"/>
              </a:rPr>
              <a:t>Without Function (Repeated Code):</a:t>
            </a:r>
            <a:endParaRPr lang="ar-EG" sz="2400" b="1">
              <a:solidFill>
                <a:srgbClr val="026DA5"/>
              </a:solidFill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5E07A-4A4D-AB63-8F9B-3D8B031A14A0}"/>
              </a:ext>
            </a:extLst>
          </p:cNvPr>
          <p:cNvSpPr txBox="1"/>
          <p:nvPr/>
        </p:nvSpPr>
        <p:spPr>
          <a:xfrm>
            <a:off x="530577" y="2481858"/>
            <a:ext cx="77451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p1 = 100;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p2 = 250;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p3 = 400;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total1 = p1 + (p1 * 14 / 100);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total2 = p2 + (p2 * 14 / 100);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total3 = p3 + (p3 * 14 / 100);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69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915203-9B70-BA33-0989-CC2B7B1770E7}"/>
              </a:ext>
            </a:extLst>
          </p:cNvPr>
          <p:cNvSpPr txBox="1"/>
          <p:nvPr/>
        </p:nvSpPr>
        <p:spPr>
          <a:xfrm>
            <a:off x="530577" y="1629612"/>
            <a:ext cx="77451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"Total 1 = %d\n"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total1);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"Total 2 = %d\n"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total2);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"Total 3 = %d\n"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total3);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pic>
        <p:nvPicPr>
          <p:cNvPr id="6" name="Picture 5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226A305-BCF4-BB3E-9D21-B737D2C882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DE6D32-DF2F-6548-703D-B8F5565B8281}"/>
              </a:ext>
            </a:extLst>
          </p:cNvPr>
          <p:cNvSpPr txBox="1"/>
          <p:nvPr/>
        </p:nvSpPr>
        <p:spPr>
          <a:xfrm>
            <a:off x="530578" y="538356"/>
            <a:ext cx="11661421" cy="160043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3.2- Functions</a:t>
            </a:r>
            <a:br>
              <a:rPr lang="en-US" sz="3200" b="1" dirty="0">
                <a:solidFill>
                  <a:srgbClr val="004567"/>
                </a:solidFill>
                <a:latin typeface="IBM Plex Mono"/>
              </a:rPr>
            </a:br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</p:txBody>
      </p:sp>
    </p:spTree>
    <p:extLst>
      <p:ext uri="{BB962C8B-B14F-4D97-AF65-F5344CB8AC3E}">
        <p14:creationId xmlns:p14="http://schemas.microsoft.com/office/powerpoint/2010/main" val="2745787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3E1EC-828F-2EB0-DBD8-5DDFB851A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BB8EF3B9-4287-A971-A98D-85E2FCDD494B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AFAAD32-2837-BFF3-8CA8-6D4B59C93B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D31CAD-1231-E6EC-7752-92B313F7EC50}"/>
              </a:ext>
            </a:extLst>
          </p:cNvPr>
          <p:cNvSpPr txBox="1"/>
          <p:nvPr/>
        </p:nvSpPr>
        <p:spPr>
          <a:xfrm>
            <a:off x="530578" y="538357"/>
            <a:ext cx="11661421" cy="615553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3.2-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1B9EF-AC28-DA32-1AC6-B3C6C4FD55B5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60334F-04E2-64A6-3EE0-C41D9CF39372}"/>
              </a:ext>
            </a:extLst>
          </p:cNvPr>
          <p:cNvSpPr txBox="1"/>
          <p:nvPr/>
        </p:nvSpPr>
        <p:spPr>
          <a:xfrm>
            <a:off x="530577" y="1348486"/>
            <a:ext cx="6244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26DA5"/>
                </a:solidFill>
                <a:cs typeface="Arial"/>
              </a:rPr>
              <a:t>With Function (Clean Code):</a:t>
            </a:r>
            <a:endParaRPr lang="ar-EG" sz="2400" b="1" dirty="0">
              <a:solidFill>
                <a:srgbClr val="026DA5"/>
              </a:solidFill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EDD34-9D12-FF04-909D-EC2ABFC0D53B}"/>
              </a:ext>
            </a:extLst>
          </p:cNvPr>
          <p:cNvSpPr txBox="1"/>
          <p:nvPr/>
        </p:nvSpPr>
        <p:spPr>
          <a:xfrm>
            <a:off x="530578" y="1907387"/>
            <a:ext cx="963567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calculateTotal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price + (price * 14 / 100);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p1 = 100;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p2 = 250;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p3 = 400;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"Total 1 = %d\n"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calculateTotal(p1));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"Total 2 = %d\n"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calculateTotal(p2));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"Total 3 = %d\n"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calculateTotal(p3));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5198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C6815-194A-73AC-A371-F3E3C907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FF097BA2-83EB-A86E-7346-2281BF578A44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2F8E7570-27E8-17C5-FE44-BD7861C5F4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60AAAC-2ED1-7EA9-EC7D-A508818DB127}"/>
              </a:ext>
            </a:extLst>
          </p:cNvPr>
          <p:cNvSpPr txBox="1"/>
          <p:nvPr/>
        </p:nvSpPr>
        <p:spPr>
          <a:xfrm>
            <a:off x="530578" y="538357"/>
            <a:ext cx="11661421" cy="3323987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3.3- Pointers</a:t>
            </a:r>
            <a:br>
              <a:rPr lang="en-US" sz="3200" b="1" dirty="0">
                <a:solidFill>
                  <a:srgbClr val="004567"/>
                </a:solidFill>
                <a:latin typeface="IBM Plex Mono"/>
              </a:rPr>
            </a:br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Pointer is a </a:t>
            </a:r>
            <a:r>
              <a:rPr lang="en-US" sz="2400" b="1" dirty="0">
                <a:solidFill>
                  <a:srgbClr val="026DA5"/>
                </a:solidFill>
                <a:latin typeface="Arial"/>
                <a:cs typeface="Arial"/>
              </a:rPr>
              <a:t>variable</a:t>
            </a:r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 that stores the </a:t>
            </a:r>
            <a:r>
              <a:rPr lang="en-US" sz="2400" b="1" dirty="0">
                <a:solidFill>
                  <a:srgbClr val="026DA5"/>
                </a:solidFill>
                <a:latin typeface="Arial"/>
                <a:cs typeface="Arial"/>
              </a:rPr>
              <a:t>memory address </a:t>
            </a:r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of another variable.</a:t>
            </a:r>
            <a:b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It “points” to where data is stored in memory</a:t>
            </a:r>
            <a:br>
              <a:rPr lang="en-US" sz="3200" dirty="0">
                <a:solidFill>
                  <a:srgbClr val="026DA5"/>
                </a:solidFill>
                <a:cs typeface="Arial"/>
              </a:rPr>
            </a:br>
            <a:endParaRPr lang="ar-EG" sz="3200" dirty="0">
              <a:solidFill>
                <a:srgbClr val="026DA5"/>
              </a:solidFill>
              <a:cs typeface="Arial"/>
            </a:endParaRP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CBE922-34C9-8262-593A-0AEF913ECF8B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AEF4EF-4CC2-75E3-B0C1-86AA7652F3CB}"/>
              </a:ext>
            </a:extLst>
          </p:cNvPr>
          <p:cNvSpPr txBox="1"/>
          <p:nvPr/>
        </p:nvSpPr>
        <p:spPr>
          <a:xfrm>
            <a:off x="3180080" y="1896465"/>
            <a:ext cx="774192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</a:pPr>
            <a:endParaRPr lang="en-US" sz="2400">
              <a:solidFill>
                <a:schemeClr val="accent1">
                  <a:lumMod val="60000"/>
                  <a:lumOff val="40000"/>
                </a:schemeClr>
              </a:solidFill>
              <a:latin typeface="quote-cjk-patch"/>
            </a:endParaRPr>
          </a:p>
          <a:p>
            <a:pPr>
              <a:buNone/>
            </a:pPr>
            <a:br>
              <a:rPr lang="en-US" sz="240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ar-EG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30F2F8-8C1C-D901-43B2-5F97C7194A97}"/>
              </a:ext>
            </a:extLst>
          </p:cNvPr>
          <p:cNvSpPr txBox="1"/>
          <p:nvPr/>
        </p:nvSpPr>
        <p:spPr>
          <a:xfrm>
            <a:off x="485601" y="2661086"/>
            <a:ext cx="7741920" cy="218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200"/>
              </a:lnSpc>
            </a:pPr>
            <a:r>
              <a:rPr lang="en-US" sz="2000" b="1">
                <a:solidFill>
                  <a:srgbClr val="004567"/>
                </a:solidFill>
                <a:latin typeface="IBM Plex Mono"/>
              </a:rPr>
              <a:t>Asterisk (*)</a:t>
            </a:r>
            <a:br>
              <a:rPr lang="en-US" sz="200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en-US" sz="2000">
                <a:solidFill>
                  <a:srgbClr val="026DA5"/>
                </a:solidFill>
                <a:cs typeface="Arial"/>
              </a:rPr>
              <a:t>Used to declare a pointer variable</a:t>
            </a:r>
            <a:br>
              <a:rPr lang="en-US" sz="2000">
                <a:solidFill>
                  <a:srgbClr val="026DA5"/>
                </a:solidFill>
                <a:cs typeface="Arial"/>
              </a:rPr>
            </a:br>
            <a:r>
              <a:rPr lang="en-US" sz="1867">
                <a:solidFill>
                  <a:srgbClr val="4685E2"/>
                </a:solidFill>
                <a:latin typeface="Menlo"/>
              </a:rPr>
              <a:t>int </a:t>
            </a:r>
            <a:r>
              <a:rPr lang="en-US" sz="1867">
                <a:solidFill>
                  <a:srgbClr val="E9AE7E"/>
                </a:solidFill>
                <a:latin typeface="Menlo"/>
              </a:rPr>
              <a:t>x</a:t>
            </a:r>
            <a:r>
              <a:rPr lang="en-US" sz="1867">
                <a:solidFill>
                  <a:srgbClr val="E6D37A"/>
                </a:solidFill>
                <a:latin typeface="Menlo"/>
              </a:rPr>
              <a:t> =</a:t>
            </a:r>
            <a:r>
              <a:rPr lang="en-US" sz="1867">
                <a:solidFill>
                  <a:srgbClr val="F9FAFB"/>
                </a:solidFill>
                <a:latin typeface="Menlo"/>
              </a:rPr>
              <a:t> </a:t>
            </a:r>
            <a:r>
              <a:rPr lang="en-US" sz="1867">
                <a:solidFill>
                  <a:srgbClr val="E9AE7E"/>
                </a:solidFill>
                <a:latin typeface="Menlo"/>
              </a:rPr>
              <a:t>42</a:t>
            </a:r>
            <a:r>
              <a:rPr lang="en-US" sz="1867">
                <a:solidFill>
                  <a:srgbClr val="E6D37A"/>
                </a:solidFill>
                <a:latin typeface="Menlo"/>
              </a:rPr>
              <a:t>;</a:t>
            </a:r>
            <a:r>
              <a:rPr lang="en-US" sz="1867">
                <a:solidFill>
                  <a:srgbClr val="F9FAFB"/>
                </a:solidFill>
                <a:latin typeface="Menlo"/>
              </a:rPr>
              <a:t>              </a:t>
            </a:r>
            <a:r>
              <a:rPr lang="en-US" sz="1867">
                <a:solidFill>
                  <a:srgbClr val="8DA1B9"/>
                </a:solidFill>
                <a:latin typeface="Menlo"/>
              </a:rPr>
              <a:t>// x = 42</a:t>
            </a:r>
            <a:endParaRPr lang="en-US" sz="1867">
              <a:solidFill>
                <a:srgbClr val="F9FAFB"/>
              </a:solidFill>
              <a:latin typeface="Menlo"/>
            </a:endParaRPr>
          </a:p>
          <a:p>
            <a:pPr latinLnBrk="1">
              <a:lnSpc>
                <a:spcPts val="2200"/>
              </a:lnSpc>
            </a:pPr>
            <a:r>
              <a:rPr lang="en-US" sz="1867">
                <a:solidFill>
                  <a:srgbClr val="4685E2"/>
                </a:solidFill>
                <a:latin typeface="Menlo"/>
              </a:rPr>
              <a:t>int</a:t>
            </a:r>
            <a:r>
              <a:rPr lang="en-US" sz="1867">
                <a:solidFill>
                  <a:srgbClr val="F9FAFB"/>
                </a:solidFill>
                <a:latin typeface="Menlo"/>
              </a:rPr>
              <a:t> </a:t>
            </a:r>
            <a:r>
              <a:rPr lang="en-US" sz="1867">
                <a:solidFill>
                  <a:srgbClr val="E9AE7E"/>
                </a:solidFill>
                <a:latin typeface="Menlo"/>
              </a:rPr>
              <a:t>*</a:t>
            </a:r>
            <a:r>
              <a:rPr lang="en-US" sz="1867" err="1">
                <a:solidFill>
                  <a:srgbClr val="C699E3"/>
                </a:solidFill>
                <a:latin typeface="Menlo"/>
              </a:rPr>
              <a:t>ptr</a:t>
            </a:r>
            <a:r>
              <a:rPr lang="en-US" sz="1867">
                <a:solidFill>
                  <a:srgbClr val="E6D37A"/>
                </a:solidFill>
                <a:latin typeface="Menlo"/>
              </a:rPr>
              <a:t>;</a:t>
            </a:r>
            <a:r>
              <a:rPr lang="en-US" sz="1867">
                <a:solidFill>
                  <a:schemeClr val="accent1">
                    <a:lumMod val="60000"/>
                    <a:lumOff val="40000"/>
                  </a:schemeClr>
                </a:solidFill>
                <a:latin typeface="Menlo"/>
              </a:rPr>
              <a:t>             </a:t>
            </a:r>
            <a:r>
              <a:rPr lang="en-US" sz="1867">
                <a:solidFill>
                  <a:srgbClr val="F9FAFB"/>
                </a:solidFill>
                <a:latin typeface="Menlo"/>
              </a:rPr>
              <a:t>    </a:t>
            </a:r>
            <a:r>
              <a:rPr lang="en-US" sz="1867">
                <a:solidFill>
                  <a:srgbClr val="8DA1B9"/>
                </a:solidFill>
                <a:latin typeface="Menlo"/>
              </a:rPr>
              <a:t>// * means "</a:t>
            </a:r>
            <a:r>
              <a:rPr lang="en-US" sz="1867" err="1">
                <a:solidFill>
                  <a:srgbClr val="8DA1B9"/>
                </a:solidFill>
                <a:latin typeface="Menlo"/>
              </a:rPr>
              <a:t>ptr</a:t>
            </a:r>
            <a:r>
              <a:rPr lang="en-US" sz="1867">
                <a:solidFill>
                  <a:srgbClr val="8DA1B9"/>
                </a:solidFill>
                <a:latin typeface="Menlo"/>
              </a:rPr>
              <a:t> is a pointer to an int"</a:t>
            </a:r>
            <a:endParaRPr lang="en-US" sz="1867">
              <a:solidFill>
                <a:srgbClr val="F9FAFB"/>
              </a:solidFill>
              <a:latin typeface="Menlo"/>
            </a:endParaRPr>
          </a:p>
          <a:p>
            <a:pPr>
              <a:lnSpc>
                <a:spcPts val="2500"/>
              </a:lnSpc>
            </a:pPr>
            <a:br>
              <a:rPr lang="en-US" sz="2000">
                <a:solidFill>
                  <a:srgbClr val="026DA5"/>
                </a:solidFill>
                <a:latin typeface="Arial"/>
                <a:cs typeface="Arial"/>
              </a:rPr>
            </a:br>
            <a:endParaRPr lang="en-US" sz="2000">
              <a:solidFill>
                <a:srgbClr val="026DA5"/>
              </a:solidFill>
              <a:cs typeface="Arial"/>
            </a:endParaRPr>
          </a:p>
          <a:p>
            <a:pPr>
              <a:lnSpc>
                <a:spcPts val="2500"/>
              </a:lnSpc>
            </a:pPr>
            <a:endParaRPr lang="en-US" sz="2400">
              <a:solidFill>
                <a:schemeClr val="accent1">
                  <a:lumMod val="60000"/>
                  <a:lumOff val="40000"/>
                </a:schemeClr>
              </a:solidFill>
              <a:latin typeface="quote-cjk-patch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03441F-6871-B262-7A76-A44D94ACE032}"/>
              </a:ext>
            </a:extLst>
          </p:cNvPr>
          <p:cNvSpPr txBox="1"/>
          <p:nvPr/>
        </p:nvSpPr>
        <p:spPr>
          <a:xfrm>
            <a:off x="485601" y="4285989"/>
            <a:ext cx="774192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200"/>
              </a:lnSpc>
            </a:pPr>
            <a:r>
              <a:rPr lang="en-US" sz="2133" b="1">
                <a:solidFill>
                  <a:srgbClr val="004567"/>
                </a:solidFill>
                <a:latin typeface="IBM Plex Mono"/>
              </a:rPr>
              <a:t>Ampersand (&amp;)</a:t>
            </a:r>
            <a:br>
              <a:rPr lang="en-US" sz="2133">
                <a:solidFill>
                  <a:srgbClr val="026DA5"/>
                </a:solidFill>
                <a:cs typeface="Arial"/>
              </a:rPr>
            </a:br>
            <a:r>
              <a:rPr lang="en-US" sz="2133">
                <a:solidFill>
                  <a:srgbClr val="026DA5"/>
                </a:solidFill>
                <a:cs typeface="Arial"/>
              </a:rPr>
              <a:t>gets the address of a variable</a:t>
            </a:r>
            <a:br>
              <a:rPr lang="en-US" sz="2133">
                <a:solidFill>
                  <a:srgbClr val="F9FAFB"/>
                </a:solidFill>
                <a:latin typeface="Menlo"/>
              </a:rPr>
            </a:br>
            <a:endParaRPr lang="en-US" sz="2133">
              <a:solidFill>
                <a:srgbClr val="F9FAFB"/>
              </a:solidFill>
              <a:latin typeface="Menlo"/>
            </a:endParaRPr>
          </a:p>
          <a:p>
            <a:pPr latinLnBrk="1">
              <a:lnSpc>
                <a:spcPts val="2200"/>
              </a:lnSpc>
            </a:pPr>
            <a:r>
              <a:rPr lang="en-US" sz="1867" err="1">
                <a:solidFill>
                  <a:srgbClr val="4685E2"/>
                </a:solidFill>
                <a:latin typeface="Menlo"/>
              </a:rPr>
              <a:t>ptr</a:t>
            </a:r>
            <a:r>
              <a:rPr lang="en-US" sz="1867">
                <a:solidFill>
                  <a:srgbClr val="F9FAFB"/>
                </a:solidFill>
                <a:latin typeface="Menlo"/>
              </a:rPr>
              <a:t> </a:t>
            </a:r>
            <a:r>
              <a:rPr lang="en-US" sz="1867">
                <a:solidFill>
                  <a:srgbClr val="E6D37A"/>
                </a:solidFill>
                <a:latin typeface="Menlo"/>
              </a:rPr>
              <a:t>= </a:t>
            </a:r>
            <a:r>
              <a:rPr lang="en-US" sz="1867">
                <a:solidFill>
                  <a:srgbClr val="E9AE7E"/>
                </a:solidFill>
                <a:latin typeface="Menlo"/>
              </a:rPr>
              <a:t>&amp;x</a:t>
            </a:r>
            <a:r>
              <a:rPr lang="en-US" sz="1867">
                <a:solidFill>
                  <a:srgbClr val="E6D37A"/>
                </a:solidFill>
                <a:latin typeface="Menlo"/>
              </a:rPr>
              <a:t>; </a:t>
            </a:r>
            <a:r>
              <a:rPr lang="en-US" sz="1867">
                <a:solidFill>
                  <a:srgbClr val="F9FAFB"/>
                </a:solidFill>
                <a:latin typeface="Menlo"/>
              </a:rPr>
              <a:t>                </a:t>
            </a:r>
            <a:r>
              <a:rPr lang="en-US" sz="1867">
                <a:solidFill>
                  <a:srgbClr val="8DA1B9"/>
                </a:solidFill>
                <a:latin typeface="Menlo"/>
              </a:rPr>
              <a:t>// &amp; gets x's address, stores it in </a:t>
            </a:r>
            <a:r>
              <a:rPr lang="en-US" sz="1867" err="1">
                <a:solidFill>
                  <a:srgbClr val="8DA1B9"/>
                </a:solidFill>
                <a:latin typeface="Menlo"/>
              </a:rPr>
              <a:t>ptr</a:t>
            </a:r>
            <a:endParaRPr lang="en-US" sz="1867">
              <a:solidFill>
                <a:srgbClr val="F9FAFB"/>
              </a:solidFill>
              <a:latin typeface="Menlo"/>
            </a:endParaRPr>
          </a:p>
          <a:p>
            <a:pPr latinLnBrk="1">
              <a:lnSpc>
                <a:spcPts val="2200"/>
              </a:lnSpc>
            </a:pPr>
            <a:r>
              <a:rPr lang="en-US" sz="1867">
                <a:solidFill>
                  <a:srgbClr val="4685E2"/>
                </a:solidFill>
                <a:latin typeface="Menlo"/>
              </a:rPr>
              <a:t>int</a:t>
            </a:r>
            <a:r>
              <a:rPr lang="en-US" sz="1867">
                <a:solidFill>
                  <a:schemeClr val="accent1">
                    <a:lumMod val="60000"/>
                    <a:lumOff val="40000"/>
                  </a:schemeClr>
                </a:solidFill>
                <a:latin typeface="Menlo"/>
              </a:rPr>
              <a:t> </a:t>
            </a:r>
            <a:r>
              <a:rPr lang="en-US" sz="1867">
                <a:solidFill>
                  <a:srgbClr val="6CB8E6"/>
                </a:solidFill>
                <a:latin typeface="Menlo"/>
              </a:rPr>
              <a:t>value</a:t>
            </a:r>
            <a:r>
              <a:rPr lang="en-US" sz="1867">
                <a:solidFill>
                  <a:schemeClr val="accent1">
                    <a:lumMod val="60000"/>
                    <a:lumOff val="40000"/>
                  </a:schemeClr>
                </a:solidFill>
                <a:latin typeface="Menlo"/>
              </a:rPr>
              <a:t> </a:t>
            </a:r>
            <a:r>
              <a:rPr lang="en-US" sz="1867">
                <a:solidFill>
                  <a:srgbClr val="E6D37A"/>
                </a:solidFill>
                <a:latin typeface="Menlo"/>
              </a:rPr>
              <a:t>=</a:t>
            </a:r>
            <a:r>
              <a:rPr lang="en-US" sz="1867">
                <a:solidFill>
                  <a:srgbClr val="F9FAFB"/>
                </a:solidFill>
                <a:latin typeface="Menlo"/>
              </a:rPr>
              <a:t> </a:t>
            </a:r>
            <a:r>
              <a:rPr lang="en-US" sz="1867">
                <a:solidFill>
                  <a:srgbClr val="E9AE7E"/>
                </a:solidFill>
                <a:latin typeface="Menlo"/>
              </a:rPr>
              <a:t>*</a:t>
            </a:r>
            <a:r>
              <a:rPr lang="en-US" sz="1867" err="1">
                <a:solidFill>
                  <a:srgbClr val="C699E3"/>
                </a:solidFill>
                <a:latin typeface="Menlo"/>
              </a:rPr>
              <a:t>ptr</a:t>
            </a:r>
            <a:r>
              <a:rPr lang="en-US" sz="1867">
                <a:solidFill>
                  <a:srgbClr val="E6D37A"/>
                </a:solidFill>
                <a:latin typeface="Menlo"/>
              </a:rPr>
              <a:t>;</a:t>
            </a:r>
            <a:r>
              <a:rPr lang="en-US" sz="1867">
                <a:solidFill>
                  <a:schemeClr val="accent1">
                    <a:lumMod val="60000"/>
                    <a:lumOff val="40000"/>
                  </a:schemeClr>
                </a:solidFill>
                <a:latin typeface="Menlo"/>
              </a:rPr>
              <a:t>    </a:t>
            </a:r>
            <a:r>
              <a:rPr lang="en-US" sz="1867">
                <a:solidFill>
                  <a:srgbClr val="8DA1B9"/>
                </a:solidFill>
                <a:latin typeface="Menlo"/>
              </a:rPr>
              <a:t>// * gets the value at address </a:t>
            </a:r>
            <a:r>
              <a:rPr lang="en-US" sz="1867" err="1">
                <a:solidFill>
                  <a:srgbClr val="8DA1B9"/>
                </a:solidFill>
                <a:latin typeface="Menlo"/>
              </a:rPr>
              <a:t>ptr</a:t>
            </a:r>
            <a:r>
              <a:rPr lang="en-US" sz="1867">
                <a:solidFill>
                  <a:srgbClr val="8DA1B9"/>
                </a:solidFill>
                <a:latin typeface="Menlo"/>
              </a:rPr>
              <a:t> (42)</a:t>
            </a:r>
            <a:br>
              <a:rPr lang="en-US" sz="1867">
                <a:solidFill>
                  <a:srgbClr val="F9FAFB"/>
                </a:solidFill>
                <a:latin typeface="Menlo"/>
              </a:rPr>
            </a:br>
            <a:r>
              <a:rPr lang="en-US" sz="1867">
                <a:solidFill>
                  <a:srgbClr val="E9AE7E"/>
                </a:solidFill>
                <a:latin typeface="Menlo"/>
              </a:rPr>
              <a:t>*</a:t>
            </a:r>
            <a:r>
              <a:rPr lang="en-US" sz="1867" err="1">
                <a:solidFill>
                  <a:srgbClr val="C699E3"/>
                </a:solidFill>
                <a:latin typeface="Menlo"/>
              </a:rPr>
              <a:t>ptr</a:t>
            </a:r>
            <a:r>
              <a:rPr lang="en-US" sz="1867">
                <a:solidFill>
                  <a:srgbClr val="F9FAFB"/>
                </a:solidFill>
                <a:latin typeface="Menlo"/>
              </a:rPr>
              <a:t> </a:t>
            </a:r>
            <a:r>
              <a:rPr lang="en-US" sz="1867">
                <a:solidFill>
                  <a:srgbClr val="E6D37A"/>
                </a:solidFill>
                <a:latin typeface="Menlo"/>
              </a:rPr>
              <a:t>= </a:t>
            </a:r>
            <a:r>
              <a:rPr lang="en-US" sz="1867">
                <a:solidFill>
                  <a:srgbClr val="E9AE7E"/>
                </a:solidFill>
                <a:latin typeface="Menlo"/>
              </a:rPr>
              <a:t>100</a:t>
            </a:r>
            <a:r>
              <a:rPr lang="en-US" sz="1867">
                <a:solidFill>
                  <a:srgbClr val="E6D37A"/>
                </a:solidFill>
                <a:latin typeface="Menlo"/>
              </a:rPr>
              <a:t>;</a:t>
            </a:r>
            <a:r>
              <a:rPr lang="en-US" sz="1867">
                <a:solidFill>
                  <a:srgbClr val="F9FAFB"/>
                </a:solidFill>
                <a:latin typeface="Menlo"/>
              </a:rPr>
              <a:t>             </a:t>
            </a:r>
            <a:r>
              <a:rPr lang="en-US" sz="1867">
                <a:solidFill>
                  <a:srgbClr val="8DA1B9"/>
                </a:solidFill>
                <a:latin typeface="Menlo"/>
              </a:rPr>
              <a:t>// * changes value at address </a:t>
            </a:r>
            <a:r>
              <a:rPr lang="en-US" sz="1867" err="1">
                <a:solidFill>
                  <a:srgbClr val="8DA1B9"/>
                </a:solidFill>
                <a:latin typeface="Menlo"/>
              </a:rPr>
              <a:t>ptr</a:t>
            </a:r>
            <a:r>
              <a:rPr lang="en-US" sz="1867">
                <a:solidFill>
                  <a:srgbClr val="8DA1B9"/>
                </a:solidFill>
                <a:latin typeface="Menlo"/>
              </a:rPr>
              <a:t> to 100</a:t>
            </a:r>
            <a:endParaRPr lang="en-US" sz="1867">
              <a:solidFill>
                <a:srgbClr val="F9FAFB"/>
              </a:solidFill>
              <a:latin typeface="Menlo"/>
            </a:endParaRPr>
          </a:p>
          <a:p>
            <a:pPr latinLnBrk="1">
              <a:lnSpc>
                <a:spcPts val="2200"/>
              </a:lnSpc>
            </a:pPr>
            <a:r>
              <a:rPr lang="en-US" sz="1867">
                <a:solidFill>
                  <a:srgbClr val="F9FAFB"/>
                </a:solidFill>
                <a:latin typeface="Menlo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422327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B0C53-16EE-6247-7C30-765A5FF2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4FB9E2DA-9D99-24AD-1F84-82192C6601A3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1915453F-15CA-58AD-51AA-46B2C4C83B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706AC9-3BD5-AF55-B812-F77594FE780B}"/>
              </a:ext>
            </a:extLst>
          </p:cNvPr>
          <p:cNvSpPr txBox="1"/>
          <p:nvPr/>
        </p:nvSpPr>
        <p:spPr>
          <a:xfrm>
            <a:off x="530578" y="538357"/>
            <a:ext cx="11661421" cy="1354217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3.3- Pointers</a:t>
            </a:r>
            <a:br>
              <a:rPr lang="en-US" sz="3200" b="1" dirty="0">
                <a:solidFill>
                  <a:srgbClr val="004567"/>
                </a:solidFill>
                <a:latin typeface="IBM Plex Mono"/>
              </a:rPr>
            </a:br>
            <a:endParaRPr lang="en-US" sz="2400" dirty="0">
              <a:solidFill>
                <a:srgbClr val="2B91AF"/>
              </a:solidFill>
            </a:endParaRPr>
          </a:p>
          <a:p>
            <a:r>
              <a:rPr lang="en-US" sz="2400" dirty="0">
                <a:solidFill>
                  <a:srgbClr val="2B91AF"/>
                </a:solidFill>
                <a:latin typeface="IBM Plex Mono"/>
              </a:rPr>
              <a:t>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7046D-A08A-F02F-7403-DD607EA7F7F4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5ABEA-1B04-9858-AF07-FCE3B39236E4}"/>
              </a:ext>
            </a:extLst>
          </p:cNvPr>
          <p:cNvSpPr txBox="1"/>
          <p:nvPr/>
        </p:nvSpPr>
        <p:spPr>
          <a:xfrm>
            <a:off x="530578" y="1215465"/>
            <a:ext cx="1113084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= 10; 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normal variable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  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pointer to int (just defining a pointer</a:t>
            </a: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to point an address of another variable)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&amp;x;   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store address of x in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"Value of x: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x);     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10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"Address of x: %p\n"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&amp;x);  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memory address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"Value via pointer: %d\n"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*ptr); </a:t>
            </a:r>
            <a:r>
              <a:rPr lang="pt-BR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10</a:t>
            </a:r>
          </a:p>
          <a:p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20;  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change x using pointer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"New value of x: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x); 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20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14638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39A45-8C04-0D1F-B1B4-2C7449CF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0B89F34A-756C-5877-A3FA-A6F87FA7F041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96502AA-5946-1352-3F4B-AB8384351D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D7A1AF-B1E1-5D83-BCDB-0E78FF387554}"/>
              </a:ext>
            </a:extLst>
          </p:cNvPr>
          <p:cNvSpPr txBox="1"/>
          <p:nvPr/>
        </p:nvSpPr>
        <p:spPr>
          <a:xfrm>
            <a:off x="530578" y="538356"/>
            <a:ext cx="11661421" cy="160043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3.4- Pointers with Functions</a:t>
            </a:r>
            <a:br>
              <a:rPr lang="en-US" sz="3200" b="1" dirty="0">
                <a:solidFill>
                  <a:srgbClr val="004567"/>
                </a:solidFill>
                <a:latin typeface="IBM Plex Mono"/>
              </a:rPr>
            </a:br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EE0B90-AC25-87CE-9D72-D7E2F53F81D5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AB7F1-F4EE-3775-811F-98F13F488EDC}"/>
              </a:ext>
            </a:extLst>
          </p:cNvPr>
          <p:cNvSpPr txBox="1"/>
          <p:nvPr/>
        </p:nvSpPr>
        <p:spPr>
          <a:xfrm>
            <a:off x="3180080" y="1896465"/>
            <a:ext cx="774192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</a:pPr>
            <a:endParaRPr lang="en-US" sz="2400">
              <a:solidFill>
                <a:schemeClr val="accent1">
                  <a:lumMod val="60000"/>
                  <a:lumOff val="40000"/>
                </a:schemeClr>
              </a:solidFill>
              <a:latin typeface="quote-cjk-patch"/>
            </a:endParaRPr>
          </a:p>
          <a:p>
            <a:pPr>
              <a:buNone/>
            </a:pPr>
            <a:br>
              <a:rPr lang="en-US" sz="240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ar-EG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A54D5-C5FC-6F0A-4726-F485CAFE8E8A}"/>
              </a:ext>
            </a:extLst>
          </p:cNvPr>
          <p:cNvSpPr txBox="1"/>
          <p:nvPr/>
        </p:nvSpPr>
        <p:spPr>
          <a:xfrm>
            <a:off x="483969" y="2063869"/>
            <a:ext cx="77451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Function to swap two integers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swap(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 = *a;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*a = *b;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*b = temp;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938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8A12C4-EB74-376E-F576-2AFE3B9F262B}"/>
              </a:ext>
            </a:extLst>
          </p:cNvPr>
          <p:cNvSpPr txBox="1"/>
          <p:nvPr/>
        </p:nvSpPr>
        <p:spPr>
          <a:xfrm>
            <a:off x="617765" y="1395219"/>
            <a:ext cx="7745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main(){</a:t>
            </a:r>
          </a:p>
          <a:p>
            <a:r>
              <a:rPr lang="es-E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s-E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= 10, y = 20;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s-E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s-E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s-E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s-E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Before</a:t>
            </a:r>
            <a:r>
              <a:rPr lang="es-E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swap: x = %d, y = %d\n"</a:t>
            </a:r>
            <a:r>
              <a:rPr lang="es-E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x, y);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swap(&amp;x, &amp;y);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pass addresses of x and y</a:t>
            </a:r>
          </a:p>
          <a:p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"After swap: x = %d, y =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x, y);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Output: After swap: x = 20, y = 10</a:t>
            </a:r>
          </a:p>
          <a:p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 0;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9DBC2-BE65-0D3E-7602-8981A7E0C05A}"/>
              </a:ext>
            </a:extLst>
          </p:cNvPr>
          <p:cNvSpPr txBox="1"/>
          <p:nvPr/>
        </p:nvSpPr>
        <p:spPr>
          <a:xfrm>
            <a:off x="530578" y="538356"/>
            <a:ext cx="11661421" cy="160043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3.4- Pointers with Functions</a:t>
            </a:r>
            <a:br>
              <a:rPr lang="en-US" sz="3200" b="1" dirty="0">
                <a:solidFill>
                  <a:srgbClr val="004567"/>
                </a:solidFill>
                <a:latin typeface="IBM Plex Mono"/>
              </a:rPr>
            </a:br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</p:txBody>
      </p:sp>
      <p:pic>
        <p:nvPicPr>
          <p:cNvPr id="7" name="Picture 6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0C211D56-14DA-580F-4328-093E14E20E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4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05588-46B4-E894-730B-AEDBF075B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9CE45BD0-D9EA-380C-164B-D236A08A4D61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2F517A57-93E3-4067-B926-6BE339E617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9E566A-B447-D7DA-E66F-CFE9B6E480FA}"/>
              </a:ext>
            </a:extLst>
          </p:cNvPr>
          <p:cNvSpPr txBox="1"/>
          <p:nvPr/>
        </p:nvSpPr>
        <p:spPr>
          <a:xfrm>
            <a:off x="530578" y="538356"/>
            <a:ext cx="11661421" cy="2708434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3.5- Arrays</a:t>
            </a:r>
            <a:br>
              <a:rPr lang="en-US" sz="3200" b="1" dirty="0">
                <a:solidFill>
                  <a:srgbClr val="004567"/>
                </a:solidFill>
                <a:latin typeface="IBM Plex Mono"/>
              </a:rPr>
            </a:br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Array is a </a:t>
            </a:r>
            <a:r>
              <a:rPr lang="en-US" sz="2400" b="1" dirty="0">
                <a:solidFill>
                  <a:srgbClr val="026DA5"/>
                </a:solidFill>
                <a:latin typeface="Arial"/>
                <a:cs typeface="Arial"/>
              </a:rPr>
              <a:t>data type </a:t>
            </a:r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that consist of a collection of elements of the same data type stored in contiguous memory locations.</a:t>
            </a:r>
            <a:b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</a:br>
            <a:b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</a:br>
            <a:endParaRPr lang="en-US" sz="3200" b="1" dirty="0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27CDA38-4C01-FB6E-9F8C-0EA4F726B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B0306-332D-3F92-1E6D-8DD7ACC1EEA6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  <p:pic>
        <p:nvPicPr>
          <p:cNvPr id="6" name="Picture 5" descr="A person sitting at a desk writing in a notebook&#10;&#10;AI-generated content may be incorrect.">
            <a:extLst>
              <a:ext uri="{FF2B5EF4-FFF2-40B4-BE49-F238E27FC236}">
                <a16:creationId xmlns:a16="http://schemas.microsoft.com/office/drawing/2014/main" id="{C21E2E5D-F057-455A-1621-A4AB785DE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30769" y1="22143" x2="30154" y2="31071"/>
                        <a14:backgroundMark x1="23692" y1="21071" x2="21538" y2="38214"/>
                        <a14:backgroundMark x1="21538" y1="38214" x2="10769" y2="31429"/>
                        <a14:backgroundMark x1="10769" y1="31429" x2="16000" y2="29643"/>
                        <a14:backgroundMark x1="24923" y1="20714" x2="27077" y2="18571"/>
                        <a14:backgroundMark x1="23692" y1="20000" x2="24615" y2="19286"/>
                        <a14:backgroundMark x1="24615" y1="20357" x2="25538" y2="20000"/>
                        <a14:backgroundMark x1="24000" y1="21429" x2="34462" y2="13214"/>
                        <a14:backgroundMark x1="34462" y1="13214" x2="24000" y2="23214"/>
                        <a14:backgroundMark x1="24000" y1="23214" x2="27077" y2="18929"/>
                        <a14:backgroundMark x1="25538" y1="33571" x2="25538" y2="39643"/>
                        <a14:backgroundMark x1="32923" y1="32143" x2="29538" y2="33571"/>
                        <a14:backgroundMark x1="29538" y1="33571" x2="29538" y2="33571"/>
                        <a14:backgroundMark x1="26769" y1="97143" x2="70154" y2="93929"/>
                        <a14:backgroundMark x1="70154" y1="93929" x2="29846" y2="97143"/>
                        <a14:backgroundMark x1="29846" y1="97143" x2="44923" y2="95714"/>
                        <a14:backgroundMark x1="44923" y1="95714" x2="32000" y2="97857"/>
                        <a14:backgroundMark x1="32000" y1="97857" x2="59692" y2="95000"/>
                        <a14:backgroundMark x1="59692" y1="95000" x2="45231" y2="97857"/>
                        <a14:backgroundMark x1="45231" y1="97857" x2="72000" y2="99286"/>
                        <a14:backgroundMark x1="72000" y1="99286" x2="78154" y2="98571"/>
                        <a14:backgroundMark x1="72615" y1="95357" x2="57231" y2="9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53446"/>
            <a:ext cx="2900567" cy="24989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90B5EA-954C-73EB-E06D-EBE1430030D1}"/>
              </a:ext>
            </a:extLst>
          </p:cNvPr>
          <p:cNvSpPr txBox="1"/>
          <p:nvPr/>
        </p:nvSpPr>
        <p:spPr>
          <a:xfrm>
            <a:off x="2725477" y="3425235"/>
            <a:ext cx="7741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The array name itself is a pointer to the first element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26DA5"/>
                </a:solidFill>
                <a:cs typeface="Arial"/>
              </a:rPr>
              <a:t>Strings in C = character of arrays + null terminator</a:t>
            </a: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9153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E0D2-5B79-80EE-3491-29A6074A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E63A24DE-65FB-781E-C3A6-DB7FBC7742A7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CCD4710-5192-92A2-858B-84D0B0CCE3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2792AF-0FF0-5BFC-EDAA-01C62F4B28CF}"/>
              </a:ext>
            </a:extLst>
          </p:cNvPr>
          <p:cNvSpPr txBox="1"/>
          <p:nvPr/>
        </p:nvSpPr>
        <p:spPr>
          <a:xfrm>
            <a:off x="530578" y="538356"/>
            <a:ext cx="11661421" cy="1107996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3.5- Arrays</a:t>
            </a:r>
            <a:br>
              <a:rPr lang="en-US" sz="3200" b="1" dirty="0">
                <a:solidFill>
                  <a:srgbClr val="004567"/>
                </a:solidFill>
                <a:latin typeface="IBM Plex Mono"/>
              </a:rPr>
            </a:br>
            <a:endParaRPr lang="en-US" sz="3200" b="1" dirty="0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C7E9F6C4-335F-5434-72DB-2ECB153238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4E406-6CA2-E058-455C-F65C22C1B762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48955-D2C6-46A9-8885-4FB242BB2497}"/>
              </a:ext>
            </a:extLst>
          </p:cNvPr>
          <p:cNvSpPr txBox="1"/>
          <p:nvPr/>
        </p:nvSpPr>
        <p:spPr>
          <a:xfrm>
            <a:off x="530577" y="1612871"/>
            <a:ext cx="1119323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numbers[5] = { 10, 20, 30, 40, 50 };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The name 'numbers' is a pointer to the first element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numbers;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Accessing elements via the pointer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"First element: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*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   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prints 10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"Second element: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*(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+ 1));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prints 20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"Third element: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[2]);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prints 30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7132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B3CE2-F394-6D0E-64B5-64E70BFD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C26493F7-9D0A-21F6-6826-8296A068C82D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06071DC9-6A2C-6C86-EEA9-4CE3E8C132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2A71A5-C2E5-CFAC-613F-AFFB57610F36}"/>
              </a:ext>
            </a:extLst>
          </p:cNvPr>
          <p:cNvSpPr txBox="1"/>
          <p:nvPr/>
        </p:nvSpPr>
        <p:spPr>
          <a:xfrm>
            <a:off x="530578" y="538357"/>
            <a:ext cx="11661421" cy="3693319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3.6- Outputs</a:t>
            </a: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Syntax:</a:t>
            </a:r>
          </a:p>
          <a:p>
            <a:endParaRPr lang="en-US" sz="2400" b="1" dirty="0">
              <a:solidFill>
                <a:srgbClr val="004567"/>
              </a:solidFill>
              <a:latin typeface="IBM Plex Mono"/>
            </a:endParaRPr>
          </a:p>
          <a:p>
            <a:pPr marL="380990" indent="-380990"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rgbClr val="004567"/>
                </a:solidFill>
                <a:latin typeface="IBM Plex Mono"/>
              </a:rPr>
              <a:t>printf</a:t>
            </a:r>
            <a:r>
              <a:rPr lang="en-US" sz="2400" dirty="0">
                <a:solidFill>
                  <a:srgbClr val="004567"/>
                </a:solidFill>
                <a:latin typeface="IBM Plex Mono"/>
              </a:rPr>
              <a:t>();</a:t>
            </a:r>
          </a:p>
          <a:p>
            <a:endParaRPr lang="en-US" sz="2400" dirty="0">
              <a:solidFill>
                <a:srgbClr val="004567"/>
              </a:solidFill>
              <a:latin typeface="IBM Plex Mono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4567"/>
                </a:solidFill>
                <a:latin typeface="IBM Plex Mono"/>
              </a:rPr>
              <a:t>But in C we use </a:t>
            </a:r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specifiers</a:t>
            </a:r>
            <a:r>
              <a:rPr lang="en-US" sz="2400" dirty="0">
                <a:solidFill>
                  <a:srgbClr val="004567"/>
                </a:solidFill>
                <a:latin typeface="IBM Plex Mono"/>
              </a:rPr>
              <a:t> to detect the </a:t>
            </a:r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variable’s data type.</a:t>
            </a:r>
            <a:br>
              <a:rPr lang="en-US" sz="3200" b="1" dirty="0">
                <a:solidFill>
                  <a:srgbClr val="004567"/>
                </a:solidFill>
                <a:latin typeface="IBM Plex Mono"/>
              </a:rPr>
            </a:br>
            <a:endParaRPr lang="en-US" sz="2400" b="1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7147029-795D-F187-7352-250F1AF72F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</p:spTree>
    <p:extLst>
      <p:ext uri="{BB962C8B-B14F-4D97-AF65-F5344CB8AC3E}">
        <p14:creationId xmlns:p14="http://schemas.microsoft.com/office/powerpoint/2010/main" val="2420919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9449AA-DC82-CE9F-AD43-255C951E4F13}"/>
              </a:ext>
            </a:extLst>
          </p:cNvPr>
          <p:cNvGraphicFramePr>
            <a:graphicFrameLocks noGrp="1"/>
          </p:cNvGraphicFramePr>
          <p:nvPr/>
        </p:nvGraphicFramePr>
        <p:xfrm>
          <a:off x="639567" y="1518920"/>
          <a:ext cx="6153669" cy="4809064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3105119">
                  <a:extLst>
                    <a:ext uri="{9D8B030D-6E8A-4147-A177-3AD203B41FA5}">
                      <a16:colId xmlns:a16="http://schemas.microsoft.com/office/drawing/2014/main" val="744564810"/>
                    </a:ext>
                  </a:extLst>
                </a:gridCol>
                <a:gridCol w="3048551">
                  <a:extLst>
                    <a:ext uri="{9D8B030D-6E8A-4147-A177-3AD203B41FA5}">
                      <a16:colId xmlns:a16="http://schemas.microsoft.com/office/drawing/2014/main" val="2190511649"/>
                    </a:ext>
                  </a:extLst>
                </a:gridCol>
              </a:tblGrid>
              <a:tr h="494453">
                <a:tc gridSpan="2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91AF"/>
                          </a:solidFill>
                        </a:rPr>
                        <a:t>Specifiers</a:t>
                      </a:r>
                    </a:p>
                  </a:txBody>
                  <a:tcPr marL="121920" marR="121920" marT="60960" marB="60960"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601818238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2B91AF"/>
                          </a:solidFill>
                        </a:rPr>
                        <a:t>Data Type</a:t>
                      </a:r>
                      <a:endParaRPr lang="en-US" sz="2400" b="1" kern="1200" dirty="0">
                        <a:solidFill>
                          <a:srgbClr val="2B91AF"/>
                        </a:solidFill>
                      </a:endParaRPr>
                    </a:p>
                  </a:txBody>
                  <a:tcPr marL="121920" marR="121920" marT="60960" marB="60960"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dirty="0">
                          <a:solidFill>
                            <a:srgbClr val="2B91AF"/>
                          </a:solidFill>
                        </a:rPr>
                        <a:t>Specifier</a:t>
                      </a:r>
                      <a:endParaRPr lang="en-US" sz="2400" b="1" kern="1200" dirty="0">
                        <a:solidFill>
                          <a:srgbClr val="2B91AF"/>
                        </a:solidFill>
                      </a:endParaRPr>
                    </a:p>
                  </a:txBody>
                  <a:tcPr marL="121920" marR="121920" marT="60960" marB="60960"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974108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dirty="0">
                          <a:solidFill>
                            <a:srgbClr val="2B91AF"/>
                          </a:solidFill>
                        </a:rPr>
                        <a:t>int</a:t>
                      </a:r>
                      <a:endParaRPr lang="en-US" sz="2400" b="0" kern="1200" dirty="0">
                        <a:solidFill>
                          <a:srgbClr val="2B91AF"/>
                        </a:solidFill>
                      </a:endParaRPr>
                    </a:p>
                  </a:txBody>
                  <a:tcPr marL="121920" marR="121920" marT="60960" marB="60960"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kern="1200" dirty="0">
                          <a:solidFill>
                            <a:srgbClr val="2B91AF"/>
                          </a:solidFill>
                        </a:rPr>
                        <a:t>%d</a:t>
                      </a:r>
                    </a:p>
                  </a:txBody>
                  <a:tcPr marL="121920" marR="121920" marT="60960" marB="60960"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76645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rgbClr val="2B91AF"/>
                          </a:solidFill>
                        </a:rPr>
                        <a:t>char</a:t>
                      </a:r>
                    </a:p>
                  </a:txBody>
                  <a:tcPr marL="121920" marR="121920" marT="60960" marB="60960"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2B91AF"/>
                          </a:solidFill>
                        </a:rPr>
                        <a:t>%c</a:t>
                      </a:r>
                      <a:endParaRPr lang="en-US" sz="2400" b="0" kern="1200" dirty="0">
                        <a:solidFill>
                          <a:srgbClr val="2B91AF"/>
                        </a:solidFill>
                      </a:endParaRPr>
                    </a:p>
                  </a:txBody>
                  <a:tcPr marL="121920" marR="121920" marT="60960" marB="60960"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782146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rgbClr val="2B91AF"/>
                          </a:solidFill>
                        </a:rPr>
                        <a:t>string</a:t>
                      </a:r>
                    </a:p>
                  </a:txBody>
                  <a:tcPr marL="121920" marR="121920" marT="60960" marB="60960"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rgbClr val="2B91AF"/>
                          </a:solidFill>
                        </a:rPr>
                        <a:t>%s</a:t>
                      </a:r>
                    </a:p>
                  </a:txBody>
                  <a:tcPr marL="121920" marR="121920" marT="60960" marB="60960"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61769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2B91AF"/>
                          </a:solidFill>
                        </a:rPr>
                        <a:t>float</a:t>
                      </a:r>
                      <a:endParaRPr lang="en-US" sz="2400" b="0" i="0" u="none" strike="noStrike" kern="1200" noProof="0" dirty="0">
                        <a:solidFill>
                          <a:srgbClr val="2B91AF"/>
                        </a:solidFill>
                        <a:latin typeface="Arial"/>
                      </a:endParaRPr>
                    </a:p>
                  </a:txBody>
                  <a:tcPr marL="121920" marR="121920" marT="60960" marB="60960"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rgbClr val="2B91AF"/>
                          </a:solidFill>
                        </a:rPr>
                        <a:t>%f</a:t>
                      </a:r>
                    </a:p>
                  </a:txBody>
                  <a:tcPr marL="121920" marR="121920" marT="60960" marB="60960"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201367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2B91AF"/>
                          </a:solidFill>
                        </a:rPr>
                        <a:t>Pointer (any type)</a:t>
                      </a:r>
                      <a:endParaRPr lang="en-US" sz="2400" b="0" i="0" u="none" strike="noStrike" kern="1200" noProof="0" dirty="0">
                        <a:solidFill>
                          <a:srgbClr val="2B91AF"/>
                        </a:solidFill>
                        <a:latin typeface="Arial"/>
                      </a:endParaRPr>
                    </a:p>
                  </a:txBody>
                  <a:tcPr marL="121920" marR="121920" marT="60960" marB="60960"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kern="1200" noProof="0" dirty="0">
                          <a:solidFill>
                            <a:srgbClr val="2B91AF"/>
                          </a:solidFill>
                          <a:latin typeface="Arial"/>
                        </a:rPr>
                        <a:t>%p</a:t>
                      </a:r>
                    </a:p>
                    <a:p>
                      <a:pPr lvl="0" algn="ctr">
                        <a:buNone/>
                      </a:pPr>
                      <a:endParaRPr lang="en-US" sz="2400" b="0" kern="1200" dirty="0">
                        <a:solidFill>
                          <a:srgbClr val="2B91AF"/>
                        </a:solidFill>
                      </a:endParaRPr>
                    </a:p>
                  </a:txBody>
                  <a:tcPr marL="121920" marR="121920" marT="60960" marB="60960"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970403"/>
                  </a:ext>
                </a:extLst>
              </a:tr>
              <a:tr h="49445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kern="1200" noProof="0" dirty="0">
                          <a:solidFill>
                            <a:srgbClr val="2B91AF"/>
                          </a:solidFill>
                          <a:latin typeface="Arial"/>
                        </a:rPr>
                        <a:t>long</a:t>
                      </a:r>
                    </a:p>
                  </a:txBody>
                  <a:tcPr marL="121920" marR="121920" marT="60960" marB="60960">
                    <a:lnL w="0">
                      <a:noFill/>
                    </a:lnL>
                    <a:lnR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dirty="0">
                          <a:solidFill>
                            <a:srgbClr val="2B91AF"/>
                          </a:solidFill>
                        </a:rPr>
                        <a:t>%</a:t>
                      </a:r>
                      <a:r>
                        <a:rPr lang="en-US" sz="2400" b="0" dirty="0" err="1">
                          <a:solidFill>
                            <a:srgbClr val="2B91AF"/>
                          </a:solidFill>
                        </a:rPr>
                        <a:t>ld</a:t>
                      </a:r>
                      <a:endParaRPr lang="en-US" sz="2400" b="0" kern="1200" dirty="0">
                        <a:solidFill>
                          <a:srgbClr val="2B91AF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256433"/>
                  </a:ext>
                </a:extLst>
              </a:tr>
              <a:tr h="49445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kern="1200" noProof="0" dirty="0">
                          <a:solidFill>
                            <a:srgbClr val="2B91AF"/>
                          </a:solidFill>
                          <a:latin typeface="Arial"/>
                        </a:rPr>
                        <a:t>short</a:t>
                      </a:r>
                    </a:p>
                  </a:txBody>
                  <a:tcPr marL="121920" marR="121920" marT="60960" marB="60960">
                    <a:lnL w="0">
                      <a:noFill/>
                    </a:lnL>
                    <a:lnR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dirty="0">
                          <a:solidFill>
                            <a:srgbClr val="2B91AF"/>
                          </a:solidFill>
                        </a:rPr>
                        <a:t>%</a:t>
                      </a:r>
                      <a:r>
                        <a:rPr lang="en-US" sz="2400" b="0" dirty="0" err="1">
                          <a:solidFill>
                            <a:srgbClr val="2B91AF"/>
                          </a:solidFill>
                        </a:rPr>
                        <a:t>hd</a:t>
                      </a:r>
                      <a:endParaRPr lang="en-US" sz="2400" b="0" kern="1200" dirty="0">
                        <a:solidFill>
                          <a:srgbClr val="2B91AF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2291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4E6BD41-CC1A-3418-EF4B-AF0FE71FD894}"/>
              </a:ext>
            </a:extLst>
          </p:cNvPr>
          <p:cNvSpPr txBox="1"/>
          <p:nvPr/>
        </p:nvSpPr>
        <p:spPr>
          <a:xfrm>
            <a:off x="541596" y="651526"/>
            <a:ext cx="7745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3.6- Outputs</a:t>
            </a:r>
          </a:p>
        </p:txBody>
      </p:sp>
      <p:pic>
        <p:nvPicPr>
          <p:cNvPr id="7" name="Picture 6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6704FC5-7613-AFE0-830E-406B0108F2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26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9C12D6-4E4D-0C5A-DA8C-947CB2A285F9}"/>
              </a:ext>
            </a:extLst>
          </p:cNvPr>
          <p:cNvSpPr txBox="1"/>
          <p:nvPr/>
        </p:nvSpPr>
        <p:spPr>
          <a:xfrm>
            <a:off x="530711" y="651526"/>
            <a:ext cx="7745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3.6- Outputs</a:t>
            </a:r>
          </a:p>
        </p:txBody>
      </p:sp>
      <p:pic>
        <p:nvPicPr>
          <p:cNvPr id="5" name="Picture 4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DC2647DB-1713-CB10-FC31-638EF480AC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7C7020-E0CA-6EBA-6523-A7A35D9535FD}"/>
              </a:ext>
            </a:extLst>
          </p:cNvPr>
          <p:cNvSpPr txBox="1"/>
          <p:nvPr/>
        </p:nvSpPr>
        <p:spPr>
          <a:xfrm>
            <a:off x="530711" y="1696588"/>
            <a:ext cx="77451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42;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unsigned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 = 300;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 = 3.14;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 = 2.718281828;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'A'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str[]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"Hello, C!"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&amp;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964381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63844B-FD6C-7ABA-40C4-830E0924ADE5}"/>
              </a:ext>
            </a:extLst>
          </p:cNvPr>
          <p:cNvSpPr txBox="1"/>
          <p:nvPr/>
        </p:nvSpPr>
        <p:spPr>
          <a:xfrm>
            <a:off x="530711" y="1407269"/>
            <a:ext cx="77451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Printing different types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"Integer: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"Unsigned Integer: %u\n"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u);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"Float: %f\n"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f);</a:t>
            </a:r>
          </a:p>
          <a:p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fr-F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"Double: %</a:t>
            </a:r>
            <a:r>
              <a:rPr lang="fr-F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lf</a:t>
            </a:r>
            <a:r>
              <a:rPr lang="fr-F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\n"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d);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"Character: %c\n"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c);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"String: %s\n"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str);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"Pointer (address of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): %p\n"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*)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1BB5C-B98E-EB7A-FF28-4B76DE310BEE}"/>
              </a:ext>
            </a:extLst>
          </p:cNvPr>
          <p:cNvSpPr txBox="1"/>
          <p:nvPr/>
        </p:nvSpPr>
        <p:spPr>
          <a:xfrm>
            <a:off x="530711" y="651526"/>
            <a:ext cx="7745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3.6- Outputs</a:t>
            </a:r>
          </a:p>
        </p:txBody>
      </p:sp>
      <p:pic>
        <p:nvPicPr>
          <p:cNvPr id="7" name="Picture 6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76E7F8C-DC7C-75FD-4702-65854C119B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36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84C09F-0A37-5F81-34DB-58DA6AC27BB0}"/>
              </a:ext>
            </a:extLst>
          </p:cNvPr>
          <p:cNvSpPr txBox="1"/>
          <p:nvPr/>
        </p:nvSpPr>
        <p:spPr>
          <a:xfrm>
            <a:off x="530711" y="651526"/>
            <a:ext cx="7745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3.7- Inputs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EB8FCB1-7F34-5E79-363C-E73225D1B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12" y="1488213"/>
            <a:ext cx="11624336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2B91AF"/>
                </a:solidFill>
                <a:latin typeface="Arial" panose="020B0604020202020204" pitchFamily="34" charset="0"/>
              </a:rPr>
              <a:t> When you type something (input) on the keyboard, the data </a:t>
            </a:r>
            <a:r>
              <a:rPr lang="en-US" altLang="en-US" sz="2400" b="1" dirty="0">
                <a:solidFill>
                  <a:srgbClr val="2B91AF"/>
                </a:solidFill>
                <a:latin typeface="Arial" panose="020B0604020202020204" pitchFamily="34" charset="0"/>
              </a:rPr>
              <a:t>does not go directly 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2B91AF"/>
                </a:solidFill>
                <a:latin typeface="Arial" panose="020B0604020202020204" pitchFamily="34" charset="0"/>
              </a:rPr>
              <a:t>to your program’s variable</a:t>
            </a:r>
            <a:r>
              <a:rPr lang="en-US" altLang="en-US" sz="2400" dirty="0">
                <a:solidFill>
                  <a:srgbClr val="2B91AF"/>
                </a:solidFill>
                <a:latin typeface="Arial" panose="020B0604020202020204" pitchFamily="34" charset="0"/>
              </a:rPr>
              <a:t>.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2B91AF"/>
                </a:solidFill>
                <a:latin typeface="Arial" panose="020B0604020202020204" pitchFamily="34" charset="0"/>
              </a:rPr>
              <a:t> It first goes to a </a:t>
            </a:r>
            <a:r>
              <a:rPr lang="en-US" altLang="en-US" sz="2400" b="1" dirty="0">
                <a:solidFill>
                  <a:srgbClr val="2B91AF"/>
                </a:solidFill>
                <a:latin typeface="Arial" panose="020B0604020202020204" pitchFamily="34" charset="0"/>
              </a:rPr>
              <a:t>temporary</a:t>
            </a:r>
            <a:r>
              <a:rPr lang="en-US" altLang="en-US" sz="2400" dirty="0">
                <a:solidFill>
                  <a:srgbClr val="2B91AF"/>
                </a:solidFill>
                <a:latin typeface="Arial" panose="020B0604020202020204" pitchFamily="34" charset="0"/>
              </a:rPr>
              <a:t> holding area called the </a:t>
            </a:r>
            <a:r>
              <a:rPr lang="en-US" altLang="en-US" sz="2400" b="1" dirty="0">
                <a:solidFill>
                  <a:srgbClr val="2B91AF"/>
                </a:solidFill>
                <a:latin typeface="Arial" panose="020B0604020202020204" pitchFamily="34" charset="0"/>
              </a:rPr>
              <a:t>input buffer</a:t>
            </a:r>
            <a:r>
              <a:rPr lang="en-US" altLang="en-US" sz="2400" dirty="0">
                <a:solidFill>
                  <a:srgbClr val="2B91AF"/>
                </a:solidFill>
                <a:latin typeface="Arial" panose="020B0604020202020204" pitchFamily="34" charset="0"/>
              </a:rPr>
              <a:t>.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2B91AF"/>
                </a:solidFill>
                <a:latin typeface="Arial" panose="020B0604020202020204" pitchFamily="34" charset="0"/>
              </a:rPr>
              <a:t> So inputs in C </a:t>
            </a:r>
            <a:r>
              <a:rPr lang="en-US" altLang="en-US" sz="2400" b="1" dirty="0">
                <a:solidFill>
                  <a:srgbClr val="2B91AF"/>
                </a:solidFill>
                <a:latin typeface="Arial" panose="020B0604020202020204" pitchFamily="34" charset="0"/>
              </a:rPr>
              <a:t>read the value from the buffer</a:t>
            </a:r>
            <a:r>
              <a:rPr lang="en-US" altLang="en-US" sz="2400" dirty="0">
                <a:solidFill>
                  <a:srgbClr val="2B91AF"/>
                </a:solidFill>
                <a:latin typeface="Arial" panose="020B0604020202020204" pitchFamily="34" charset="0"/>
              </a:rPr>
              <a:t> then </a:t>
            </a:r>
            <a:r>
              <a:rPr lang="en-US" altLang="en-US" sz="2400" b="1" dirty="0">
                <a:solidFill>
                  <a:srgbClr val="2B91AF"/>
                </a:solidFill>
                <a:latin typeface="Arial" panose="020B0604020202020204" pitchFamily="34" charset="0"/>
              </a:rPr>
              <a:t>it stores it in the variable 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2B91AF"/>
                </a:solidFill>
                <a:latin typeface="Arial" panose="020B0604020202020204" pitchFamily="34" charset="0"/>
              </a:rPr>
              <a:t>Address</a:t>
            </a: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2B91AF"/>
                </a:solidFill>
                <a:latin typeface="Arial" panose="020B0604020202020204" pitchFamily="34" charset="0"/>
              </a:rPr>
              <a:t>So, we use </a:t>
            </a:r>
            <a:r>
              <a:rPr lang="en-US" altLang="en-US" sz="2400" b="1" dirty="0">
                <a:solidFill>
                  <a:srgbClr val="2B91AF"/>
                </a:solidFill>
                <a:latin typeface="Arial" panose="020B0604020202020204" pitchFamily="34" charset="0"/>
              </a:rPr>
              <a:t>&amp; because we store in the address of the variable, </a:t>
            </a:r>
            <a:r>
              <a:rPr lang="en-US" altLang="en-US" sz="2400" dirty="0">
                <a:solidFill>
                  <a:srgbClr val="2B91AF"/>
                </a:solidFill>
                <a:latin typeface="Arial" panose="020B0604020202020204" pitchFamily="34" charset="0"/>
              </a:rPr>
              <a:t>with all 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2B91AF"/>
                </a:solidFill>
                <a:latin typeface="Arial" panose="020B0604020202020204" pitchFamily="34" charset="0"/>
              </a:rPr>
              <a:t>Types </a:t>
            </a:r>
            <a:r>
              <a:rPr lang="en-US" altLang="en-US" sz="2400" b="1" dirty="0">
                <a:solidFill>
                  <a:srgbClr val="2B91AF"/>
                </a:solidFill>
                <a:latin typeface="Arial" panose="020B0604020202020204" pitchFamily="34" charset="0"/>
              </a:rPr>
              <a:t>except</a:t>
            </a:r>
            <a:r>
              <a:rPr lang="en-US" altLang="en-US" sz="2400" dirty="0">
                <a:solidFill>
                  <a:srgbClr val="2B91AF"/>
                </a:solidFill>
                <a:latin typeface="Arial" panose="020B0604020202020204" pitchFamily="34" charset="0"/>
              </a:rPr>
              <a:t> with</a:t>
            </a:r>
            <a:r>
              <a:rPr lang="en-US" altLang="en-US" sz="2400" b="1" dirty="0">
                <a:solidFill>
                  <a:srgbClr val="2B91AF"/>
                </a:solidFill>
                <a:latin typeface="Arial" panose="020B0604020202020204" pitchFamily="34" charset="0"/>
              </a:rPr>
              <a:t> strings (because they are arrays and </a:t>
            </a:r>
            <a:r>
              <a:rPr lang="en-US" sz="2400" b="1" dirty="0">
                <a:solidFill>
                  <a:srgbClr val="2B91AF"/>
                </a:solidFill>
              </a:rPr>
              <a:t>array name already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2B91AF"/>
                </a:solidFill>
              </a:rPr>
              <a:t>acts as a pointer</a:t>
            </a:r>
            <a:r>
              <a:rPr lang="en-US" sz="2400" dirty="0">
                <a:solidFill>
                  <a:srgbClr val="2B91AF"/>
                </a:solidFill>
              </a:rPr>
              <a:t> to its first element.</a:t>
            </a:r>
            <a:r>
              <a:rPr lang="en-US" altLang="en-US" sz="2400" b="1" dirty="0">
                <a:solidFill>
                  <a:srgbClr val="2B91AF"/>
                </a:solidFill>
                <a:latin typeface="Arial" panose="020B0604020202020204" pitchFamily="34" charset="0"/>
              </a:rPr>
              <a:t>)</a:t>
            </a: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rgbClr val="2B91AF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0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D2C8A4A-CB84-4B15-CE5D-9ADBBBF600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63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6B92C57-37E8-E892-08B8-59B4E64B1A03}"/>
              </a:ext>
            </a:extLst>
          </p:cNvPr>
          <p:cNvSpPr txBox="1"/>
          <p:nvPr/>
        </p:nvSpPr>
        <p:spPr>
          <a:xfrm>
            <a:off x="432739" y="1389579"/>
            <a:ext cx="1233620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num;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"Enter a number: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scanf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"%d"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&amp;num);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Reads from the buffer and stores in 'num'</a:t>
            </a:r>
          </a:p>
          <a:p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"You entered: %d\n"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num);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5CE29-F0C8-0732-4C74-6E766B4656AC}"/>
              </a:ext>
            </a:extLst>
          </p:cNvPr>
          <p:cNvSpPr txBox="1"/>
          <p:nvPr/>
        </p:nvSpPr>
        <p:spPr>
          <a:xfrm>
            <a:off x="530711" y="651526"/>
            <a:ext cx="7745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3.7- Inputs</a:t>
            </a:r>
          </a:p>
        </p:txBody>
      </p:sp>
      <p:pic>
        <p:nvPicPr>
          <p:cNvPr id="5" name="Picture 4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726A183-88D6-2349-A6D1-7FD3044854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66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C55A1-E5B2-9B7E-6ED6-EB4B9DB2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14C0CFB6-840E-5505-4E7E-BCCAC4091A1B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21357DFF-AAD1-AC88-FA5F-2BA35391C3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53B76C-5010-968C-AD54-4BF748A09491}"/>
              </a:ext>
            </a:extLst>
          </p:cNvPr>
          <p:cNvSpPr txBox="1"/>
          <p:nvPr/>
        </p:nvSpPr>
        <p:spPr>
          <a:xfrm>
            <a:off x="530578" y="538357"/>
            <a:ext cx="11661421" cy="3816429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3.8- Macros</a:t>
            </a: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91A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macro is a </a:t>
            </a:r>
            <a:r>
              <a:rPr lang="en-US" sz="2400" b="1" dirty="0">
                <a:solidFill>
                  <a:srgbClr val="2B91A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text substitution </a:t>
            </a:r>
            <a:r>
              <a:rPr lang="en-US" sz="2400" dirty="0">
                <a:solidFill>
                  <a:srgbClr val="2B91A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done by the </a:t>
            </a:r>
            <a:r>
              <a:rPr lang="en-US" sz="2400" b="1" dirty="0">
                <a:solidFill>
                  <a:srgbClr val="2B91A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preprocessor before compilation.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91AF"/>
                </a:solidFill>
              </a:rPr>
              <a:t>Macros are </a:t>
            </a:r>
            <a:r>
              <a:rPr lang="en-US" sz="2400" b="1" dirty="0">
                <a:solidFill>
                  <a:srgbClr val="2B91AF"/>
                </a:solidFill>
              </a:rPr>
              <a:t>not variables</a:t>
            </a:r>
            <a:r>
              <a:rPr lang="en-US" sz="2400" dirty="0">
                <a:solidFill>
                  <a:srgbClr val="2B91AF"/>
                </a:solidFill>
              </a:rPr>
              <a:t> — they don’t consume memory.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91AF"/>
                </a:solidFill>
              </a:rPr>
              <a:t>The </a:t>
            </a:r>
            <a:r>
              <a:rPr lang="en-US" sz="2400" b="1" dirty="0">
                <a:solidFill>
                  <a:srgbClr val="2B91AF"/>
                </a:solidFill>
              </a:rPr>
              <a:t>preprocessor</a:t>
            </a:r>
            <a:r>
              <a:rPr lang="en-US" sz="2400" dirty="0">
                <a:solidFill>
                  <a:srgbClr val="2B91AF"/>
                </a:solidFill>
              </a:rPr>
              <a:t> is a </a:t>
            </a:r>
            <a:r>
              <a:rPr lang="en-US" sz="2400" b="1" dirty="0">
                <a:solidFill>
                  <a:srgbClr val="2B91AF"/>
                </a:solidFill>
              </a:rPr>
              <a:t>program that runs before the compiler</a:t>
            </a:r>
            <a:r>
              <a:rPr lang="en-US" sz="2400" dirty="0">
                <a:solidFill>
                  <a:srgbClr val="2B91AF"/>
                </a:solidFill>
              </a:rPr>
              <a:t>. Its job is to </a:t>
            </a:r>
            <a:r>
              <a:rPr lang="en-US" sz="2400" b="1" dirty="0">
                <a:solidFill>
                  <a:srgbClr val="2B91AF"/>
                </a:solidFill>
              </a:rPr>
              <a:t>prepare your code</a:t>
            </a:r>
            <a:r>
              <a:rPr lang="en-US" sz="2400" dirty="0">
                <a:solidFill>
                  <a:srgbClr val="2B91AF"/>
                </a:solidFill>
              </a:rPr>
              <a:t> for compilation by handling directives like #include, #define, #ifdef, etc.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B91A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So, we use it with CONST variables</a:t>
            </a:r>
          </a:p>
          <a:p>
            <a:br>
              <a:rPr lang="en-US" sz="3200" b="1" dirty="0">
                <a:solidFill>
                  <a:srgbClr val="004567"/>
                </a:solidFill>
                <a:latin typeface="IBM Plex Mono"/>
                <a:cs typeface="Arial"/>
              </a:rPr>
            </a:b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FA3B96A-541D-938E-4B5E-FEACCFDA97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D3800-875C-909B-3375-E58CCD29F651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965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92307-0BF6-F591-EFC6-4F96C1283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02425AB5-8CD7-4327-3BC6-508F121054E1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086E4830-9694-ACF3-16FE-F2CA04F2DC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9833FC-187B-0059-2B57-876CF65DCC89}"/>
              </a:ext>
            </a:extLst>
          </p:cNvPr>
          <p:cNvSpPr txBox="1"/>
          <p:nvPr/>
        </p:nvSpPr>
        <p:spPr>
          <a:xfrm>
            <a:off x="530578" y="538356"/>
            <a:ext cx="11661421" cy="147732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3.8- Macros</a:t>
            </a:r>
          </a:p>
          <a:p>
            <a:br>
              <a:rPr lang="en-US" sz="3200" b="1" dirty="0">
                <a:solidFill>
                  <a:srgbClr val="004567"/>
                </a:solidFill>
                <a:latin typeface="IBM Plex Mono"/>
                <a:cs typeface="Arial"/>
              </a:rPr>
            </a:br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A macro is a text substitution done by the preprocessor before compilation.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B006670-DFA7-6289-48BA-3E13E305E1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3C650-D0FB-60B9-D996-2685D725EB74}"/>
              </a:ext>
            </a:extLst>
          </p:cNvPr>
          <p:cNvSpPr txBox="1"/>
          <p:nvPr/>
        </p:nvSpPr>
        <p:spPr>
          <a:xfrm>
            <a:off x="1818639" y="2761496"/>
            <a:ext cx="86258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26DA5"/>
                </a:solidFill>
                <a:latin typeface="Arial"/>
                <a:cs typeface="Arial"/>
              </a:rPr>
              <a:t>Constants (most common use)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26DA5"/>
                </a:solidFill>
                <a:cs typeface="Arial"/>
              </a:rPr>
              <a:t>Doesn’t consume the memory</a:t>
            </a:r>
            <a:br>
              <a:rPr lang="en-US" sz="240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en-US" sz="2400">
                <a:solidFill>
                  <a:srgbClr val="026DA5"/>
                </a:solidFill>
                <a:latin typeface="Arial"/>
                <a:cs typeface="Arial"/>
              </a:rPr>
              <a:t>    as the </a:t>
            </a:r>
            <a:r>
              <a:rPr lang="en-US" sz="2400" b="1">
                <a:solidFill>
                  <a:srgbClr val="026DA5"/>
                </a:solidFill>
                <a:latin typeface="Arial"/>
                <a:cs typeface="Arial"/>
              </a:rPr>
              <a:t>value</a:t>
            </a:r>
            <a:r>
              <a:rPr lang="en-US" sz="2400">
                <a:solidFill>
                  <a:srgbClr val="026DA5"/>
                </a:solidFill>
                <a:latin typeface="Arial"/>
                <a:cs typeface="Arial"/>
              </a:rPr>
              <a:t> is not stored anywhere.</a:t>
            </a:r>
            <a:br>
              <a:rPr lang="en-US" sz="240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en-US" sz="2400">
                <a:solidFill>
                  <a:srgbClr val="026DA5"/>
                </a:solidFill>
                <a:latin typeface="Arial"/>
                <a:cs typeface="Arial"/>
              </a:rPr>
              <a:t>    It is written directly inside the machine instruction itself.</a:t>
            </a:r>
            <a:endParaRPr lang="ar-EG" sz="2400"/>
          </a:p>
        </p:txBody>
      </p:sp>
    </p:spTree>
    <p:extLst>
      <p:ext uri="{BB962C8B-B14F-4D97-AF65-F5344CB8AC3E}">
        <p14:creationId xmlns:p14="http://schemas.microsoft.com/office/powerpoint/2010/main" val="2516392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E7743B-2537-90F0-6849-BD6446C2C0FC}"/>
              </a:ext>
            </a:extLst>
          </p:cNvPr>
          <p:cNvSpPr txBox="1"/>
          <p:nvPr/>
        </p:nvSpPr>
        <p:spPr>
          <a:xfrm>
            <a:off x="530578" y="538356"/>
            <a:ext cx="11661421" cy="147732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3.8- Macros</a:t>
            </a:r>
          </a:p>
          <a:p>
            <a:br>
              <a:rPr lang="en-US" sz="3200" b="1" dirty="0">
                <a:solidFill>
                  <a:srgbClr val="004567"/>
                </a:solidFill>
                <a:latin typeface="IBM Plex Mono"/>
                <a:cs typeface="Arial"/>
              </a:rPr>
            </a:b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pic>
        <p:nvPicPr>
          <p:cNvPr id="5" name="Picture 4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0A4DAC5-3C10-224A-3E13-91B2F9D891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BCB5AC-0C69-81C7-42B0-DA23EE8868EC}"/>
              </a:ext>
            </a:extLst>
          </p:cNvPr>
          <p:cNvSpPr txBox="1"/>
          <p:nvPr/>
        </p:nvSpPr>
        <p:spPr>
          <a:xfrm>
            <a:off x="530577" y="1074386"/>
            <a:ext cx="1042045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#define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3.14159  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simple macro without parameters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#define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SQUARE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(x) ((x)*(x))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macro with parameter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radius = 5.0;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area =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SQUARE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(radius);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"Area = %f\n"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area);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47954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3F266-B6BC-8F97-503A-CBFA29E16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36878FAF-1933-5622-AAEC-4FBBDE607F56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7B9A540-B22A-9469-BF11-9CE8D3D895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426A40-6C6D-A6CF-F5F0-68465F07D697}"/>
              </a:ext>
            </a:extLst>
          </p:cNvPr>
          <p:cNvSpPr txBox="1"/>
          <p:nvPr/>
        </p:nvSpPr>
        <p:spPr>
          <a:xfrm>
            <a:off x="530578" y="538356"/>
            <a:ext cx="11661421" cy="147732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3.8- Macros</a:t>
            </a:r>
          </a:p>
          <a:p>
            <a:br>
              <a:rPr lang="en-US" sz="3200" b="1" dirty="0">
                <a:solidFill>
                  <a:srgbClr val="004567"/>
                </a:solidFill>
                <a:latin typeface="IBM Plex Mono"/>
                <a:cs typeface="Arial"/>
              </a:rPr>
            </a:b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6DE846B1-E26E-0259-1BFD-AC017A538F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3E17B-3487-91E8-6EDF-3253747544FC}"/>
              </a:ext>
            </a:extLst>
          </p:cNvPr>
          <p:cNvSpPr txBox="1"/>
          <p:nvPr/>
        </p:nvSpPr>
        <p:spPr>
          <a:xfrm>
            <a:off x="1651926" y="2063869"/>
            <a:ext cx="540927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sz="3733" b="1">
              <a:solidFill>
                <a:srgbClr val="00456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B67EA1-6C1F-E3E4-19E7-14C8C186ABF7}"/>
              </a:ext>
            </a:extLst>
          </p:cNvPr>
          <p:cNvSpPr txBox="1"/>
          <p:nvPr/>
        </p:nvSpPr>
        <p:spPr>
          <a:xfrm>
            <a:off x="870739" y="1629612"/>
            <a:ext cx="7741920" cy="436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2400" dirty="0"/>
              <a:t> </a:t>
            </a:r>
            <a:r>
              <a:rPr lang="ar-EG" sz="2400" dirty="0">
                <a:solidFill>
                  <a:srgbClr val="004567"/>
                </a:solidFill>
              </a:rPr>
              <a:t>① Preprocessing</a:t>
            </a:r>
            <a:br>
              <a:rPr lang="ar-EG" sz="2400" dirty="0"/>
            </a:br>
            <a:r>
              <a:rPr lang="ar-EG" sz="2400" dirty="0"/>
              <a:t>       </a:t>
            </a:r>
            <a:r>
              <a:rPr lang="ar-EG" sz="1867" dirty="0">
                <a:solidFill>
                  <a:srgbClr val="026DA5"/>
                </a:solidFill>
                <a:latin typeface="Arial"/>
                <a:cs typeface="Arial"/>
              </a:rPr>
              <a:t>Handles #define, #include, #ifdef </a:t>
            </a:r>
            <a:br>
              <a:rPr lang="ar-EG" sz="1867" dirty="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ar-EG" sz="1867" dirty="0">
                <a:solidFill>
                  <a:srgbClr val="026DA5"/>
                </a:solidFill>
                <a:latin typeface="Arial"/>
                <a:cs typeface="Arial"/>
              </a:rPr>
              <a:t>         </a:t>
            </a:r>
            <a:r>
              <a:rPr lang="en-US" sz="1867" dirty="0">
                <a:solidFill>
                  <a:srgbClr val="026DA5"/>
                </a:solidFill>
                <a:latin typeface="Arial"/>
                <a:cs typeface="Arial"/>
              </a:rPr>
              <a:t>Text </a:t>
            </a:r>
            <a:r>
              <a:rPr lang="ar-EG" sz="1867" dirty="0">
                <a:solidFill>
                  <a:srgbClr val="026DA5"/>
                </a:solidFill>
                <a:latin typeface="Arial"/>
                <a:cs typeface="Arial"/>
              </a:rPr>
              <a:t>substitution only </a:t>
            </a:r>
            <a:r>
              <a:rPr lang="en-US" sz="1867" dirty="0">
                <a:solidFill>
                  <a:srgbClr val="026DA5"/>
                </a:solidFill>
                <a:latin typeface="Arial"/>
                <a:cs typeface="Arial"/>
              </a:rPr>
              <a:t> (like in the pic)</a:t>
            </a:r>
            <a:br>
              <a:rPr lang="ar-EG" sz="1867" dirty="0">
                <a:solidFill>
                  <a:srgbClr val="026DA5"/>
                </a:solidFill>
                <a:latin typeface="Arial"/>
                <a:cs typeface="Arial"/>
              </a:rPr>
            </a:br>
            <a:br>
              <a:rPr lang="ar-EG" sz="1867" dirty="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ar-EG" sz="2400" dirty="0">
                <a:solidFill>
                  <a:srgbClr val="004567"/>
                </a:solidFill>
              </a:rPr>
              <a:t>②</a:t>
            </a:r>
            <a:r>
              <a:rPr lang="en-US" sz="2400" dirty="0">
                <a:solidFill>
                  <a:srgbClr val="004567"/>
                </a:solidFill>
              </a:rPr>
              <a:t> </a:t>
            </a:r>
            <a:r>
              <a:rPr lang="ar-EG" sz="2400" dirty="0">
                <a:solidFill>
                  <a:srgbClr val="004567"/>
                </a:solidFill>
              </a:rPr>
              <a:t>Compilation</a:t>
            </a:r>
            <a:br>
              <a:rPr lang="ar-EG" sz="2400" dirty="0"/>
            </a:br>
            <a:r>
              <a:rPr lang="ar-EG" sz="2400" dirty="0"/>
              <a:t>       </a:t>
            </a:r>
            <a:r>
              <a:rPr lang="en-US" sz="2400" dirty="0">
                <a:solidFill>
                  <a:srgbClr val="026DA5"/>
                </a:solidFill>
              </a:rPr>
              <a:t>converts C </a:t>
            </a:r>
            <a:r>
              <a:rPr lang="ar-EG" sz="2400" dirty="0">
                <a:solidFill>
                  <a:srgbClr val="026DA5"/>
                </a:solidFill>
                <a:cs typeface="Arial"/>
              </a:rPr>
              <a:t>→</a:t>
            </a:r>
            <a:r>
              <a:rPr lang="en-US" sz="2400" dirty="0">
                <a:solidFill>
                  <a:srgbClr val="026DA5"/>
                </a:solidFill>
              </a:rPr>
              <a:t> assembly</a:t>
            </a:r>
            <a:br>
              <a:rPr lang="en-US" sz="2400" dirty="0">
                <a:solidFill>
                  <a:srgbClr val="026DA5"/>
                </a:solidFill>
              </a:rPr>
            </a:br>
            <a:br>
              <a:rPr lang="ar-EG" sz="2400" dirty="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ar-EG" sz="2400" dirty="0"/>
              <a:t> </a:t>
            </a:r>
            <a:r>
              <a:rPr lang="ar-EG" sz="2400" dirty="0">
                <a:solidFill>
                  <a:srgbClr val="004567"/>
                </a:solidFill>
              </a:rPr>
              <a:t>③ Assembly</a:t>
            </a:r>
            <a:br>
              <a:rPr lang="ar-EG" sz="2400" dirty="0">
                <a:solidFill>
                  <a:srgbClr val="004567"/>
                </a:solidFill>
              </a:rPr>
            </a:br>
            <a:r>
              <a:rPr lang="en-US" sz="2400" dirty="0">
                <a:solidFill>
                  <a:srgbClr val="004567"/>
                </a:solidFill>
              </a:rPr>
              <a:t>       </a:t>
            </a:r>
            <a:r>
              <a:rPr lang="en-US" sz="2400" dirty="0">
                <a:solidFill>
                  <a:srgbClr val="026DA5"/>
                </a:solidFill>
              </a:rPr>
              <a:t>converts assembly </a:t>
            </a:r>
            <a:r>
              <a:rPr lang="ar-EG" sz="2400" dirty="0">
                <a:solidFill>
                  <a:srgbClr val="026DA5"/>
                </a:solidFill>
                <a:cs typeface="Arial"/>
              </a:rPr>
              <a:t>→ </a:t>
            </a:r>
            <a:r>
              <a:rPr lang="en-US" sz="2400" dirty="0">
                <a:solidFill>
                  <a:srgbClr val="026DA5"/>
                </a:solidFill>
                <a:cs typeface="Arial"/>
              </a:rPr>
              <a:t>machine code</a:t>
            </a:r>
            <a:r>
              <a:rPr lang="en-US" sz="2400" dirty="0">
                <a:solidFill>
                  <a:srgbClr val="026DA5"/>
                </a:solidFill>
              </a:rPr>
              <a:t> </a:t>
            </a:r>
            <a:br>
              <a:rPr lang="ar-EG" sz="2400" dirty="0">
                <a:solidFill>
                  <a:srgbClr val="004567"/>
                </a:solidFill>
              </a:rPr>
            </a:br>
            <a:r>
              <a:rPr lang="ar-EG" sz="2400" dirty="0">
                <a:solidFill>
                  <a:srgbClr val="004567"/>
                </a:solidFill>
              </a:rPr>
              <a:t>                 </a:t>
            </a:r>
            <a:r>
              <a:rPr lang="en-US" sz="2400" dirty="0">
                <a:solidFill>
                  <a:srgbClr val="004567"/>
                </a:solidFill>
              </a:rPr>
              <a:t> </a:t>
            </a:r>
            <a:br>
              <a:rPr lang="ar-EG" sz="2400" dirty="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ar-EG" sz="2400" dirty="0"/>
              <a:t> </a:t>
            </a:r>
            <a:r>
              <a:rPr lang="ar-EG" sz="2400" dirty="0">
                <a:solidFill>
                  <a:srgbClr val="004567"/>
                </a:solidFill>
              </a:rPr>
              <a:t>④ Linking</a:t>
            </a:r>
            <a:br>
              <a:rPr lang="ar-EG" sz="2400" dirty="0"/>
            </a:br>
            <a:r>
              <a:rPr lang="ar-EG" sz="2400" dirty="0"/>
              <a:t>       </a:t>
            </a:r>
            <a:r>
              <a:rPr lang="en-US" sz="2400" dirty="0">
                <a:solidFill>
                  <a:srgbClr val="026DA5"/>
                </a:solidFill>
                <a:latin typeface="Arial"/>
                <a:cs typeface="Arial"/>
              </a:rPr>
              <a:t>co</a:t>
            </a:r>
            <a:r>
              <a:rPr lang="ar-EG" sz="2400" dirty="0">
                <a:solidFill>
                  <a:srgbClr val="026DA5"/>
                </a:solidFill>
                <a:latin typeface="Arial"/>
                <a:cs typeface="Arial"/>
              </a:rPr>
              <a:t>mbines object files</a:t>
            </a:r>
          </a:p>
        </p:txBody>
      </p:sp>
    </p:spTree>
    <p:extLst>
      <p:ext uri="{BB962C8B-B14F-4D97-AF65-F5344CB8AC3E}">
        <p14:creationId xmlns:p14="http://schemas.microsoft.com/office/powerpoint/2010/main" val="2463103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40D90B-F29B-8C2F-B539-2A038242F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657" y="1331449"/>
            <a:ext cx="8658244" cy="4612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E3837B-1ED0-2E85-1083-F050B4442E98}"/>
              </a:ext>
            </a:extLst>
          </p:cNvPr>
          <p:cNvSpPr txBox="1"/>
          <p:nvPr/>
        </p:nvSpPr>
        <p:spPr>
          <a:xfrm>
            <a:off x="530578" y="538356"/>
            <a:ext cx="11661421" cy="147732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3.8- Macros</a:t>
            </a:r>
          </a:p>
          <a:p>
            <a:br>
              <a:rPr lang="en-US" sz="3200" b="1" dirty="0">
                <a:solidFill>
                  <a:srgbClr val="004567"/>
                </a:solidFill>
                <a:latin typeface="IBM Plex Mono"/>
                <a:cs typeface="Arial"/>
              </a:rPr>
            </a:b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pic>
        <p:nvPicPr>
          <p:cNvPr id="5" name="Picture 4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2FEEF098-BB49-5D22-6A12-293AA0487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6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10FC-35EA-8126-28BB-4A57CE90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6300D1ED-7FD4-F902-FBA2-1CB5D5E30077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EBBD6734-3CFA-546E-C7C3-9CA16A1156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841A81-B006-BB3E-48E9-C599EFA2708E}"/>
              </a:ext>
            </a:extLst>
          </p:cNvPr>
          <p:cNvSpPr txBox="1"/>
          <p:nvPr/>
        </p:nvSpPr>
        <p:spPr>
          <a:xfrm>
            <a:off x="530578" y="538357"/>
            <a:ext cx="11661421" cy="4062651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3.9- Header Files</a:t>
            </a: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91AF"/>
                </a:solidFill>
                <a:latin typeface="Arial"/>
                <a:cs typeface="Arial"/>
              </a:rPr>
              <a:t>A header file is for </a:t>
            </a:r>
            <a:r>
              <a:rPr lang="en-US" sz="2400" b="1" dirty="0">
                <a:solidFill>
                  <a:srgbClr val="2B91AF"/>
                </a:solidFill>
                <a:latin typeface="Arial"/>
                <a:cs typeface="Arial"/>
              </a:rPr>
              <a:t>declaring functions and macros</a:t>
            </a:r>
            <a:r>
              <a:rPr lang="en-US" sz="2400" dirty="0">
                <a:solidFill>
                  <a:srgbClr val="2B91AF"/>
                </a:solidFill>
                <a:latin typeface="Arial"/>
                <a:cs typeface="Arial"/>
              </a:rPr>
              <a:t>, specifically those that should be </a:t>
            </a:r>
            <a:r>
              <a:rPr lang="en-US" sz="2400" b="1" dirty="0">
                <a:solidFill>
                  <a:srgbClr val="2B91AF"/>
                </a:solidFill>
                <a:latin typeface="Arial"/>
                <a:cs typeface="Arial"/>
              </a:rPr>
              <a:t>shared </a:t>
            </a:r>
            <a:r>
              <a:rPr lang="en-US" sz="2400" dirty="0">
                <a:solidFill>
                  <a:srgbClr val="2B91AF"/>
                </a:solidFill>
                <a:latin typeface="Arial"/>
                <a:cs typeface="Arial"/>
              </a:rPr>
              <a:t>between source files.</a:t>
            </a:r>
          </a:p>
          <a:p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91AF"/>
                </a:solidFill>
              </a:rPr>
              <a:t>A </a:t>
            </a:r>
            <a:r>
              <a:rPr lang="en-US" sz="2400" b="1" dirty="0">
                <a:solidFill>
                  <a:srgbClr val="2B91AF"/>
                </a:solidFill>
              </a:rPr>
              <a:t>header file</a:t>
            </a:r>
            <a:r>
              <a:rPr lang="en-US" sz="2400" dirty="0">
                <a:solidFill>
                  <a:srgbClr val="2B91AF"/>
                </a:solidFill>
              </a:rPr>
              <a:t> is a file with extension .h that </a:t>
            </a:r>
            <a:r>
              <a:rPr lang="en-US" sz="2400" b="1" dirty="0">
                <a:solidFill>
                  <a:srgbClr val="2B91AF"/>
                </a:solidFill>
              </a:rPr>
              <a:t>contains declarations and Macros.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91AF"/>
                </a:solidFill>
              </a:rPr>
              <a:t>And we add this </a:t>
            </a:r>
            <a:r>
              <a:rPr lang="en-US" sz="2400" b="1" dirty="0">
                <a:solidFill>
                  <a:srgbClr val="2B91AF"/>
                </a:solidFill>
              </a:rPr>
              <a:t>header file in the source file (main file).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2B91AF"/>
              </a:solidFill>
              <a:latin typeface="Arial"/>
              <a:cs typeface="Arial"/>
            </a:endParaRP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// Header File</a:t>
            </a:r>
            <a:endParaRPr lang="en-US" sz="2400" dirty="0">
              <a:solidFill>
                <a:srgbClr val="026DA5"/>
              </a:solidFill>
              <a:cs typeface="Arial"/>
            </a:endParaRPr>
          </a:p>
          <a:p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8AE394E5-43D4-CD9F-65A8-34180B21AE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9AE06A-45B9-D5D0-97A6-04E908D3CBDC}"/>
              </a:ext>
            </a:extLst>
          </p:cNvPr>
          <p:cNvSpPr txBox="1"/>
          <p:nvPr/>
        </p:nvSpPr>
        <p:spPr>
          <a:xfrm>
            <a:off x="530577" y="4266961"/>
            <a:ext cx="77441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#define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3.14159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square(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circle_area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radius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0122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9DC2A7-C4E6-BA6C-CD59-5F960124D024}"/>
              </a:ext>
            </a:extLst>
          </p:cNvPr>
          <p:cNvSpPr txBox="1"/>
          <p:nvPr/>
        </p:nvSpPr>
        <p:spPr>
          <a:xfrm>
            <a:off x="530578" y="2183609"/>
            <a:ext cx="106792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math_utils.h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include your custom header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 = 5;</a:t>
            </a:r>
          </a:p>
          <a:p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it-IT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"Square: %d\n"</a:t>
            </a:r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square(a));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"Circle area: %f\n"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circle_area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(a));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BCBC9-9D88-B3BB-38B8-C59E40EBC244}"/>
              </a:ext>
            </a:extLst>
          </p:cNvPr>
          <p:cNvSpPr txBox="1"/>
          <p:nvPr/>
        </p:nvSpPr>
        <p:spPr>
          <a:xfrm>
            <a:off x="530578" y="538356"/>
            <a:ext cx="11661421" cy="147732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3.9- Header Files</a:t>
            </a:r>
          </a:p>
          <a:p>
            <a:br>
              <a:rPr lang="en-US" sz="3200" b="1" dirty="0">
                <a:solidFill>
                  <a:srgbClr val="004567"/>
                </a:solidFill>
                <a:latin typeface="IBM Plex Mono"/>
                <a:cs typeface="Arial"/>
              </a:rPr>
            </a:b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Source File</a:t>
            </a: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pic>
        <p:nvPicPr>
          <p:cNvPr id="7" name="Picture 6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93AFBFD-A561-4CEB-F48C-6D06D2CC77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550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476035-161E-97F8-1268-2276D7F2FC75}"/>
              </a:ext>
            </a:extLst>
          </p:cNvPr>
          <p:cNvSpPr txBox="1"/>
          <p:nvPr/>
        </p:nvSpPr>
        <p:spPr>
          <a:xfrm>
            <a:off x="530578" y="538357"/>
            <a:ext cx="11661421" cy="3200876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3.9- Header Files</a:t>
            </a: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pPr marL="457189" indent="-457189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How Compiler Read this previous File??</a:t>
            </a:r>
          </a:p>
          <a:p>
            <a:pPr marL="457189" indent="-457189">
              <a:buFont typeface="Wingdings" panose="05000000000000000000" pitchFamily="2" charset="2"/>
              <a:buChar char="§"/>
            </a:pPr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math_utils.h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“ &gt;&gt; it substitute this line with the header file code to look like this</a:t>
            </a:r>
            <a:endParaRPr lang="en-US" sz="2400" b="1" dirty="0">
              <a:solidFill>
                <a:srgbClr val="004567"/>
              </a:solidFill>
              <a:latin typeface="IBM Plex Mono"/>
            </a:endParaRPr>
          </a:p>
          <a:p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pic>
        <p:nvPicPr>
          <p:cNvPr id="5" name="Picture 4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DE09136-37DA-F8B3-48E8-2F5F32E635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8544FAB5-6265-6C97-DA72-BD127443008A}"/>
              </a:ext>
            </a:extLst>
          </p:cNvPr>
          <p:cNvSpPr/>
          <p:nvPr/>
        </p:nvSpPr>
        <p:spPr>
          <a:xfrm>
            <a:off x="2709334" y="3984978"/>
            <a:ext cx="733777" cy="1128889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A1D2F66-AF4B-C170-EE0F-D8452B5A8688}"/>
              </a:ext>
            </a:extLst>
          </p:cNvPr>
          <p:cNvSpPr/>
          <p:nvPr/>
        </p:nvSpPr>
        <p:spPr>
          <a:xfrm>
            <a:off x="8263468" y="3984977"/>
            <a:ext cx="733777" cy="1128889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50547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F841C5-C48F-D0BA-CD30-7E4D6575F5E6}"/>
              </a:ext>
            </a:extLst>
          </p:cNvPr>
          <p:cNvSpPr txBox="1"/>
          <p:nvPr/>
        </p:nvSpPr>
        <p:spPr>
          <a:xfrm>
            <a:off x="925688" y="1277021"/>
            <a:ext cx="77441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endParaRPr lang="en-US" sz="2400" dirty="0">
              <a:solidFill>
                <a:srgbClr val="A3151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A3151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A3151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 = 5;</a:t>
            </a:r>
          </a:p>
          <a:p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printf(</a:t>
            </a:r>
            <a:r>
              <a:rPr lang="it-IT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"Square: %d\n"</a:t>
            </a:r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square(a));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"Circle area: %f\n"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circle_area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(a));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5ED7D8-32C7-2590-8D48-DBA951F9DE1E}"/>
              </a:ext>
            </a:extLst>
          </p:cNvPr>
          <p:cNvSpPr txBox="1"/>
          <p:nvPr/>
        </p:nvSpPr>
        <p:spPr>
          <a:xfrm>
            <a:off x="925688" y="1707907"/>
            <a:ext cx="77441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#define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3.14159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square(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circle_area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radius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0E1E58-0589-19B5-16EE-41A6B8EF6A4E}"/>
              </a:ext>
            </a:extLst>
          </p:cNvPr>
          <p:cNvSpPr txBox="1"/>
          <p:nvPr/>
        </p:nvSpPr>
        <p:spPr>
          <a:xfrm>
            <a:off x="530578" y="538356"/>
            <a:ext cx="11661421" cy="147732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3.9- Header Files</a:t>
            </a:r>
          </a:p>
          <a:p>
            <a:br>
              <a:rPr lang="en-US" sz="3200" b="1" dirty="0">
                <a:solidFill>
                  <a:srgbClr val="004567"/>
                </a:solidFill>
                <a:latin typeface="IBM Plex Mono"/>
                <a:cs typeface="Arial"/>
              </a:rPr>
            </a:b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pic>
        <p:nvPicPr>
          <p:cNvPr id="9" name="Picture 8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F099C8F-FEF6-D9CC-B1F8-A2F5B51E0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12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BD856-CCD9-D393-B013-32A9CFA2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4539ADCF-B3D9-E25C-0AD6-826CC6898024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1219170">
              <a:lnSpc>
                <a:spcPct val="150000"/>
              </a:lnSpc>
              <a:tabLst>
                <a:tab pos="0" algn="l"/>
              </a:tabLst>
            </a:pPr>
            <a:endParaRPr lang="en-US" sz="160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A59A1A1-C0BC-8279-BA22-2B2F204005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90332A-3B07-D1A9-131D-FDC286054826}"/>
              </a:ext>
            </a:extLst>
          </p:cNvPr>
          <p:cNvSpPr txBox="1"/>
          <p:nvPr/>
        </p:nvSpPr>
        <p:spPr>
          <a:xfrm>
            <a:off x="530578" y="538357"/>
            <a:ext cx="11661421" cy="2215991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3.10- Header Guards</a:t>
            </a:r>
          </a:p>
          <a:p>
            <a:endParaRPr lang="en-US" sz="3200" b="1" dirty="0">
              <a:solidFill>
                <a:srgbClr val="004567"/>
              </a:solidFill>
              <a:latin typeface="+mj-lt"/>
              <a:cs typeface="Arial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4567"/>
                </a:solidFill>
                <a:latin typeface="+mj-lt"/>
                <a:cs typeface="Arial"/>
              </a:rPr>
              <a:t>The problem of headers that when we include many header files &gt;&gt; it would make the compiler do more definition for the same file more than once.</a:t>
            </a:r>
            <a:br>
              <a:rPr lang="en-US" sz="3200" b="1" dirty="0">
                <a:solidFill>
                  <a:srgbClr val="004567"/>
                </a:solidFill>
                <a:latin typeface="IBM Plex Mono"/>
                <a:cs typeface="Arial"/>
              </a:rPr>
            </a:b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5812410-1D90-6D8A-8779-661B97422E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ar-EG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F96CDA-46B4-3E62-9CC2-55F374636632}"/>
              </a:ext>
            </a:extLst>
          </p:cNvPr>
          <p:cNvSpPr txBox="1"/>
          <p:nvPr/>
        </p:nvSpPr>
        <p:spPr>
          <a:xfrm>
            <a:off x="790224" y="3429000"/>
            <a:ext cx="77441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#define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square(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* x;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7081B8-FD9F-FE0C-E8CF-BA88AF79952A}"/>
              </a:ext>
            </a:extLst>
          </p:cNvPr>
          <p:cNvSpPr txBox="1"/>
          <p:nvPr/>
        </p:nvSpPr>
        <p:spPr>
          <a:xfrm>
            <a:off x="790224" y="2936558"/>
            <a:ext cx="774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file1.h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87538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C14F4E-208D-15C2-E36A-CA562080D7E6}"/>
              </a:ext>
            </a:extLst>
          </p:cNvPr>
          <p:cNvSpPr txBox="1"/>
          <p:nvPr/>
        </p:nvSpPr>
        <p:spPr>
          <a:xfrm>
            <a:off x="530578" y="538357"/>
            <a:ext cx="11661421" cy="615553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3.10- Header Guards</a:t>
            </a: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pic>
        <p:nvPicPr>
          <p:cNvPr id="5" name="Picture 4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AD59482-5E3A-AE0D-D8D7-5AE8840E25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FFB309-8E3D-54EF-1BA5-DE6D7A26A9D5}"/>
              </a:ext>
            </a:extLst>
          </p:cNvPr>
          <p:cNvSpPr txBox="1"/>
          <p:nvPr/>
        </p:nvSpPr>
        <p:spPr>
          <a:xfrm>
            <a:off x="620889" y="1598167"/>
            <a:ext cx="77441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"file1.h"</a:t>
            </a:r>
            <a:endParaRPr lang="en-US" sz="24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cube(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* x * x;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C1BE5-082A-9BD6-289C-631037F429C9}"/>
              </a:ext>
            </a:extLst>
          </p:cNvPr>
          <p:cNvSpPr txBox="1"/>
          <p:nvPr/>
        </p:nvSpPr>
        <p:spPr>
          <a:xfrm>
            <a:off x="620889" y="1227390"/>
            <a:ext cx="774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file2.h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252D1D-4FE2-2086-0726-03055E055521}"/>
              </a:ext>
            </a:extLst>
          </p:cNvPr>
          <p:cNvSpPr txBox="1"/>
          <p:nvPr/>
        </p:nvSpPr>
        <p:spPr>
          <a:xfrm>
            <a:off x="620889" y="3395196"/>
            <a:ext cx="77441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"file1.h"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"file2.h"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"Square of 5: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square(5));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"Cube of 3: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cube(3));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"Value: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VALUE);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61EA97-841B-90F9-3509-95331F71B1E2}"/>
              </a:ext>
            </a:extLst>
          </p:cNvPr>
          <p:cNvSpPr txBox="1"/>
          <p:nvPr/>
        </p:nvSpPr>
        <p:spPr>
          <a:xfrm>
            <a:off x="530577" y="3013941"/>
            <a:ext cx="774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main.c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32324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C43171-798A-5198-0967-4F59EDB0A2C4}"/>
              </a:ext>
            </a:extLst>
          </p:cNvPr>
          <p:cNvSpPr txBox="1"/>
          <p:nvPr/>
        </p:nvSpPr>
        <p:spPr>
          <a:xfrm>
            <a:off x="530578" y="538356"/>
            <a:ext cx="11661421" cy="1969770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3.10- Header Guards</a:t>
            </a:r>
          </a:p>
          <a:p>
            <a:endParaRPr lang="en-US" sz="3200" b="1" dirty="0">
              <a:solidFill>
                <a:srgbClr val="004567"/>
              </a:solidFill>
              <a:latin typeface="IBM Plex Mono"/>
            </a:endParaRPr>
          </a:p>
          <a:p>
            <a:pPr marL="457189" indent="-457189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How will it be read??</a:t>
            </a:r>
          </a:p>
          <a:p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pic>
        <p:nvPicPr>
          <p:cNvPr id="5" name="Picture 4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C983C36-2796-7A6D-35FB-EFC4297C66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7EE180-F6EA-0E2D-C2A3-9BF1D121EC93}"/>
              </a:ext>
            </a:extLst>
          </p:cNvPr>
          <p:cNvSpPr txBox="1"/>
          <p:nvPr/>
        </p:nvSpPr>
        <p:spPr>
          <a:xfrm>
            <a:off x="620889" y="2643161"/>
            <a:ext cx="77441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endParaRPr lang="en-US" sz="2400" dirty="0">
              <a:solidFill>
                <a:srgbClr val="A3151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A3151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A3151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A3151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A3151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A3151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A3151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A3151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09CFA-5934-6698-0ED8-85D54BED1A40}"/>
              </a:ext>
            </a:extLst>
          </p:cNvPr>
          <p:cNvSpPr txBox="1"/>
          <p:nvPr/>
        </p:nvSpPr>
        <p:spPr>
          <a:xfrm>
            <a:off x="530577" y="2261906"/>
            <a:ext cx="774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main.c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E8C09-D172-B0E3-413F-57DF0C463703}"/>
              </a:ext>
            </a:extLst>
          </p:cNvPr>
          <p:cNvSpPr txBox="1"/>
          <p:nvPr/>
        </p:nvSpPr>
        <p:spPr>
          <a:xfrm>
            <a:off x="620889" y="3068085"/>
            <a:ext cx="77441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#define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square(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* x;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9EA4B-06F6-F98A-73BA-D0E9EDF1A3F5}"/>
              </a:ext>
            </a:extLst>
          </p:cNvPr>
          <p:cNvSpPr txBox="1"/>
          <p:nvPr/>
        </p:nvSpPr>
        <p:spPr>
          <a:xfrm>
            <a:off x="620889" y="5028129"/>
            <a:ext cx="77441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square(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* x;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729997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0BBE04-B353-03E5-4425-F81A4F740F38}"/>
              </a:ext>
            </a:extLst>
          </p:cNvPr>
          <p:cNvSpPr txBox="1"/>
          <p:nvPr/>
        </p:nvSpPr>
        <p:spPr>
          <a:xfrm>
            <a:off x="530577" y="2763336"/>
            <a:ext cx="77441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"Square of 5: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square(5));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"Cube of 3: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cube(3));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"Value: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VALUE);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692EC-3748-DA81-1124-CE66ED9767F6}"/>
              </a:ext>
            </a:extLst>
          </p:cNvPr>
          <p:cNvSpPr txBox="1"/>
          <p:nvPr/>
        </p:nvSpPr>
        <p:spPr>
          <a:xfrm>
            <a:off x="530578" y="538357"/>
            <a:ext cx="11661421" cy="615553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3.10- Header Guards</a:t>
            </a: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pic>
        <p:nvPicPr>
          <p:cNvPr id="7" name="Picture 6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CC077B7-8602-0810-0EF6-AEE992C9BD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851AF8-8398-9F52-0834-2C37664D24F7}"/>
              </a:ext>
            </a:extLst>
          </p:cNvPr>
          <p:cNvSpPr txBox="1"/>
          <p:nvPr/>
        </p:nvSpPr>
        <p:spPr>
          <a:xfrm>
            <a:off x="530577" y="1343070"/>
            <a:ext cx="77441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cube(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* x * x;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1D24E8-96D2-8DAE-6BF9-E5997531CE8E}"/>
              </a:ext>
            </a:extLst>
          </p:cNvPr>
          <p:cNvSpPr txBox="1"/>
          <p:nvPr/>
        </p:nvSpPr>
        <p:spPr>
          <a:xfrm>
            <a:off x="654756" y="4733107"/>
            <a:ext cx="11119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91AF"/>
                </a:solidFill>
              </a:rPr>
              <a:t>So, we find that we did define file1.h twice &gt;&gt;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ERROR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91AF"/>
                </a:solidFill>
              </a:rPr>
              <a:t>It’s why we use </a:t>
            </a:r>
            <a:r>
              <a:rPr lang="en-US" sz="2400" b="1" dirty="0">
                <a:solidFill>
                  <a:srgbClr val="2B91AF"/>
                </a:solidFill>
                <a:latin typeface="IBM Plex Mono"/>
              </a:rPr>
              <a:t>Header Guards </a:t>
            </a:r>
            <a:r>
              <a:rPr lang="en-US" sz="2400" dirty="0">
                <a:solidFill>
                  <a:srgbClr val="2B91AF"/>
                </a:solidFill>
                <a:latin typeface="IBM Plex Mono"/>
              </a:rPr>
              <a:t>&gt;&gt; </a:t>
            </a:r>
            <a:r>
              <a:rPr lang="en-US" sz="2400" dirty="0">
                <a:solidFill>
                  <a:srgbClr val="2B91AF"/>
                </a:solidFill>
                <a:latin typeface="+mj-lt"/>
              </a:rPr>
              <a:t>To define the file only one time</a:t>
            </a:r>
          </a:p>
        </p:txBody>
      </p:sp>
    </p:spTree>
    <p:extLst>
      <p:ext uri="{BB962C8B-B14F-4D97-AF65-F5344CB8AC3E}">
        <p14:creationId xmlns:p14="http://schemas.microsoft.com/office/powerpoint/2010/main" val="38734994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AB854A-989A-9A1F-3374-05F797FE9353}"/>
              </a:ext>
            </a:extLst>
          </p:cNvPr>
          <p:cNvSpPr txBox="1"/>
          <p:nvPr/>
        </p:nvSpPr>
        <p:spPr>
          <a:xfrm>
            <a:off x="530578" y="538357"/>
            <a:ext cx="11661421" cy="615553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3.10- Header Guards</a:t>
            </a: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pic>
        <p:nvPicPr>
          <p:cNvPr id="5" name="Picture 4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23D2FB7-C1E4-C5E3-6542-6E9536D7FD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28FBAC-9531-D23E-631F-23BFBB7B20F6}"/>
              </a:ext>
            </a:extLst>
          </p:cNvPr>
          <p:cNvSpPr txBox="1"/>
          <p:nvPr/>
        </p:nvSpPr>
        <p:spPr>
          <a:xfrm>
            <a:off x="530577" y="1333536"/>
            <a:ext cx="774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file1.h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6FF986-EEEC-FF85-3133-154DF3D11A80}"/>
              </a:ext>
            </a:extLst>
          </p:cNvPr>
          <p:cNvSpPr txBox="1"/>
          <p:nvPr/>
        </p:nvSpPr>
        <p:spPr>
          <a:xfrm>
            <a:off x="530577" y="2005603"/>
            <a:ext cx="101825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#ifndef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FILE1_H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if file1 not defined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#define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FILE1_H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then define file1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#define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square(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* x;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#endif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END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659776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4903A6-3A21-82D7-C98F-7661B889A5D9}"/>
              </a:ext>
            </a:extLst>
          </p:cNvPr>
          <p:cNvSpPr txBox="1"/>
          <p:nvPr/>
        </p:nvSpPr>
        <p:spPr>
          <a:xfrm>
            <a:off x="530577" y="1423846"/>
            <a:ext cx="774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file2.h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6F5F8-5379-3579-5E7F-182A50FA0D7C}"/>
              </a:ext>
            </a:extLst>
          </p:cNvPr>
          <p:cNvSpPr txBox="1"/>
          <p:nvPr/>
        </p:nvSpPr>
        <p:spPr>
          <a:xfrm>
            <a:off x="530578" y="538357"/>
            <a:ext cx="11661421" cy="615553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3.10- Header Guards</a:t>
            </a: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pic>
        <p:nvPicPr>
          <p:cNvPr id="6" name="Picture 5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F7B9EFA-A8B3-166E-90A3-084D04DAFF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1049FD-0685-AAA7-8503-7E57D592E57E}"/>
              </a:ext>
            </a:extLst>
          </p:cNvPr>
          <p:cNvSpPr txBox="1"/>
          <p:nvPr/>
        </p:nvSpPr>
        <p:spPr>
          <a:xfrm>
            <a:off x="530577" y="1916288"/>
            <a:ext cx="99455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#ifndef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FILE2_H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if file2 not defined </a:t>
            </a: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#define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FILE2_H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then define file2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"file1.h"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cube(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* x * x;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#endif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END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254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A511EE-E878-70C7-EE4D-3C837F92F0AC}"/>
              </a:ext>
            </a:extLst>
          </p:cNvPr>
          <p:cNvSpPr txBox="1"/>
          <p:nvPr/>
        </p:nvSpPr>
        <p:spPr>
          <a:xfrm>
            <a:off x="824088" y="2229163"/>
            <a:ext cx="77441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"file1.h"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"file2.h"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"Square of 5: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square(5));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"Cube of 3: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cube(3));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"Value: %d\n"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VALUE);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B9BBF-8063-E0D5-903D-D25D00FF3D08}"/>
              </a:ext>
            </a:extLst>
          </p:cNvPr>
          <p:cNvSpPr txBox="1"/>
          <p:nvPr/>
        </p:nvSpPr>
        <p:spPr>
          <a:xfrm>
            <a:off x="824088" y="1644668"/>
            <a:ext cx="774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main.c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(unchanged)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01DDC5-491C-14C7-0A98-2FEAE69BBA9E}"/>
              </a:ext>
            </a:extLst>
          </p:cNvPr>
          <p:cNvSpPr txBox="1"/>
          <p:nvPr/>
        </p:nvSpPr>
        <p:spPr>
          <a:xfrm>
            <a:off x="530578" y="538357"/>
            <a:ext cx="11661421" cy="615553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3.10- Header Guards</a:t>
            </a:r>
            <a:endParaRPr lang="en-US" sz="2400" dirty="0">
              <a:solidFill>
                <a:srgbClr val="026DA5"/>
              </a:solidFill>
              <a:latin typeface="Arial"/>
              <a:cs typeface="Arial"/>
            </a:endParaRPr>
          </a:p>
        </p:txBody>
      </p:sp>
      <p:pic>
        <p:nvPicPr>
          <p:cNvPr id="10" name="Picture 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125D7DF-A725-0A78-5441-3703B7786F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5798632"/>
            <a:ext cx="3029972" cy="12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7658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8A6A5-AEE2-2794-9587-061E9007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0;p2">
            <a:extLst>
              <a:ext uri="{FF2B5EF4-FFF2-40B4-BE49-F238E27FC236}">
                <a16:creationId xmlns:a16="http://schemas.microsoft.com/office/drawing/2014/main" id="{6F1C55B4-9440-9C54-6AF5-B1A16FA769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112;p2" descr="A white sign with black text&#10;&#10;Description automatically generated">
            <a:extLst>
              <a:ext uri="{FF2B5EF4-FFF2-40B4-BE49-F238E27FC236}">
                <a16:creationId xmlns:a16="http://schemas.microsoft.com/office/drawing/2014/main" id="{F090E3A6-CF9A-0979-EEA8-1945FE9F20C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236" y="262351"/>
            <a:ext cx="975061" cy="134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oogle Shape;113;p2">
            <a:extLst>
              <a:ext uri="{FF2B5EF4-FFF2-40B4-BE49-F238E27FC236}">
                <a16:creationId xmlns:a16="http://schemas.microsoft.com/office/drawing/2014/main" id="{88D34080-AB57-8329-56DE-1164FFE25258}"/>
              </a:ext>
            </a:extLst>
          </p:cNvPr>
          <p:cNvGrpSpPr/>
          <p:nvPr/>
        </p:nvGrpSpPr>
        <p:grpSpPr>
          <a:xfrm rot="10800000" flipH="1">
            <a:off x="10087706" y="446638"/>
            <a:ext cx="1772745" cy="5366945"/>
            <a:chOff x="10607605" y="3602621"/>
            <a:chExt cx="1329559" cy="3009868"/>
          </a:xfrm>
        </p:grpSpPr>
        <p:cxnSp>
          <p:nvCxnSpPr>
            <p:cNvPr id="10" name="Google Shape;114;p2">
              <a:extLst>
                <a:ext uri="{FF2B5EF4-FFF2-40B4-BE49-F238E27FC236}">
                  <a16:creationId xmlns:a16="http://schemas.microsoft.com/office/drawing/2014/main" id="{235E66A5-DE7B-2AB3-56DB-AE9BBEBD064D}"/>
                </a:ext>
              </a:extLst>
            </p:cNvPr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" name="Google Shape;115;p2">
              <a:extLst>
                <a:ext uri="{FF2B5EF4-FFF2-40B4-BE49-F238E27FC236}">
                  <a16:creationId xmlns:a16="http://schemas.microsoft.com/office/drawing/2014/main" id="{A8CDC625-A0CE-9B88-5F0C-73483171E19B}"/>
                </a:ext>
              </a:extLst>
            </p:cNvPr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" name="Google Shape;116;p2">
              <a:extLst>
                <a:ext uri="{FF2B5EF4-FFF2-40B4-BE49-F238E27FC236}">
                  <a16:creationId xmlns:a16="http://schemas.microsoft.com/office/drawing/2014/main" id="{A0DB41D1-C4AB-D3F8-0673-3297F28BC18E}"/>
                </a:ext>
              </a:extLst>
            </p:cNvPr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" name="Google Shape;117;p2">
              <a:extLst>
                <a:ext uri="{FF2B5EF4-FFF2-40B4-BE49-F238E27FC236}">
                  <a16:creationId xmlns:a16="http://schemas.microsoft.com/office/drawing/2014/main" id="{97AFF646-2A6F-527B-BCED-F0484566A02E}"/>
                </a:ext>
              </a:extLst>
            </p:cNvPr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" name="Google Shape;118;p2">
            <a:extLst>
              <a:ext uri="{FF2B5EF4-FFF2-40B4-BE49-F238E27FC236}">
                <a16:creationId xmlns:a16="http://schemas.microsoft.com/office/drawing/2014/main" id="{8630D7BF-93EE-2EC6-71ED-11707755BF54}"/>
              </a:ext>
            </a:extLst>
          </p:cNvPr>
          <p:cNvSpPr/>
          <p:nvPr/>
        </p:nvSpPr>
        <p:spPr>
          <a:xfrm rot="5400000">
            <a:off x="-1337774" y="1931676"/>
            <a:ext cx="3498785" cy="1601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21;p2">
            <a:extLst>
              <a:ext uri="{FF2B5EF4-FFF2-40B4-BE49-F238E27FC236}">
                <a16:creationId xmlns:a16="http://schemas.microsoft.com/office/drawing/2014/main" id="{BC1E8C41-5194-AFC5-FB4E-67AA95D155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6200000">
            <a:off x="359673" y="5221144"/>
            <a:ext cx="1280136" cy="1998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2;p2">
            <a:extLst>
              <a:ext uri="{FF2B5EF4-FFF2-40B4-BE49-F238E27FC236}">
                <a16:creationId xmlns:a16="http://schemas.microsoft.com/office/drawing/2014/main" id="{16B7ED20-3065-33C5-29B2-B858291F4C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56645" y="5657607"/>
            <a:ext cx="3068537" cy="129863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E1AF3C08-31C0-7573-41CE-67590B3E3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544" y="1550189"/>
            <a:ext cx="6832320" cy="1579791"/>
          </a:xfrm>
          <a:prstGeom prst="rect">
            <a:avLst/>
          </a:prstGeom>
          <a:noFill/>
          <a:ln w="0">
            <a:noFill/>
          </a:ln>
        </p:spPr>
        <p:txBody>
          <a:bodyPr vert="horz" lIns="121920" tIns="121920" rIns="121920" bIns="121920" rtlCol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8666" b="1">
                <a:solidFill>
                  <a:schemeClr val="bg1"/>
                </a:solidFill>
                <a:latin typeface="IBM Plex Mono"/>
                <a:ea typeface="IBM Plex Mono"/>
              </a:rPr>
              <a:t>Thanks!</a:t>
            </a:r>
            <a:endParaRPr lang="fr-FR" sz="8666">
              <a:solidFill>
                <a:schemeClr val="bg1"/>
              </a:solidFill>
              <a:latin typeface="Arial"/>
            </a:endParaRPr>
          </a:p>
        </p:txBody>
      </p:sp>
      <p:sp>
        <p:nvSpPr>
          <p:cNvPr id="21" name="PlaceHolder 2">
            <a:extLst>
              <a:ext uri="{FF2B5EF4-FFF2-40B4-BE49-F238E27FC236}">
                <a16:creationId xmlns:a16="http://schemas.microsoft.com/office/drawing/2014/main" id="{438A54BC-4AA0-0E90-9D5C-85840032F188}"/>
              </a:ext>
            </a:extLst>
          </p:cNvPr>
          <p:cNvSpPr txBox="1">
            <a:spLocks/>
          </p:cNvSpPr>
          <p:nvPr/>
        </p:nvSpPr>
        <p:spPr>
          <a:xfrm>
            <a:off x="2679840" y="3429001"/>
            <a:ext cx="6832320" cy="1149097"/>
          </a:xfrm>
          <a:prstGeom prst="rect">
            <a:avLst/>
          </a:prstGeom>
          <a:noFill/>
          <a:ln w="0">
            <a:noFill/>
          </a:ln>
        </p:spPr>
        <p:txBody>
          <a:bodyPr wrap="square" lIns="121920" tIns="121920" rIns="121920" bIns="12192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5867" b="1">
                <a:solidFill>
                  <a:schemeClr val="bg1"/>
                </a:solidFill>
                <a:latin typeface="IBM Plex Mono"/>
                <a:ea typeface="IBM Plex Mono"/>
              </a:rPr>
              <a:t>Any Questions</a:t>
            </a:r>
            <a:r>
              <a:rPr lang="en-US" sz="5867" b="1">
                <a:solidFill>
                  <a:srgbClr val="FFFFFF"/>
                </a:solidFill>
              </a:rPr>
              <a:t>?</a:t>
            </a:r>
            <a:endParaRPr lang="fr-FR" sz="5867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7238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2131</Words>
  <Application>Microsoft Office PowerPoint</Application>
  <PresentationFormat>Widescreen</PresentationFormat>
  <Paragraphs>440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Aptos</vt:lpstr>
      <vt:lpstr>Aptos Display</vt:lpstr>
      <vt:lpstr>Arial</vt:lpstr>
      <vt:lpstr>Calibri</vt:lpstr>
      <vt:lpstr>Cambria Math</vt:lpstr>
      <vt:lpstr>Cascadia Mono</vt:lpstr>
      <vt:lpstr>IBM Plex Mono</vt:lpstr>
      <vt:lpstr>Menlo</vt:lpstr>
      <vt:lpstr>OpenSymbol</vt:lpstr>
      <vt:lpstr>quote-cjk-patch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مروان علاء محمد عثمان محمد</dc:creator>
  <cp:lastModifiedBy>yousef khaled</cp:lastModifiedBy>
  <cp:revision>2</cp:revision>
  <dcterms:created xsi:type="dcterms:W3CDTF">2026-02-14T23:47:34Z</dcterms:created>
  <dcterms:modified xsi:type="dcterms:W3CDTF">2026-03-03T15:23:20Z</dcterms:modified>
</cp:coreProperties>
</file>